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name is [Insert Student Name], and this is my mid-semester review of the Page Summarizer project. The project is a Chrome extension that summarizes the page the reader has open. Today I present Version 1, the version built so far. I will keep the talk simple and show what the code does and what was measured.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go through the project in six parts. First, the problem and what Version 1 promises. Then I show how one summary is made, including long pages and errors. After that come the popup, the saved jobs and the setup. Next are the tests, the live results and the problems I met. I finish with what is still open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web pages are long, and the one fact a reader needs is often hidden in the text. Menus, banners and cookie notices make the page slower to read. Many summary tools need an account before the first summary. Many of them also send the page text to a company's cloud, and the reader cannot see how it is handled.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1 has one promise. A reader presses one button on an open page and gets a short summary in the popup. The reader pastes a free Gemini key once, and the key stays in this browser. The page text still goes to Google for each summary, and I say that clearly, because privacy is not solved in this version.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the order of steps for one summary. The user clicks Summarize, and the popup sends a start message. The service worker runs the job in the background and asks the page reader for the text. Each part of the page goes to Google, and a merge request follows when there is more than one part. The summary then appears in the popup.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split into five layers, and each layer calls only the one below it. The popup and the Options page form the user interface. The service worker owns the job and writes its progress to storage. The core files read the page, split and merge the text, and hold the error messages. Only the Gemini engine file talks to Google, and the core files are tested without a 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step finds the words of the page. The service worker first checks that the page is not one that Chrome forbids extensions to read. A copy of the page is made, and the Readability library picks out the main article. If the article has under 200 characters, the visible text of the page is used when it is longer. In the test article, about a fifth of the visible characters were removed, and none of the menu or cookie text reached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splits long pages, so each request stays small and finishes within 25 seconds. The text is cut into parts of at most 8,000 characters. The cut prefers paragraph breaks, then sentence ends, and only then a space. A page that would need more than 30 parts is refused at once, before any request, to protect the free quota. The plan notes that a large model does not strictly need splitting, so this step is kept as a tested path with an adjustable size.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parts are summarized, the part summaries are combined. They are packed into small groups that fit one request, and each group is merged. The groups are merged again until one summary remains. The figure is an illustration with a small example limit, not a measured run. One known weak point is that a merge can send more text than intended, but only when the part summaries are very long.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extension sends one request for each part, with the key in a header. A busy reply or a server error is retried up to three times. The wait is the server's own time when it gives one, and otherwise 2, 4 and 8 seconds. A wrong key is not retried, because waiting cannot fix it. A request with no answer within 25 seconds is stopped and reported.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failure has one short code and one plain message. The reader sees the message in the popup, and the technical detail goes only to the console. The table shows seven of the 14 codes. Temporary failures are retried, while a wrong key or a bad request stops at once. Pages that are refused never reach Google.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popup in the middle of a run. Panel D shows progress on part 2 of 4. Panel E shows a busy notice with a retry. Panel F shows a finished summary, with a stats line for parts, requests and time. The summaries in these screenshots came from a test service, so the sentences are test text and not the real model's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popup only shows the state of the job. The service worker does the work and writes each step to a record for the tab. Closing the popup does not stop the summary, and reopening it shows the progress or the result. Chrome can stop the background worker, so after three minutes without an update the job is shown as interrupted. The reader can then press Summarize again.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is a checklist, not an installer. setup.bat finds Chrome, checks that it is version 116 or newer, and checks that the extension files are complete. run.bat opens the extensions page and copies the folder path. Chrome no longer lets a script load an extension by itself, so the user clicks Load unpacked and selects the folder. The setup check ended with SETUP COMPLETE on the developer laptop.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tests run at three levels. Sixty-five unit tests check the small rules without a browser, and all of them passed. Twenty-eight browser scenarios run the extension in Chromium with a test service in place of Google, and all of them passed. Ten setup checks run the batch files on copies of the project, and all of them passed. Seven pages were summarized by the real service, and two error cases were checked on it. The manual check in the real Chrome toolbar is written, but its result is not recorded yet.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live runs against Google's real service, with the default model and parts of 8,000 characters. The times come from the test's own timers, in seconds. The short article took 1.7 seconds with one request. The longest success, the Fresnel lens article, took 23 seconds with eight requests. Nobody has scored these summaries for accuracy yet, so I do not claim they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met four real problems, and each one is written in the development log. The first was a Chrome change that removed the flag I wanted to use to load the extension. The second was a model that was too slow for the 25-second limit. The third was silent: table cells ran together, so the model read wrong numbers, while the popup looked normal. The fourth was the free quota running out during the live runs. Each one changed the design or added a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things are not finished, and I want to say so clearly. The manual check in the real Chrome toolbar is written down, but its result is not recorded. The setup scripts have not yet been run on a clean copy of the project. No reader has scored the summaries for quality. The page text is not private, and the key is stored unencrypted on this computer. Pages behind a login were not tested, and one rare merge case is known but not fixed.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2 is planned, not built. It would keep the same popup, page reader and job handling. The summary engine would change, so a small model would run in the browser and no key would be needed. Page text would stay on the computer, and summaries would work offline after the first download. That is the plan for the final semester.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The code, the tests and the setup scripts are in the project folder, and I can show any part of them. I am happy to take questions now. If a question is about something not built yet, I will say 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pic>
        <p:nvPicPr>
          <p:cNvPr id="2" name="Picture 1" descr="BITS Pilani logo"/>
          <p:cNvPicPr>
            <a:picLocks noChangeAspect="1"/>
          </p:cNvPicPr>
          <p:nvPr/>
        </p:nvPicPr>
        <p:blipFill>
          <a:blip r:embed="rId2"/>
          <a:stretch>
            <a:fillRect/>
          </a:stretch>
        </p:blipFill>
        <p:spPr>
          <a:xfrm>
            <a:off x="685800" y="640080"/>
            <a:ext cx="892479" cy="868680"/>
          </a:xfrm>
          <a:prstGeom prst="rect">
            <a:avLst/>
          </a:prstGeom>
        </p:spPr>
      </p:pic>
      <p:sp>
        <p:nvSpPr>
          <p:cNvPr id="3" name="Rectangle 2"/>
          <p:cNvSpPr/>
          <p:nvPr/>
        </p:nvSpPr>
        <p:spPr>
          <a:xfrm>
            <a:off x="685800" y="1874519"/>
            <a:ext cx="109728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57400"/>
            <a:ext cx="10820095" cy="1371600"/>
          </a:xfrm>
          <a:prstGeom prst="rect">
            <a:avLst/>
          </a:prstGeom>
          <a:noFill/>
        </p:spPr>
        <p:txBody>
          <a:bodyPr wrap="square" anchor="t" lIns="45720" rIns="45720" tIns="27432" bIns="27432">
            <a:spAutoFit/>
          </a:bodyPr>
          <a:lstStyle/>
          <a:p>
            <a:pPr algn="l"/>
            <a:r>
              <a:rPr sz="4400" b="1" i="0">
                <a:solidFill>
                  <a:srgbClr val="1C1B1A"/>
                </a:solidFill>
                <a:latin typeface="Georgia"/>
              </a:rPr>
              <a:t>AI-Powered Web Page Summarizer</a:t>
            </a:r>
          </a:p>
        </p:txBody>
      </p:sp>
      <p:sp>
        <p:nvSpPr>
          <p:cNvPr id="5" name="TextBox 4"/>
          <p:cNvSpPr txBox="1"/>
          <p:nvPr/>
        </p:nvSpPr>
        <p:spPr>
          <a:xfrm>
            <a:off x="685800" y="3429000"/>
            <a:ext cx="10820095" cy="548640"/>
          </a:xfrm>
          <a:prstGeom prst="rect">
            <a:avLst/>
          </a:prstGeom>
          <a:noFill/>
        </p:spPr>
        <p:txBody>
          <a:bodyPr wrap="square" anchor="t" lIns="45720" rIns="45720" tIns="27432" bIns="27432">
            <a:spAutoFit/>
          </a:bodyPr>
          <a:lstStyle/>
          <a:p>
            <a:pPr algn="l"/>
            <a:r>
              <a:rPr sz="2400" b="0" i="0">
                <a:solidFill>
                  <a:srgbClr val="6B665C"/>
                </a:solidFill>
                <a:latin typeface="Segoe UI"/>
              </a:rPr>
              <a:t>A Chrome extension that summarizes the page you are reading</a:t>
            </a:r>
          </a:p>
        </p:txBody>
      </p:sp>
      <p:cxnSp>
        <p:nvCxnSpPr>
          <p:cNvPr id="6" name="Connector 5"/>
          <p:cNvCxnSpPr/>
          <p:nvPr/>
        </p:nvCxnSpPr>
        <p:spPr>
          <a:xfrm>
            <a:off x="685800" y="4206240"/>
            <a:ext cx="10820095" cy="0"/>
          </a:xfrm>
          <a:prstGeom prst="line">
            <a:avLst/>
          </a:prstGeom>
          <a:ln w="9525">
            <a:solidFill>
              <a:srgbClr val="D9D2C3"/>
            </a:solidFill>
          </a:ln>
        </p:spPr>
      </p:cxnSp>
      <p:sp>
        <p:nvSpPr>
          <p:cNvPr id="7" name="TextBox 6"/>
          <p:cNvSpPr txBox="1"/>
          <p:nvPr/>
        </p:nvSpPr>
        <p:spPr>
          <a:xfrm>
            <a:off x="685800" y="4434840"/>
            <a:ext cx="10820095" cy="365760"/>
          </a:xfrm>
          <a:prstGeom prst="rect">
            <a:avLst/>
          </a:prstGeom>
          <a:noFill/>
        </p:spPr>
        <p:txBody>
          <a:bodyPr wrap="square" anchor="t" lIns="45720" rIns="45720" tIns="27432" bIns="27432">
            <a:spAutoFit/>
          </a:bodyPr>
          <a:lstStyle/>
          <a:p>
            <a:pPr algn="l"/>
            <a:r>
              <a:rPr sz="1800" b="0" i="0">
                <a:solidFill>
                  <a:srgbClr val="1C1B1A"/>
                </a:solidFill>
                <a:latin typeface="Segoe UI"/>
              </a:rPr>
              <a:t>Mid-Semester Review (Version 1)</a:t>
            </a:r>
          </a:p>
        </p:txBody>
      </p:sp>
      <p:sp>
        <p:nvSpPr>
          <p:cNvPr id="8" name="TextBox 7"/>
          <p:cNvSpPr txBox="1"/>
          <p:nvPr/>
        </p:nvSpPr>
        <p:spPr>
          <a:xfrm>
            <a:off x="685800" y="4818888"/>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Student Name]  |  BITS ID [Insert BITS ID]</a:t>
            </a:r>
          </a:p>
        </p:txBody>
      </p:sp>
      <p:sp>
        <p:nvSpPr>
          <p:cNvPr id="9" name="TextBox 8"/>
          <p:cNvSpPr txBox="1"/>
          <p:nvPr/>
        </p:nvSpPr>
        <p:spPr>
          <a:xfrm>
            <a:off x="685800" y="5202936"/>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Degree Program]  |  Course No. [Insert Course No.]</a:t>
            </a:r>
          </a:p>
        </p:txBody>
      </p:sp>
      <p:sp>
        <p:nvSpPr>
          <p:cNvPr id="10" name="TextBox 9"/>
          <p:cNvSpPr txBox="1"/>
          <p:nvPr/>
        </p:nvSpPr>
        <p:spPr>
          <a:xfrm>
            <a:off x="685800" y="5586984"/>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Birla Institute of Technology &amp; Science, Pilani (Rajasthan)</a:t>
            </a:r>
          </a:p>
        </p:txBody>
      </p:sp>
      <p:sp>
        <p:nvSpPr>
          <p:cNvPr id="11" name="TextBox 10"/>
          <p:cNvSpPr txBox="1"/>
          <p:nvPr/>
        </p:nvSpPr>
        <p:spPr>
          <a:xfrm>
            <a:off x="685800" y="5971032"/>
            <a:ext cx="10820095" cy="365760"/>
          </a:xfrm>
          <a:prstGeom prst="rect">
            <a:avLst/>
          </a:prstGeom>
          <a:noFill/>
        </p:spPr>
        <p:txBody>
          <a:bodyPr wrap="square" anchor="t" lIns="45720" rIns="45720" tIns="27432" bIns="27432">
            <a:spAutoFit/>
          </a:bodyPr>
          <a:lstStyle/>
          <a:p>
            <a:pPr algn="l"/>
            <a:r>
              <a:rPr sz="1800" b="0" i="0">
                <a:solidFill>
                  <a:srgbClr val="6B665C"/>
                </a:solidFill>
                <a:latin typeface="Segoe UI"/>
              </a:rPr>
              <a:t>[Insert Month and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I will cover</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2</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The problem, and what Version 1 promises</a:t>
            </a:r>
          </a:p>
          <a:p>
            <a:pPr marL="320040" indent="-320040">
              <a:lnSpc>
                <a:spcPct val="105000"/>
              </a:lnSpc>
              <a:spcAft>
                <a:spcPts val="1200"/>
              </a:spcAft>
              <a:buClr>
                <a:srgbClr val="B4391F"/>
              </a:buClr>
              <a:buFont typeface="Arial"/>
              <a:buChar char="•"/>
            </a:pPr>
            <a:r>
              <a:rPr sz="2200">
                <a:solidFill>
                  <a:srgbClr val="1C1B1A"/>
                </a:solidFill>
                <a:latin typeface="Segoe UI"/>
              </a:rPr>
              <a:t>How one summary is made, step by step</a:t>
            </a:r>
          </a:p>
          <a:p>
            <a:pPr marL="320040" indent="-320040">
              <a:lnSpc>
                <a:spcPct val="105000"/>
              </a:lnSpc>
              <a:spcAft>
                <a:spcPts val="1200"/>
              </a:spcAft>
              <a:buClr>
                <a:srgbClr val="B4391F"/>
              </a:buClr>
              <a:buFont typeface="Arial"/>
              <a:buChar char="•"/>
            </a:pPr>
            <a:r>
              <a:rPr sz="2200">
                <a:solidFill>
                  <a:srgbClr val="1C1B1A"/>
                </a:solidFill>
                <a:latin typeface="Segoe UI"/>
              </a:rPr>
              <a:t>Long pages, the cloud service and the error messages</a:t>
            </a:r>
          </a:p>
          <a:p>
            <a:pPr marL="320040" indent="-320040">
              <a:lnSpc>
                <a:spcPct val="105000"/>
              </a:lnSpc>
              <a:spcAft>
                <a:spcPts val="1200"/>
              </a:spcAft>
              <a:buClr>
                <a:srgbClr val="B4391F"/>
              </a:buClr>
              <a:buFont typeface="Arial"/>
              <a:buChar char="•"/>
            </a:pPr>
            <a:r>
              <a:rPr sz="2200">
                <a:solidFill>
                  <a:srgbClr val="1C1B1A"/>
                </a:solidFill>
                <a:latin typeface="Segoe UI"/>
              </a:rPr>
              <a:t>The popup, saved jobs and setup</a:t>
            </a:r>
          </a:p>
          <a:p>
            <a:pPr marL="320040" indent="-320040">
              <a:lnSpc>
                <a:spcPct val="105000"/>
              </a:lnSpc>
              <a:spcAft>
                <a:spcPts val="1200"/>
              </a:spcAft>
              <a:buClr>
                <a:srgbClr val="B4391F"/>
              </a:buClr>
              <a:buFont typeface="Arial"/>
              <a:buChar char="•"/>
            </a:pPr>
            <a:r>
              <a:rPr sz="2200">
                <a:solidFill>
                  <a:srgbClr val="1C1B1A"/>
                </a:solidFill>
                <a:latin typeface="Segoe UI"/>
              </a:rPr>
              <a:t>Testing, live results, problems met and what is not done yet</a:t>
            </a:r>
          </a:p>
          <a:p>
            <a:pPr marL="320040" indent="-320040">
              <a:lnSpc>
                <a:spcPct val="105000"/>
              </a:lnSpc>
              <a:spcAft>
                <a:spcPts val="1200"/>
              </a:spcAft>
              <a:buClr>
                <a:srgbClr val="B4391F"/>
              </a:buClr>
              <a:buFont typeface="Arial"/>
              <a:buChar char="•"/>
            </a:pPr>
            <a:r>
              <a:rPr sz="2200">
                <a:solidFill>
                  <a:srgbClr val="1C1B1A"/>
                </a:solidFill>
                <a:latin typeface="Segoe UI"/>
              </a:rPr>
              <a:t>What comes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problem: the key fact is buried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3</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A news article or a documentation page can run to several thousand words.</a:t>
            </a:r>
          </a:p>
          <a:p>
            <a:pPr marL="320040" indent="-320040">
              <a:lnSpc>
                <a:spcPct val="105000"/>
              </a:lnSpc>
              <a:spcAft>
                <a:spcPts val="1200"/>
              </a:spcAft>
              <a:buClr>
                <a:srgbClr val="B4391F"/>
              </a:buClr>
              <a:buFont typeface="Arial"/>
              <a:buChar char="•"/>
            </a:pPr>
            <a:r>
              <a:rPr sz="2200">
                <a:solidFill>
                  <a:srgbClr val="1C1B1A"/>
                </a:solidFill>
                <a:latin typeface="Segoe UI"/>
              </a:rPr>
              <a:t>Menus, banners and cookie notices surround the text, so the reader scrolls first.</a:t>
            </a:r>
          </a:p>
          <a:p>
            <a:pPr marL="320040" indent="-320040">
              <a:lnSpc>
                <a:spcPct val="105000"/>
              </a:lnSpc>
              <a:spcAft>
                <a:spcPts val="1200"/>
              </a:spcAft>
              <a:buClr>
                <a:srgbClr val="B4391F"/>
              </a:buClr>
              <a:buFont typeface="Arial"/>
              <a:buChar char="•"/>
            </a:pPr>
            <a:r>
              <a:rPr sz="2200">
                <a:solidFill>
                  <a:srgbClr val="1C1B1A"/>
                </a:solidFill>
                <a:latin typeface="Segoe UI"/>
              </a:rPr>
              <a:t>Many summary tools need an account or a subscription before the first summary.</a:t>
            </a:r>
          </a:p>
          <a:p>
            <a:pPr marL="320040" indent="-320040">
              <a:lnSpc>
                <a:spcPct val="105000"/>
              </a:lnSpc>
              <a:spcAft>
                <a:spcPts val="1200"/>
              </a:spcAft>
              <a:buClr>
                <a:srgbClr val="B4391F"/>
              </a:buClr>
              <a:buFont typeface="Arial"/>
              <a:buChar char="•"/>
            </a:pPr>
            <a:r>
              <a:rPr sz="2200">
                <a:solidFill>
                  <a:srgbClr val="1C1B1A"/>
                </a:solidFill>
                <a:latin typeface="Segoe UI"/>
              </a:rPr>
              <a:t>Many of them send the page text to the vendor's cloud, and the reader cannot see how it is handled.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Version 1 does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4</a:t>
            </a:r>
          </a:p>
        </p:txBody>
      </p:sp>
      <p:sp>
        <p:nvSpPr>
          <p:cNvPr id="7" name="TextBox 6"/>
          <p:cNvSpPr txBox="1"/>
          <p:nvPr/>
        </p:nvSpPr>
        <p:spPr>
          <a:xfrm>
            <a:off x="685800" y="2057400"/>
            <a:ext cx="9905695" cy="2651760"/>
          </a:xfrm>
          <a:prstGeom prst="rect">
            <a:avLst/>
          </a:prstGeom>
          <a:noFill/>
        </p:spPr>
        <p:txBody>
          <a:bodyPr wrap="square" anchor="t" lIns="45720" rIns="45720" tIns="27432" bIns="27432">
            <a:spAutoFit/>
          </a:bodyPr>
          <a:lstStyle/>
          <a:p>
            <a:pPr algn="l"/>
            <a:r>
              <a:rPr sz="3400" b="0" i="0">
                <a:solidFill>
                  <a:srgbClr val="1C1B1A"/>
                </a:solidFill>
                <a:latin typeface="Georgia"/>
              </a:rPr>
              <a:t>Press one button on any open page. Get a short summary in the popup, using your own free Gemini key.</a:t>
            </a:r>
          </a:p>
        </p:txBody>
      </p:sp>
      <p:sp>
        <p:nvSpPr>
          <p:cNvPr id="8" name="TextBox 7"/>
          <p:cNvSpPr txBox="1"/>
          <p:nvPr/>
        </p:nvSpPr>
        <p:spPr>
          <a:xfrm>
            <a:off x="685800" y="4983480"/>
            <a:ext cx="10820095" cy="457200"/>
          </a:xfrm>
          <a:prstGeom prst="rect">
            <a:avLst/>
          </a:prstGeom>
          <a:noFill/>
        </p:spPr>
        <p:txBody>
          <a:bodyPr wrap="square" anchor="t" lIns="45720" rIns="45720" tIns="27432" bIns="27432">
            <a:spAutoFit/>
          </a:bodyPr>
          <a:lstStyle/>
          <a:p>
            <a:pPr algn="l"/>
            <a:r>
              <a:rPr sz="1600" b="0" i="1">
                <a:solidFill>
                  <a:srgbClr val="6B665C"/>
                </a:solidFill>
                <a:latin typeface="Segoe UI"/>
              </a:rPr>
              <a:t>The page text still goes to Google for each summary, so Version 1 is not a private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How one summary is made, step by step</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5</a:t>
            </a:r>
          </a:p>
        </p:txBody>
      </p:sp>
      <p:graphicFrame>
        <p:nvGraphicFramePr>
          <p:cNvPr id="7" name="Table 6"/>
          <p:cNvGraphicFramePr>
            <a:graphicFrameLocks noGrp="1"/>
          </p:cNvGraphicFramePr>
          <p:nvPr/>
        </p:nvGraphicFramePr>
        <p:xfrm>
          <a:off x="685800" y="1600200"/>
          <a:ext cx="10820094" cy="4069080"/>
        </p:xfrm>
        <a:graphic>
          <a:graphicData uri="http://schemas.openxmlformats.org/drawingml/2006/table">
            <a:tbl>
              <a:tblPr firstRow="1">
                <a:tableStyleId>{2D5ABB26-0587-4C30-8999-92F81FD0307C}</a:tableStyleId>
              </a:tblPr>
              <a:tblGrid>
                <a:gridCol w="818326"/>
                <a:gridCol w="2727755"/>
                <a:gridCol w="7274013"/>
              </a:tblGrid>
              <a:tr h="452120">
                <a:tc>
                  <a:txBody>
                    <a:bodyPr/>
                    <a:lstStyle/>
                    <a:p>
                      <a:r>
                        <a:rPr sz="1600" b="1">
                          <a:solidFill>
                            <a:srgbClr val="1C1B1A"/>
                          </a:solidFill>
                          <a:latin typeface="Segoe UI"/>
                        </a:rPr>
                        <a:t>Step</a:t>
                      </a:r>
                    </a:p>
                  </a:txBody>
                  <a:tcPr anchor="ctr" marL="91440" marR="91440" marT="27432" marB="27432">
                    <a:lnB w="12700">
                      <a:solidFill>
                        <a:srgbClr val="1C1B1A"/>
                      </a:solidFill>
                    </a:lnB>
                    <a:noFill/>
                  </a:tcPr>
                </a:tc>
                <a:tc>
                  <a:txBody>
                    <a:bodyPr/>
                    <a:lstStyle/>
                    <a:p>
                      <a:r>
                        <a:rPr sz="1600" b="1">
                          <a:solidFill>
                            <a:srgbClr val="1C1B1A"/>
                          </a:solidFill>
                          <a:latin typeface="Segoe UI"/>
                        </a:rPr>
                        <a:t>Who</a:t>
                      </a:r>
                    </a:p>
                  </a:txBody>
                  <a:tcPr anchor="ctr" marL="91440" marR="91440" marT="27432" marB="27432">
                    <a:lnB w="12700">
                      <a:solidFill>
                        <a:srgbClr val="1C1B1A"/>
                      </a:solidFill>
                    </a:lnB>
                    <a:noFill/>
                  </a:tcPr>
                </a:tc>
                <a:tc>
                  <a:txBody>
                    <a:bodyPr/>
                    <a:lstStyle/>
                    <a:p>
                      <a:r>
                        <a:rPr sz="1600" b="1">
                          <a:solidFill>
                            <a:srgbClr val="1C1B1A"/>
                          </a:solidFill>
                          <a:latin typeface="Segoe UI"/>
                        </a:rPr>
                        <a:t>What happens</a:t>
                      </a:r>
                    </a:p>
                  </a:txBody>
                  <a:tcPr anchor="ctr" marL="91440" marR="91440" marT="27432" marB="27432">
                    <a:lnB w="12700">
                      <a:solidFill>
                        <a:srgbClr val="1C1B1A"/>
                      </a:solidFill>
                    </a:lnB>
                    <a:noFill/>
                  </a:tcPr>
                </a:tc>
              </a:tr>
              <a:tr h="452120">
                <a:tc>
                  <a:txBody>
                    <a:bodyPr/>
                    <a:lstStyle/>
                    <a:p>
                      <a:r>
                        <a:rPr sz="1600" b="0">
                          <a:solidFill>
                            <a:srgbClr val="1C1B1A"/>
                          </a:solidFill>
                          <a:latin typeface="Segoe UI"/>
                        </a:rPr>
                        <a:t>1</a:t>
                      </a:r>
                    </a:p>
                  </a:txBody>
                  <a:tcPr anchor="ctr" marL="91440" marR="91440" marT="27432" marB="27432">
                    <a:lnB w="9525">
                      <a:solidFill>
                        <a:srgbClr val="D9D2C3"/>
                      </a:solidFill>
                    </a:lnB>
                    <a:noFill/>
                  </a:tcPr>
                </a:tc>
                <a:tc>
                  <a:txBody>
                    <a:bodyPr/>
                    <a:lstStyle/>
                    <a:p>
                      <a:r>
                        <a:rPr sz="1600" b="0">
                          <a:solidFill>
                            <a:srgbClr val="1C1B1A"/>
                          </a:solidFill>
                          <a:latin typeface="Segoe UI"/>
                        </a:rPr>
                        <a:t>User</a:t>
                      </a:r>
                    </a:p>
                  </a:txBody>
                  <a:tcPr anchor="ctr" marL="91440" marR="91440" marT="27432" marB="27432">
                    <a:lnB w="9525">
                      <a:solidFill>
                        <a:srgbClr val="D9D2C3"/>
                      </a:solidFill>
                    </a:lnB>
                    <a:noFill/>
                  </a:tcPr>
                </a:tc>
                <a:tc>
                  <a:txBody>
                    <a:bodyPr/>
                    <a:lstStyle/>
                    <a:p>
                      <a:r>
                        <a:rPr sz="1600" b="0">
                          <a:solidFill>
                            <a:srgbClr val="1C1B1A"/>
                          </a:solidFill>
                          <a:latin typeface="Segoe UI"/>
                        </a:rPr>
                        <a:t>Clicks Summarize in the popup.</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2</a:t>
                      </a:r>
                    </a:p>
                  </a:txBody>
                  <a:tcPr anchor="ctr" marL="91440" marR="91440" marT="27432" marB="27432">
                    <a:lnB w="9525">
                      <a:solidFill>
                        <a:srgbClr val="D9D2C3"/>
                      </a:solidFill>
                    </a:lnB>
                    <a:noFill/>
                  </a:tcPr>
                </a:tc>
                <a:tc>
                  <a:txBody>
                    <a:bodyPr/>
                    <a:lstStyle/>
                    <a:p>
                      <a:r>
                        <a:rPr sz="1600" b="0">
                          <a:solidFill>
                            <a:srgbClr val="1C1B1A"/>
                          </a:solidFill>
                          <a:latin typeface="Segoe UI"/>
                        </a:rPr>
                        <a:t>Popup</a:t>
                      </a:r>
                    </a:p>
                  </a:txBody>
                  <a:tcPr anchor="ctr" marL="91440" marR="91440" marT="27432" marB="27432">
                    <a:lnB w="9525">
                      <a:solidFill>
                        <a:srgbClr val="D9D2C3"/>
                      </a:solidFill>
                    </a:lnB>
                    <a:noFill/>
                  </a:tcPr>
                </a:tc>
                <a:tc>
                  <a:txBody>
                    <a:bodyPr/>
                    <a:lstStyle/>
                    <a:p>
                      <a:r>
                        <a:rPr sz="1600" b="0">
                          <a:solidFill>
                            <a:srgbClr val="1C1B1A"/>
                          </a:solidFill>
                          <a:latin typeface="Segoe UI"/>
                        </a:rPr>
                        <a:t>Sends a start message. The job is recorded as running.</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3</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a:t>
                      </a:r>
                    </a:p>
                  </a:txBody>
                  <a:tcPr anchor="ctr" marL="91440" marR="91440" marT="27432" marB="27432">
                    <a:lnB w="9525">
                      <a:solidFill>
                        <a:srgbClr val="D9D2C3"/>
                      </a:solidFill>
                    </a:lnB>
                    <a:noFill/>
                  </a:tcPr>
                </a:tc>
                <a:tc>
                  <a:txBody>
                    <a:bodyPr/>
                    <a:lstStyle/>
                    <a:p>
                      <a:r>
                        <a:rPr sz="1600" b="0">
                          <a:solidFill>
                            <a:srgbClr val="1C1B1A"/>
                          </a:solidFill>
                          <a:latin typeface="Segoe UI"/>
                        </a:rPr>
                        <a:t>Injects the page reader into the open tab.</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4</a:t>
                      </a:r>
                    </a:p>
                  </a:txBody>
                  <a:tcPr anchor="ctr" marL="91440" marR="91440" marT="27432" marB="27432">
                    <a:lnB w="9525">
                      <a:solidFill>
                        <a:srgbClr val="D9D2C3"/>
                      </a:solidFill>
                    </a:lnB>
                    <a:noFill/>
                  </a:tcPr>
                </a:tc>
                <a:tc>
                  <a:txBody>
                    <a:bodyPr/>
                    <a:lstStyle/>
                    <a:p>
                      <a:r>
                        <a:rPr sz="1600" b="0">
                          <a:solidFill>
                            <a:srgbClr val="1C1B1A"/>
                          </a:solidFill>
                          <a:latin typeface="Segoe UI"/>
                        </a:rPr>
                        <a:t>Page reader</a:t>
                      </a:r>
                    </a:p>
                  </a:txBody>
                  <a:tcPr anchor="ctr" marL="91440" marR="91440" marT="27432" marB="27432">
                    <a:lnB w="9525">
                      <a:solidFill>
                        <a:srgbClr val="D9D2C3"/>
                      </a:solidFill>
                    </a:lnB>
                    <a:noFill/>
                  </a:tcPr>
                </a:tc>
                <a:tc>
                  <a:txBody>
                    <a:bodyPr/>
                    <a:lstStyle/>
                    <a:p>
                      <a:r>
                        <a:rPr sz="1600" b="0">
                          <a:solidFill>
                            <a:srgbClr val="1C1B1A"/>
                          </a:solidFill>
                          <a:latin typeface="Segoe UI"/>
                        </a:rPr>
                        <a:t>Returns the article text, the title and the address.</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5</a:t>
                      </a:r>
                    </a:p>
                  </a:txBody>
                  <a:tcPr anchor="ctr" marL="91440" marR="91440" marT="27432" marB="27432">
                    <a:lnB w="9525">
                      <a:solidFill>
                        <a:srgbClr val="D9D2C3"/>
                      </a:solidFill>
                    </a:lnB>
                    <a:noFill/>
                  </a:tcPr>
                </a:tc>
                <a:tc>
                  <a:txBody>
                    <a:bodyPr/>
                    <a:lstStyle/>
                    <a:p>
                      <a:r>
                        <a:rPr sz="1600" b="0">
                          <a:solidFill>
                            <a:srgbClr val="1C1B1A"/>
                          </a:solidFill>
                          <a:latin typeface="Segoe UI"/>
                        </a:rPr>
                        <a:t>Pipeline</a:t>
                      </a:r>
                    </a:p>
                  </a:txBody>
                  <a:tcPr anchor="ctr" marL="91440" marR="91440" marT="27432" marB="27432">
                    <a:lnB w="9525">
                      <a:solidFill>
                        <a:srgbClr val="D9D2C3"/>
                      </a:solidFill>
                    </a:lnB>
                    <a:noFill/>
                  </a:tcPr>
                </a:tc>
                <a:tc>
                  <a:txBody>
                    <a:bodyPr/>
                    <a:lstStyle/>
                    <a:p>
                      <a:r>
                        <a:rPr sz="1600" b="0">
                          <a:solidFill>
                            <a:srgbClr val="1C1B1A"/>
                          </a:solidFill>
                          <a:latin typeface="Segoe UI"/>
                        </a:rPr>
                        <a:t>Checks the length, then sends one request per part.</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6</a:t>
                      </a:r>
                    </a:p>
                  </a:txBody>
                  <a:tcPr anchor="ctr" marL="91440" marR="91440" marT="27432" marB="27432">
                    <a:lnB w="9525">
                      <a:solidFill>
                        <a:srgbClr val="D9D2C3"/>
                      </a:solidFill>
                    </a:lnB>
                    <a:noFill/>
                  </a:tcPr>
                </a:tc>
                <a:tc>
                  <a:txBody>
                    <a:bodyPr/>
                    <a:lstStyle/>
                    <a:p>
                      <a:r>
                        <a:rPr sz="1600" b="0">
                          <a:solidFill>
                            <a:srgbClr val="1C1B1A"/>
                          </a:solidFill>
                          <a:latin typeface="Segoe UI"/>
                        </a:rPr>
                        <a:t>Gemini service</a:t>
                      </a:r>
                    </a:p>
                  </a:txBody>
                  <a:tcPr anchor="ctr" marL="91440" marR="91440" marT="27432" marB="27432">
                    <a:lnB w="9525">
                      <a:solidFill>
                        <a:srgbClr val="D9D2C3"/>
                      </a:solidFill>
                    </a:lnB>
                    <a:noFill/>
                  </a:tcPr>
                </a:tc>
                <a:tc>
                  <a:txBody>
                    <a:bodyPr/>
                    <a:lstStyle/>
                    <a:p>
                      <a:r>
                        <a:rPr sz="1600" b="0">
                          <a:solidFill>
                            <a:srgbClr val="1C1B1A"/>
                          </a:solidFill>
                          <a:latin typeface="Segoe UI"/>
                        </a:rPr>
                        <a:t>Returns a summary for each part, then one merge request.</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7</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a:t>
                      </a:r>
                    </a:p>
                  </a:txBody>
                  <a:tcPr anchor="ctr" marL="91440" marR="91440" marT="27432" marB="27432">
                    <a:lnB w="9525">
                      <a:solidFill>
                        <a:srgbClr val="D9D2C3"/>
                      </a:solidFill>
                    </a:lnB>
                    <a:noFill/>
                  </a:tcPr>
                </a:tc>
                <a:tc>
                  <a:txBody>
                    <a:bodyPr/>
                    <a:lstStyle/>
                    <a:p>
                      <a:r>
                        <a:rPr sz="1600" b="0">
                          <a:solidFill>
                            <a:srgbClr val="1C1B1A"/>
                          </a:solidFill>
                          <a:latin typeface="Segoe UI"/>
                        </a:rPr>
                        <a:t>Writes the job as done, with the summary and stats.</a:t>
                      </a:r>
                    </a:p>
                  </a:txBody>
                  <a:tcPr anchor="ctr" marL="91440" marR="91440" marT="27432" marB="27432">
                    <a:lnB w="9525">
                      <a:solidFill>
                        <a:srgbClr val="D9D2C3"/>
                      </a:solidFill>
                    </a:lnB>
                    <a:noFill/>
                  </a:tcPr>
                </a:tc>
              </a:tr>
              <a:tr h="452120">
                <a:tc>
                  <a:txBody>
                    <a:bodyPr/>
                    <a:lstStyle/>
                    <a:p>
                      <a:r>
                        <a:rPr sz="1600" b="0">
                          <a:solidFill>
                            <a:srgbClr val="1C1B1A"/>
                          </a:solidFill>
                          <a:latin typeface="Segoe UI"/>
                        </a:rPr>
                        <a:t>8</a:t>
                      </a:r>
                    </a:p>
                  </a:txBody>
                  <a:tcPr anchor="ctr" marL="91440" marR="91440" marT="27432" marB="27432">
                    <a:lnB w="9525">
                      <a:solidFill>
                        <a:srgbClr val="D9D2C3"/>
                      </a:solidFill>
                    </a:lnB>
                    <a:noFill/>
                  </a:tcPr>
                </a:tc>
                <a:tc>
                  <a:txBody>
                    <a:bodyPr/>
                    <a:lstStyle/>
                    <a:p>
                      <a:r>
                        <a:rPr sz="1600" b="0">
                          <a:solidFill>
                            <a:srgbClr val="1C1B1A"/>
                          </a:solidFill>
                          <a:latin typeface="Segoe UI"/>
                        </a:rPr>
                        <a:t>Popup</a:t>
                      </a:r>
                    </a:p>
                  </a:txBody>
                  <a:tcPr anchor="ctr" marL="91440" marR="91440" marT="27432" marB="27432">
                    <a:lnB w="9525">
                      <a:solidFill>
                        <a:srgbClr val="D9D2C3"/>
                      </a:solidFill>
                    </a:lnB>
                    <a:noFill/>
                  </a:tcPr>
                </a:tc>
                <a:tc>
                  <a:txBody>
                    <a:bodyPr/>
                    <a:lstStyle/>
                    <a:p>
                      <a:r>
                        <a:rPr sz="1600" b="0">
                          <a:solidFill>
                            <a:srgbClr val="1C1B1A"/>
                          </a:solidFill>
                          <a:latin typeface="Segoe UI"/>
                        </a:rPr>
                        <a:t>Shows the summary, with parts, requests and time.</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80644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Gemini is a language model that Google hosts. It writes the reply to the text it is 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Five layers, and each calls only the one below</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6</a:t>
            </a:r>
          </a:p>
        </p:txBody>
      </p:sp>
      <p:graphicFrame>
        <p:nvGraphicFramePr>
          <p:cNvPr id="7" name="Table 6"/>
          <p:cNvGraphicFramePr>
            <a:graphicFrameLocks noGrp="1"/>
          </p:cNvGraphicFramePr>
          <p:nvPr/>
        </p:nvGraphicFramePr>
        <p:xfrm>
          <a:off x="685800" y="1600200"/>
          <a:ext cx="10820093" cy="3401568"/>
        </p:xfrm>
        <a:graphic>
          <a:graphicData uri="http://schemas.openxmlformats.org/drawingml/2006/table">
            <a:tbl>
              <a:tblPr firstRow="1">
                <a:tableStyleId>{2D5ABB26-0587-4C30-8999-92F81FD0307C}</a:tableStyleId>
              </a:tblPr>
              <a:tblGrid>
                <a:gridCol w="2305921"/>
                <a:gridCol w="5498736"/>
                <a:gridCol w="3015436"/>
              </a:tblGrid>
              <a:tr h="566928">
                <a:tc>
                  <a:txBody>
                    <a:bodyPr/>
                    <a:lstStyle/>
                    <a:p>
                      <a:r>
                        <a:rPr sz="1600" b="1">
                          <a:solidFill>
                            <a:srgbClr val="1C1B1A"/>
                          </a:solidFill>
                          <a:latin typeface="Segoe UI"/>
                        </a:rPr>
                        <a:t>Layer</a:t>
                      </a:r>
                    </a:p>
                  </a:txBody>
                  <a:tcPr anchor="ctr" marL="91440" marR="91440" marT="27432" marB="27432">
                    <a:lnB w="12700">
                      <a:solidFill>
                        <a:srgbClr val="1C1B1A"/>
                      </a:solidFill>
                    </a:lnB>
                    <a:noFill/>
                  </a:tcPr>
                </a:tc>
                <a:tc>
                  <a:txBody>
                    <a:bodyPr/>
                    <a:lstStyle/>
                    <a:p>
                      <a:r>
                        <a:rPr sz="1600" b="1">
                          <a:solidFill>
                            <a:srgbClr val="1C1B1A"/>
                          </a:solidFill>
                          <a:latin typeface="Segoe UI"/>
                        </a:rPr>
                        <a:t>What it holds</a:t>
                      </a:r>
                    </a:p>
                  </a:txBody>
                  <a:tcPr anchor="ctr" marL="91440" marR="91440" marT="27432" marB="27432">
                    <a:lnB w="12700">
                      <a:solidFill>
                        <a:srgbClr val="1C1B1A"/>
                      </a:solidFill>
                    </a:lnB>
                    <a:noFill/>
                  </a:tcPr>
                </a:tc>
                <a:tc>
                  <a:txBody>
                    <a:bodyPr/>
                    <a:lstStyle/>
                    <a:p>
                      <a:r>
                        <a:rPr sz="1600" b="1">
                          <a:solidFill>
                            <a:srgbClr val="1C1B1A"/>
                          </a:solidFill>
                          <a:latin typeface="Segoe UI"/>
                        </a:rPr>
                        <a:t>Main files</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User interface</a:t>
                      </a:r>
                    </a:p>
                  </a:txBody>
                  <a:tcPr anchor="ctr" marL="91440" marR="91440" marT="27432" marB="27432">
                    <a:lnB w="9525">
                      <a:solidFill>
                        <a:srgbClr val="D9D2C3"/>
                      </a:solidFill>
                    </a:lnB>
                    <a:noFill/>
                  </a:tcPr>
                </a:tc>
                <a:tc>
                  <a:txBody>
                    <a:bodyPr/>
                    <a:lstStyle/>
                    <a:p>
                      <a:r>
                        <a:rPr sz="1600" b="0">
                          <a:solidFill>
                            <a:srgbClr val="1C1B1A"/>
                          </a:solidFill>
                          <a:latin typeface="Segoe UI"/>
                        </a:rPr>
                        <a:t>Popup, Options page, summary formatter</a:t>
                      </a:r>
                    </a:p>
                  </a:txBody>
                  <a:tcPr anchor="ctr" marL="91440" marR="91440" marT="27432" marB="27432">
                    <a:lnB w="9525">
                      <a:solidFill>
                        <a:srgbClr val="D9D2C3"/>
                      </a:solidFill>
                    </a:lnB>
                    <a:noFill/>
                  </a:tcPr>
                </a:tc>
                <a:tc>
                  <a:txBody>
                    <a:bodyPr/>
                    <a:lstStyle/>
                    <a:p>
                      <a:r>
                        <a:rPr sz="1600" b="0">
                          <a:solidFill>
                            <a:srgbClr val="1C1B1A"/>
                          </a:solidFill>
                          <a:latin typeface="Segoe UI"/>
                        </a:rPr>
                        <a:t>src/ui/</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Orchestration</a:t>
                      </a:r>
                    </a:p>
                  </a:txBody>
                  <a:tcPr anchor="ctr" marL="91440" marR="91440" marT="27432" marB="27432">
                    <a:lnB w="9525">
                      <a:solidFill>
                        <a:srgbClr val="D9D2C3"/>
                      </a:solidFill>
                    </a:lnB>
                    <a:noFill/>
                  </a:tcPr>
                </a:tc>
                <a:tc>
                  <a:txBody>
                    <a:bodyPr/>
                    <a:lstStyle/>
                    <a:p>
                      <a:r>
                        <a:rPr sz="1600" b="0">
                          <a:solidFill>
                            <a:srgbClr val="1C1B1A"/>
                          </a:solidFill>
                          <a:latin typeface="Segoe UI"/>
                        </a:rPr>
                        <a:t>Service worker: owns the job and writes its progress</a:t>
                      </a:r>
                    </a:p>
                  </a:txBody>
                  <a:tcPr anchor="ctr" marL="91440" marR="91440" marT="27432" marB="27432">
                    <a:lnB w="9525">
                      <a:solidFill>
                        <a:srgbClr val="D9D2C3"/>
                      </a:solidFill>
                    </a:lnB>
                    <a:noFill/>
                  </a:tcPr>
                </a:tc>
                <a:tc>
                  <a:txBody>
                    <a:bodyPr/>
                    <a:lstStyle/>
                    <a:p>
                      <a:r>
                        <a:rPr sz="1600" b="0">
                          <a:solidFill>
                            <a:srgbClr val="1C1B1A"/>
                          </a:solidFill>
                          <a:latin typeface="Segoe UI"/>
                        </a:rPr>
                        <a:t>service-worker.js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Core</a:t>
                      </a:r>
                    </a:p>
                  </a:txBody>
                  <a:tcPr anchor="ctr" marL="91440" marR="91440" marT="27432" marB="27432">
                    <a:lnB w="9525">
                      <a:solidFill>
                        <a:srgbClr val="D9D2C3"/>
                      </a:solidFill>
                    </a:lnB>
                    <a:noFill/>
                  </a:tcPr>
                </a:tc>
                <a:tc>
                  <a:txBody>
                    <a:bodyPr/>
                    <a:lstStyle/>
                    <a:p>
                      <a:r>
                        <a:rPr sz="1600" b="0">
                          <a:solidFill>
                            <a:srgbClr val="1C1B1A"/>
                          </a:solidFill>
                          <a:latin typeface="Segoe UI"/>
                        </a:rPr>
                        <a:t>Page reader, pipeline, chunker, merger, errors, prompts, config</a:t>
                      </a:r>
                    </a:p>
                  </a:txBody>
                  <a:tcPr anchor="ctr" marL="91440" marR="91440" marT="27432" marB="27432">
                    <a:lnB w="9525">
                      <a:solidFill>
                        <a:srgbClr val="D9D2C3"/>
                      </a:solidFill>
                    </a:lnB>
                    <a:noFill/>
                  </a:tcPr>
                </a:tc>
                <a:tc>
                  <a:txBody>
                    <a:bodyPr/>
                    <a:lstStyle/>
                    <a:p>
                      <a:r>
                        <a:rPr sz="1600" b="0">
                          <a:solidFill>
                            <a:srgbClr val="1C1B1A"/>
                          </a:solidFill>
                          <a:latin typeface="Segoe UI"/>
                        </a:rPr>
                        <a:t>src/core/</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Engine</a:t>
                      </a:r>
                    </a:p>
                  </a:txBody>
                  <a:tcPr anchor="ctr" marL="91440" marR="91440" marT="27432" marB="27432">
                    <a:lnB w="9525">
                      <a:solidFill>
                        <a:srgbClr val="D9D2C3"/>
                      </a:solidFill>
                    </a:lnB>
                    <a:noFill/>
                  </a:tcPr>
                </a:tc>
                <a:tc>
                  <a:txBody>
                    <a:bodyPr/>
                    <a:lstStyle/>
                    <a:p>
                      <a:r>
                        <a:rPr sz="1600" b="0">
                          <a:solidFill>
                            <a:srgbClr val="1C1B1A"/>
                          </a:solidFill>
                          <a:latin typeface="Segoe UI"/>
                        </a:rPr>
                        <a:t>Gemini engine: the only file that calls Google</a:t>
                      </a:r>
                    </a:p>
                  </a:txBody>
                  <a:tcPr anchor="ctr" marL="91440" marR="91440" marT="27432" marB="27432">
                    <a:lnB w="9525">
                      <a:solidFill>
                        <a:srgbClr val="D9D2C3"/>
                      </a:solidFill>
                    </a:lnB>
                    <a:noFill/>
                  </a:tcPr>
                </a:tc>
                <a:tc>
                  <a:txBody>
                    <a:bodyPr/>
                    <a:lstStyle/>
                    <a:p>
                      <a:r>
                        <a:rPr sz="1600" b="0">
                          <a:solidFill>
                            <a:srgbClr val="1C1B1A"/>
                          </a:solidFill>
                          <a:latin typeface="Segoe UI"/>
                        </a:rPr>
                        <a:t>engines/gemini.js</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Platform</a:t>
                      </a:r>
                    </a:p>
                  </a:txBody>
                  <a:tcPr anchor="ctr" marL="91440" marR="91440" marT="27432" marB="27432">
                    <a:lnB w="9525">
                      <a:solidFill>
                        <a:srgbClr val="D9D2C3"/>
                      </a:solidFill>
                    </a:lnB>
                    <a:noFill/>
                  </a:tcPr>
                </a:tc>
                <a:tc>
                  <a:txBody>
                    <a:bodyPr/>
                    <a:lstStyle/>
                    <a:p>
                      <a:r>
                        <a:rPr sz="1600" b="0">
                          <a:solidFill>
                            <a:srgbClr val="1C1B1A"/>
                          </a:solidFill>
                          <a:latin typeface="Segoe UI"/>
                        </a:rPr>
                        <a:t>Chrome calls: scripting, storage, tabs, runtime messages</a:t>
                      </a:r>
                    </a:p>
                  </a:txBody>
                  <a:tcPr anchor="ctr" marL="91440" marR="91440" marT="27432" marB="27432">
                    <a:lnB w="9525">
                      <a:solidFill>
                        <a:srgbClr val="D9D2C3"/>
                      </a:solidFill>
                    </a:lnB>
                    <a:noFill/>
                  </a:tcPr>
                </a:tc>
                <a:tc>
                  <a:txBody>
                    <a:bodyPr/>
                    <a:lstStyle/>
                    <a:p>
                      <a:r>
                        <a:rPr sz="1600" b="0">
                          <a:solidFill>
                            <a:srgbClr val="1C1B1A"/>
                          </a:solidFill>
                          <a:latin typeface="Segoe UI"/>
                        </a:rPr>
                        <a:t>chrome.* calls</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138928"/>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Only the engine file talks to Google. The core files do not depend on Chrome, so they are tested without a browser.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Reading the page text</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7</a:t>
            </a:r>
          </a:p>
        </p:txBody>
      </p:sp>
      <p:pic>
        <p:nvPicPr>
          <p:cNvPr id="7" name="Picture 6" descr="Flow chart: the service worker checks the tab address, injects the reader, and receives the page text from a copy of the page inside the tab."/>
          <p:cNvPicPr>
            <a:picLocks noChangeAspect="1"/>
          </p:cNvPicPr>
          <p:nvPr/>
        </p:nvPicPr>
        <p:blipFill>
          <a:blip r:embed="rId2"/>
          <a:stretch>
            <a:fillRect/>
          </a:stretch>
        </p:blipFill>
        <p:spPr>
          <a:xfrm>
            <a:off x="720237" y="1600200"/>
            <a:ext cx="6423182" cy="3739896"/>
          </a:xfrm>
          <a:prstGeom prst="rect">
            <a:avLst/>
          </a:prstGeom>
        </p:spPr>
      </p:pic>
      <p:sp>
        <p:nvSpPr>
          <p:cNvPr id="8" name="TextBox 7"/>
          <p:cNvSpPr txBox="1"/>
          <p:nvPr/>
        </p:nvSpPr>
        <p:spPr>
          <a:xfrm>
            <a:off x="685800" y="5431536"/>
            <a:ext cx="6492057" cy="740664"/>
          </a:xfrm>
          <a:prstGeom prst="rect">
            <a:avLst/>
          </a:prstGeom>
          <a:noFill/>
        </p:spPr>
        <p:txBody>
          <a:bodyPr wrap="square" anchor="t" lIns="45720" rIns="45720" tIns="27432" bIns="27432">
            <a:spAutoFit/>
          </a:bodyPr>
          <a:lstStyle/>
          <a:p>
            <a:pPr algn="l"/>
            <a:r>
              <a:rPr sz="1600" b="0" i="1">
                <a:solidFill>
                  <a:srgbClr val="6B665C"/>
                </a:solidFill>
                <a:latin typeface="Segoe UI"/>
              </a:rPr>
              <a:t>Left: the service worker. Right: a copy of the page, read inside the tab.</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The page is copied, so the page on screen is not changed.</a:t>
            </a:r>
          </a:p>
          <a:p>
            <a:pPr marL="320040" indent="-320040">
              <a:lnSpc>
                <a:spcPct val="105000"/>
              </a:lnSpc>
              <a:spcAft>
                <a:spcPts val="1200"/>
              </a:spcAft>
              <a:buClr>
                <a:srgbClr val="B4391F"/>
              </a:buClr>
              <a:buFont typeface="Arial"/>
              <a:buChar char="•"/>
            </a:pPr>
            <a:r>
              <a:rPr sz="2000">
                <a:solidFill>
                  <a:srgbClr val="1C1B1A"/>
                </a:solidFill>
                <a:latin typeface="Segoe UI"/>
              </a:rPr>
              <a:t>Readability finds the article and drops menus, adverts and footers.</a:t>
            </a:r>
          </a:p>
          <a:p>
            <a:pPr marL="320040" indent="-320040">
              <a:lnSpc>
                <a:spcPct val="105000"/>
              </a:lnSpc>
              <a:spcAft>
                <a:spcPts val="1200"/>
              </a:spcAft>
              <a:buClr>
                <a:srgbClr val="B4391F"/>
              </a:buClr>
              <a:buFont typeface="Arial"/>
              <a:buChar char="•"/>
            </a:pPr>
            <a:r>
              <a:rPr sz="2000">
                <a:solidFill>
                  <a:srgbClr val="1C1B1A"/>
                </a:solidFill>
                <a:latin typeface="Segoe UI"/>
              </a:rPr>
              <a:t>Pages with almost no article text use the visible text instead.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Long pages are cut into parts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8</a:t>
            </a:r>
          </a:p>
        </p:txBody>
      </p:sp>
      <p:pic>
        <p:nvPicPr>
          <p:cNvPr id="7" name="Picture 6" descr="Flow chart of the splitter: the text is kept whole if it fits, otherwise it is split at paragraphs, then sentences, then spaces, and packed back up to the part size."/>
          <p:cNvPicPr>
            <a:picLocks noChangeAspect="1"/>
          </p:cNvPicPr>
          <p:nvPr/>
        </p:nvPicPr>
        <p:blipFill>
          <a:blip r:embed="rId2"/>
          <a:stretch>
            <a:fillRect/>
          </a:stretch>
        </p:blipFill>
        <p:spPr>
          <a:xfrm>
            <a:off x="2233155" y="1600200"/>
            <a:ext cx="3397347" cy="3995928"/>
          </a:xfrm>
          <a:prstGeom prst="rect">
            <a:avLst/>
          </a:prstGeom>
        </p:spPr>
      </p:pic>
      <p:sp>
        <p:nvSpPr>
          <p:cNvPr id="8" name="TextBox 7"/>
          <p:cNvSpPr txBox="1"/>
          <p:nvPr/>
        </p:nvSpPr>
        <p:spPr>
          <a:xfrm>
            <a:off x="685800" y="5687568"/>
            <a:ext cx="6492057" cy="484632"/>
          </a:xfrm>
          <a:prstGeom prst="rect">
            <a:avLst/>
          </a:prstGeom>
          <a:noFill/>
        </p:spPr>
        <p:txBody>
          <a:bodyPr wrap="square" anchor="t" lIns="45720" rIns="45720" tIns="27432" bIns="27432">
            <a:spAutoFit/>
          </a:bodyPr>
          <a:lstStyle/>
          <a:p>
            <a:pPr algn="l"/>
            <a:r>
              <a:rPr sz="1600" b="0" i="1">
                <a:solidFill>
                  <a:srgbClr val="6B665C"/>
                </a:solidFill>
                <a:latin typeface="Segoe UI"/>
              </a:rPr>
              <a:t>How the text is cut. The order of the parts is kept.</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A part holds at most 8,000 characters. A short page is one part.</a:t>
            </a:r>
          </a:p>
          <a:p>
            <a:pPr marL="320040" indent="-320040">
              <a:lnSpc>
                <a:spcPct val="105000"/>
              </a:lnSpc>
              <a:spcAft>
                <a:spcPts val="1200"/>
              </a:spcAft>
              <a:buClr>
                <a:srgbClr val="B4391F"/>
              </a:buClr>
              <a:buFont typeface="Arial"/>
              <a:buChar char="•"/>
            </a:pPr>
            <a:r>
              <a:rPr sz="2000">
                <a:solidFill>
                  <a:srgbClr val="1C1B1A"/>
                </a:solidFill>
                <a:latin typeface="Segoe UI"/>
              </a:rPr>
              <a:t>Cuts fall at paragraph breaks first, then at sentence ends.</a:t>
            </a:r>
          </a:p>
          <a:p>
            <a:pPr marL="320040" indent="-320040">
              <a:lnSpc>
                <a:spcPct val="105000"/>
              </a:lnSpc>
              <a:spcAft>
                <a:spcPts val="1200"/>
              </a:spcAft>
              <a:buClr>
                <a:srgbClr val="B4391F"/>
              </a:buClr>
              <a:buFont typeface="Arial"/>
              <a:buChar char="•"/>
            </a:pPr>
            <a:r>
              <a:rPr sz="2000">
                <a:solidFill>
                  <a:srgbClr val="1C1B1A"/>
                </a:solidFill>
                <a:latin typeface="Segoe UI"/>
              </a:rPr>
              <a:t>A page that needs more than 30 parts is refused before any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Part summaries are merged in small groups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9</a:t>
            </a:r>
          </a:p>
        </p:txBody>
      </p:sp>
      <p:pic>
        <p:nvPicPr>
          <p:cNvPr id="7" name="Picture 6" descr="Merge tree: eight part summaries are merged in pairs, then in groups of four, then into one final summary."/>
          <p:cNvPicPr>
            <a:picLocks noChangeAspect="1"/>
          </p:cNvPicPr>
          <p:nvPr/>
        </p:nvPicPr>
        <p:blipFill>
          <a:blip r:embed="rId2"/>
          <a:stretch>
            <a:fillRect/>
          </a:stretch>
        </p:blipFill>
        <p:spPr>
          <a:xfrm>
            <a:off x="685800" y="1600200"/>
            <a:ext cx="6492057" cy="3334384"/>
          </a:xfrm>
          <a:prstGeom prst="rect">
            <a:avLst/>
          </a:prstGeom>
        </p:spPr>
      </p:pic>
      <p:sp>
        <p:nvSpPr>
          <p:cNvPr id="8" name="TextBox 7"/>
          <p:cNvSpPr txBox="1"/>
          <p:nvPr/>
        </p:nvSpPr>
        <p:spPr>
          <a:xfrm>
            <a:off x="685800" y="5026024"/>
            <a:ext cx="6492057" cy="740664"/>
          </a:xfrm>
          <a:prstGeom prst="rect">
            <a:avLst/>
          </a:prstGeom>
          <a:noFill/>
        </p:spPr>
        <p:txBody>
          <a:bodyPr wrap="square" anchor="t" lIns="45720" rIns="45720" tIns="27432" bIns="27432">
            <a:spAutoFit/>
          </a:bodyPr>
          <a:lstStyle/>
          <a:p>
            <a:pPr algn="l"/>
            <a:r>
              <a:rPr sz="1600" b="0" i="1">
                <a:solidFill>
                  <a:srgbClr val="6B665C"/>
                </a:solidFill>
                <a:latin typeface="Segoe UI"/>
              </a:rPr>
              <a:t>An illustration with a small example limit, not a measured run.</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Part summaries are joined in small groups that fit one request.</a:t>
            </a:r>
          </a:p>
          <a:p>
            <a:pPr marL="320040" indent="-320040">
              <a:lnSpc>
                <a:spcPct val="105000"/>
              </a:lnSpc>
              <a:spcAft>
                <a:spcPts val="1200"/>
              </a:spcAft>
              <a:buClr>
                <a:srgbClr val="B4391F"/>
              </a:buClr>
              <a:buFont typeface="Arial"/>
              <a:buChar char="•"/>
            </a:pPr>
            <a:r>
              <a:rPr sz="2000">
                <a:solidFill>
                  <a:srgbClr val="1C1B1A"/>
                </a:solidFill>
                <a:latin typeface="Segoe UI"/>
              </a:rPr>
              <a:t>The groups are merged again until one summary is left.</a:t>
            </a:r>
          </a:p>
          <a:p>
            <a:pPr marL="320040" indent="-320040">
              <a:lnSpc>
                <a:spcPct val="105000"/>
              </a:lnSpc>
              <a:spcAft>
                <a:spcPts val="1200"/>
              </a:spcAft>
              <a:buClr>
                <a:srgbClr val="B4391F"/>
              </a:buClr>
              <a:buFont typeface="Arial"/>
              <a:buChar char="•"/>
            </a:pPr>
            <a:r>
              <a:rPr sz="2000">
                <a:solidFill>
                  <a:srgbClr val="1C1B1A"/>
                </a:solidFill>
                <a:latin typeface="Segoe UI"/>
              </a:rPr>
              <a:t>The merge sends only the part summaries, not the page 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cloud service: retries and time limits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10</a:t>
            </a:r>
          </a:p>
        </p:txBody>
      </p:sp>
      <p:pic>
        <p:nvPicPr>
          <p:cNvPr id="7" name="Picture 6" descr="Sequence diagram of a busy reply: the service worker waits 2 seconds, retries, waits 4 seconds, retries again and receives a successful answer."/>
          <p:cNvPicPr>
            <a:picLocks noChangeAspect="1"/>
          </p:cNvPicPr>
          <p:nvPr/>
        </p:nvPicPr>
        <p:blipFill>
          <a:blip r:embed="rId2"/>
          <a:stretch>
            <a:fillRect/>
          </a:stretch>
        </p:blipFill>
        <p:spPr>
          <a:xfrm>
            <a:off x="685800" y="1600200"/>
            <a:ext cx="6492057" cy="3834872"/>
          </a:xfrm>
          <a:prstGeom prst="rect">
            <a:avLst/>
          </a:prstGeom>
        </p:spPr>
      </p:pic>
      <p:sp>
        <p:nvSpPr>
          <p:cNvPr id="8" name="TextBox 7"/>
          <p:cNvSpPr txBox="1"/>
          <p:nvPr/>
        </p:nvSpPr>
        <p:spPr>
          <a:xfrm>
            <a:off x="685800" y="5526512"/>
            <a:ext cx="6492057" cy="484632"/>
          </a:xfrm>
          <a:prstGeom prst="rect">
            <a:avLst/>
          </a:prstGeom>
          <a:noFill/>
        </p:spPr>
        <p:txBody>
          <a:bodyPr wrap="square" anchor="t" lIns="45720" rIns="45720" tIns="27432" bIns="27432">
            <a:spAutoFit/>
          </a:bodyPr>
          <a:lstStyle/>
          <a:p>
            <a:pPr algn="l"/>
            <a:r>
              <a:rPr sz="1600" b="0" i="1">
                <a:solidFill>
                  <a:srgbClr val="6B665C"/>
                </a:solidFill>
                <a:latin typeface="Segoe UI"/>
              </a:rPr>
              <a:t>A busy reply (429) is retried. A wrong key is not.</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The key goes in a request header, never in the web address.</a:t>
            </a:r>
          </a:p>
          <a:p>
            <a:pPr marL="320040" indent="-320040">
              <a:lnSpc>
                <a:spcPct val="105000"/>
              </a:lnSpc>
              <a:spcAft>
                <a:spcPts val="1200"/>
              </a:spcAft>
              <a:buClr>
                <a:srgbClr val="B4391F"/>
              </a:buClr>
              <a:buFont typeface="Arial"/>
              <a:buChar char="•"/>
            </a:pPr>
            <a:r>
              <a:rPr sz="2000">
                <a:solidFill>
                  <a:srgbClr val="1C1B1A"/>
                </a:solidFill>
                <a:latin typeface="Segoe UI"/>
              </a:rPr>
              <a:t>A busy or server error is retried up to three times, after 2, 4 and 8 seconds.</a:t>
            </a:r>
          </a:p>
          <a:p>
            <a:pPr marL="320040" indent="-320040">
              <a:lnSpc>
                <a:spcPct val="105000"/>
              </a:lnSpc>
              <a:spcAft>
                <a:spcPts val="1200"/>
              </a:spcAft>
              <a:buClr>
                <a:srgbClr val="B4391F"/>
              </a:buClr>
              <a:buFont typeface="Arial"/>
              <a:buChar char="•"/>
            </a:pPr>
            <a:r>
              <a:rPr sz="2000">
                <a:solidFill>
                  <a:srgbClr val="1C1B1A"/>
                </a:solidFill>
                <a:latin typeface="Segoe UI"/>
              </a:rPr>
              <a:t>No answer within 25 seconds is stopped and reported as too slow.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Each failure has one code and one plain message</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11</a:t>
            </a:r>
          </a:p>
        </p:txBody>
      </p:sp>
      <p:graphicFrame>
        <p:nvGraphicFramePr>
          <p:cNvPr id="7" name="Table 6"/>
          <p:cNvGraphicFramePr>
            <a:graphicFrameLocks noGrp="1"/>
          </p:cNvGraphicFramePr>
          <p:nvPr/>
        </p:nvGraphicFramePr>
        <p:xfrm>
          <a:off x="685800" y="1600200"/>
          <a:ext cx="10820093" cy="4069080"/>
        </p:xfrm>
        <a:graphic>
          <a:graphicData uri="http://schemas.openxmlformats.org/drawingml/2006/table">
            <a:tbl>
              <a:tblPr firstRow="1">
                <a:tableStyleId>{2D5ABB26-0587-4C30-8999-92F81FD0307C}</a:tableStyleId>
              </a:tblPr>
              <a:tblGrid>
                <a:gridCol w="2874087"/>
                <a:gridCol w="6086303"/>
                <a:gridCol w="1859703"/>
              </a:tblGrid>
              <a:tr h="508635">
                <a:tc>
                  <a:txBody>
                    <a:bodyPr/>
                    <a:lstStyle/>
                    <a:p>
                      <a:r>
                        <a:rPr sz="1600" b="1">
                          <a:solidFill>
                            <a:srgbClr val="1C1B1A"/>
                          </a:solidFill>
                          <a:latin typeface="Segoe UI"/>
                        </a:rPr>
                        <a:t>Code</a:t>
                      </a:r>
                    </a:p>
                  </a:txBody>
                  <a:tcPr anchor="ctr" marL="91440" marR="91440" marT="27432" marB="27432">
                    <a:lnB w="12700">
                      <a:solidFill>
                        <a:srgbClr val="1C1B1A"/>
                      </a:solidFill>
                    </a:lnB>
                    <a:noFill/>
                  </a:tcPr>
                </a:tc>
                <a:tc>
                  <a:txBody>
                    <a:bodyPr/>
                    <a:lstStyle/>
                    <a:p>
                      <a:r>
                        <a:rPr sz="1600" b="1">
                          <a:solidFill>
                            <a:srgbClr val="1C1B1A"/>
                          </a:solidFill>
                          <a:latin typeface="Segoe UI"/>
                        </a:rPr>
                        <a:t>What the reader sees</a:t>
                      </a:r>
                    </a:p>
                  </a:txBody>
                  <a:tcPr anchor="ctr" marL="91440" marR="91440" marT="27432" marB="27432">
                    <a:lnB w="12700">
                      <a:solidFill>
                        <a:srgbClr val="1C1B1A"/>
                      </a:solidFill>
                    </a:lnB>
                    <a:noFill/>
                  </a:tcPr>
                </a:tc>
                <a:tc>
                  <a:txBody>
                    <a:bodyPr/>
                    <a:lstStyle/>
                    <a:p>
                      <a:r>
                        <a:rPr sz="1600" b="1">
                          <a:solidFill>
                            <a:srgbClr val="1C1B1A"/>
                          </a:solidFill>
                          <a:latin typeface="Segoe UI"/>
                        </a:rPr>
                        <a:t>Retried?</a:t>
                      </a:r>
                    </a:p>
                  </a:txBody>
                  <a:tcPr anchor="ctr" marL="91440" marR="91440" marT="27432" marB="27432">
                    <a:lnB w="12700">
                      <a:solidFill>
                        <a:srgbClr val="1C1B1A"/>
                      </a:solidFill>
                    </a:lnB>
                    <a:noFill/>
                  </a:tcPr>
                </a:tc>
              </a:tr>
              <a:tr h="508635">
                <a:tc>
                  <a:txBody>
                    <a:bodyPr/>
                    <a:lstStyle/>
                    <a:p>
                      <a:r>
                        <a:rPr sz="1600" b="0">
                          <a:solidFill>
                            <a:srgbClr val="1C1B1A"/>
                          </a:solidFill>
                          <a:latin typeface="Segoe UI"/>
                        </a:rPr>
                        <a:t>NO_KEY</a:t>
                      </a:r>
                    </a:p>
                  </a:txBody>
                  <a:tcPr anchor="ctr" marL="91440" marR="91440" marT="27432" marB="27432">
                    <a:lnB w="9525">
                      <a:solidFill>
                        <a:srgbClr val="D9D2C3"/>
                      </a:solidFill>
                    </a:lnB>
                    <a:noFill/>
                  </a:tcPr>
                </a:tc>
                <a:tc>
                  <a:txBody>
                    <a:bodyPr/>
                    <a:lstStyle/>
                    <a:p>
                      <a:r>
                        <a:rPr sz="1600" b="0">
                          <a:solidFill>
                            <a:srgbClr val="1C1B1A"/>
                          </a:solidFill>
                          <a:latin typeface="Segoe UI"/>
                        </a:rPr>
                        <a:t>No API key yet. Paste your Gemini key in the Key box and save it.</a:t>
                      </a:r>
                    </a:p>
                  </a:txBody>
                  <a:tcPr anchor="ctr" marL="91440" marR="91440" marT="27432" marB="27432">
                    <a:lnB w="9525">
                      <a:solidFill>
                        <a:srgbClr val="D9D2C3"/>
                      </a:solidFill>
                    </a:lnB>
                    <a:noFill/>
                  </a:tcPr>
                </a:tc>
                <a:tc>
                  <a:txBody>
                    <a:bodyPr/>
                    <a:lstStyle/>
                    <a:p>
                      <a:r>
                        <a:rPr sz="1600" b="0">
                          <a:solidFill>
                            <a:srgbClr val="1C1B1A"/>
                          </a:solidFill>
                          <a:latin typeface="Segoe UI"/>
                        </a:rPr>
                        <a:t>No request sent</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INVALID_KEY</a:t>
                      </a:r>
                    </a:p>
                  </a:txBody>
                  <a:tcPr anchor="ctr" marL="91440" marR="91440" marT="27432" marB="27432">
                    <a:lnB w="9525">
                      <a:solidFill>
                        <a:srgbClr val="D9D2C3"/>
                      </a:solidFill>
                    </a:lnB>
                    <a:noFill/>
                  </a:tcPr>
                </a:tc>
                <a:tc>
                  <a:txBody>
                    <a:bodyPr/>
                    <a:lstStyle/>
                    <a:p>
                      <a:r>
                        <a:rPr sz="1600" b="0">
                          <a:solidFill>
                            <a:srgbClr val="1C1B1A"/>
                          </a:solidFill>
                          <a:latin typeface="Segoe UI"/>
                        </a:rPr>
                        <a:t>Your API key was rejected. Paste a correct key in the Key box.</a:t>
                      </a:r>
                    </a:p>
                  </a:txBody>
                  <a:tcPr anchor="ctr" marL="91440" marR="91440" marT="27432" marB="27432">
                    <a:lnB w="9525">
                      <a:solidFill>
                        <a:srgbClr val="D9D2C3"/>
                      </a:solidFill>
                    </a:lnB>
                    <a:noFill/>
                  </a:tcPr>
                </a:tc>
                <a:tc>
                  <a:txBody>
                    <a:bodyPr/>
                    <a:lstStyle/>
                    <a:p>
                      <a:r>
                        <a:rPr sz="1600" b="0">
                          <a:solidFill>
                            <a:srgbClr val="1C1B1A"/>
                          </a:solidFill>
                          <a:latin typeface="Segoe UI"/>
                        </a:rPr>
                        <a:t>No</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RATE_LIMIT</a:t>
                      </a:r>
                    </a:p>
                  </a:txBody>
                  <a:tcPr anchor="ctr" marL="91440" marR="91440" marT="27432" marB="27432">
                    <a:lnB w="9525">
                      <a:solidFill>
                        <a:srgbClr val="D9D2C3"/>
                      </a:solidFill>
                    </a:lnB>
                    <a:noFill/>
                  </a:tcPr>
                </a:tc>
                <a:tc>
                  <a:txBody>
                    <a:bodyPr/>
                    <a:lstStyle/>
                    <a:p>
                      <a:r>
                        <a:rPr sz="1600" b="0">
                          <a:solidFill>
                            <a:srgbClr val="1C1B1A"/>
                          </a:solidFill>
                          <a:latin typeface="Segoe UI"/>
                        </a:rPr>
                        <a:t>The free tier is busy right now. Wait a minute and try again.</a:t>
                      </a:r>
                    </a:p>
                  </a:txBody>
                  <a:tcPr anchor="ctr" marL="91440" marR="91440" marT="27432" marB="27432">
                    <a:lnB w="9525">
                      <a:solidFill>
                        <a:srgbClr val="D9D2C3"/>
                      </a:solidFill>
                    </a:lnB>
                    <a:noFill/>
                  </a:tcPr>
                </a:tc>
                <a:tc>
                  <a:txBody>
                    <a:bodyPr/>
                    <a:lstStyle/>
                    <a:p>
                      <a:r>
                        <a:rPr sz="1600" b="0">
                          <a:solidFill>
                            <a:srgbClr val="1C1B1A"/>
                          </a:solidFill>
                          <a:latin typeface="Segoe UI"/>
                        </a:rPr>
                        <a:t>Yes, 3 times</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TIMEOUT</a:t>
                      </a:r>
                    </a:p>
                  </a:txBody>
                  <a:tcPr anchor="ctr" marL="91440" marR="91440" marT="27432" marB="27432">
                    <a:lnB w="9525">
                      <a:solidFill>
                        <a:srgbClr val="D9D2C3"/>
                      </a:solidFill>
                    </a:lnB>
                    <a:noFill/>
                  </a:tcPr>
                </a:tc>
                <a:tc>
                  <a:txBody>
                    <a:bodyPr/>
                    <a:lstStyle/>
                    <a:p>
                      <a:r>
                        <a:rPr sz="1600" b="0">
                          <a:solidFill>
                            <a:srgbClr val="1C1B1A"/>
                          </a:solidFill>
                          <a:latin typeface="Segoe UI"/>
                        </a:rPr>
                        <a:t>The service took too long to answer. Try again.</a:t>
                      </a:r>
                    </a:p>
                  </a:txBody>
                  <a:tcPr anchor="ctr" marL="91440" marR="91440" marT="27432" marB="27432">
                    <a:lnB w="9525">
                      <a:solidFill>
                        <a:srgbClr val="D9D2C3"/>
                      </a:solidFill>
                    </a:lnB>
                    <a:noFill/>
                  </a:tcPr>
                </a:tc>
                <a:tc>
                  <a:txBody>
                    <a:bodyPr/>
                    <a:lstStyle/>
                    <a:p>
                      <a:r>
                        <a:rPr sz="1600" b="0">
                          <a:solidFill>
                            <a:srgbClr val="1C1B1A"/>
                          </a:solidFill>
                          <a:latin typeface="Segoe UI"/>
                        </a:rPr>
                        <a:t>No</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TOO_LITTLE_TEXT</a:t>
                      </a:r>
                    </a:p>
                  </a:txBody>
                  <a:tcPr anchor="ctr" marL="91440" marR="91440" marT="27432" marB="27432">
                    <a:lnB w="9525">
                      <a:solidFill>
                        <a:srgbClr val="D9D2C3"/>
                      </a:solidFill>
                    </a:lnB>
                    <a:noFill/>
                  </a:tcPr>
                </a:tc>
                <a:tc>
                  <a:txBody>
                    <a:bodyPr/>
                    <a:lstStyle/>
                    <a:p>
                      <a:r>
                        <a:rPr sz="1600" b="0">
                          <a:solidFill>
                            <a:srgbClr val="1C1B1A"/>
                          </a:solidFill>
                          <a:latin typeface="Segoe UI"/>
                        </a:rPr>
                        <a:t>This page has too little readable text to summarize.</a:t>
                      </a:r>
                    </a:p>
                  </a:txBody>
                  <a:tcPr anchor="ctr" marL="91440" marR="91440" marT="27432" marB="27432">
                    <a:lnB w="9525">
                      <a:solidFill>
                        <a:srgbClr val="D9D2C3"/>
                      </a:solidFill>
                    </a:lnB>
                    <a:noFill/>
                  </a:tcPr>
                </a:tc>
                <a:tc>
                  <a:txBody>
                    <a:bodyPr/>
                    <a:lstStyle/>
                    <a:p>
                      <a:r>
                        <a:rPr sz="1600" b="0">
                          <a:solidFill>
                            <a:srgbClr val="1C1B1A"/>
                          </a:solidFill>
                          <a:latin typeface="Segoe UI"/>
                        </a:rPr>
                        <a:t>No request sent</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RESTRICTED_PAGE</a:t>
                      </a:r>
                    </a:p>
                  </a:txBody>
                  <a:tcPr anchor="ctr" marL="91440" marR="91440" marT="27432" marB="27432">
                    <a:lnB w="9525">
                      <a:solidFill>
                        <a:srgbClr val="D9D2C3"/>
                      </a:solidFill>
                    </a:lnB>
                    <a:noFill/>
                  </a:tcPr>
                </a:tc>
                <a:tc>
                  <a:txBody>
                    <a:bodyPr/>
                    <a:lstStyle/>
                    <a:p>
                      <a:r>
                        <a:rPr sz="1600" b="0">
                          <a:solidFill>
                            <a:srgbClr val="1C1B1A"/>
                          </a:solidFill>
                          <a:latin typeface="Segoe UI"/>
                        </a:rPr>
                        <a:t>Chrome does not allow extensions to read this page.</a:t>
                      </a:r>
                    </a:p>
                  </a:txBody>
                  <a:tcPr anchor="ctr" marL="91440" marR="91440" marT="27432" marB="27432">
                    <a:lnB w="9525">
                      <a:solidFill>
                        <a:srgbClr val="D9D2C3"/>
                      </a:solidFill>
                    </a:lnB>
                    <a:noFill/>
                  </a:tcPr>
                </a:tc>
                <a:tc>
                  <a:txBody>
                    <a:bodyPr/>
                    <a:lstStyle/>
                    <a:p>
                      <a:r>
                        <a:rPr sz="1600" b="0">
                          <a:solidFill>
                            <a:srgbClr val="1C1B1A"/>
                          </a:solidFill>
                          <a:latin typeface="Segoe UI"/>
                        </a:rPr>
                        <a:t>No request sent</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TOO_LONG</a:t>
                      </a:r>
                    </a:p>
                  </a:txBody>
                  <a:tcPr anchor="ctr" marL="91440" marR="91440" marT="27432" marB="27432">
                    <a:lnB w="9525">
                      <a:solidFill>
                        <a:srgbClr val="D9D2C3"/>
                      </a:solidFill>
                    </a:lnB>
                    <a:noFill/>
                  </a:tcPr>
                </a:tc>
                <a:tc>
                  <a:txBody>
                    <a:bodyPr/>
                    <a:lstStyle/>
                    <a:p>
                      <a:r>
                        <a:rPr sz="1600" b="0">
                          <a:solidFill>
                            <a:srgbClr val="1C1B1A"/>
                          </a:solidFill>
                          <a:latin typeface="Segoe UI"/>
                        </a:rPr>
                        <a:t>This page is too long for Version 1 to summarize. Try a shorter page.</a:t>
                      </a:r>
                    </a:p>
                  </a:txBody>
                  <a:tcPr anchor="ctr" marL="91440" marR="91440" marT="27432" marB="27432">
                    <a:lnB w="9525">
                      <a:solidFill>
                        <a:srgbClr val="D9D2C3"/>
                      </a:solidFill>
                    </a:lnB>
                    <a:noFill/>
                  </a:tcPr>
                </a:tc>
                <a:tc>
                  <a:txBody>
                    <a:bodyPr/>
                    <a:lstStyle/>
                    <a:p>
                      <a:r>
                        <a:rPr sz="1600" b="0">
                          <a:solidFill>
                            <a:srgbClr val="1C1B1A"/>
                          </a:solidFill>
                          <a:latin typeface="Segoe UI"/>
                        </a:rPr>
                        <a:t>No request sent</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80644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There are 14 error codes in all. The technical detail goes only to the console 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popup shows progress, retries and the result</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12</a:t>
            </a:r>
          </a:p>
        </p:txBody>
      </p:sp>
      <p:pic>
        <p:nvPicPr>
          <p:cNvPr id="7" name="Picture 6" descr="Three popup panels: progress on part 2 of 4, a busy notice with a retry, and a finished summary with its stats line."/>
          <p:cNvPicPr>
            <a:picLocks noChangeAspect="1"/>
          </p:cNvPicPr>
          <p:nvPr/>
        </p:nvPicPr>
        <p:blipFill>
          <a:blip r:embed="rId2"/>
          <a:stretch>
            <a:fillRect/>
          </a:stretch>
        </p:blipFill>
        <p:spPr>
          <a:xfrm>
            <a:off x="685800" y="1600200"/>
            <a:ext cx="10820095" cy="3430761"/>
          </a:xfrm>
          <a:prstGeom prst="rect">
            <a:avLst/>
          </a:prstGeom>
        </p:spPr>
      </p:pic>
      <p:sp>
        <p:nvSpPr>
          <p:cNvPr id="8" name="TextBox 7"/>
          <p:cNvSpPr txBox="1"/>
          <p:nvPr/>
        </p:nvSpPr>
        <p:spPr>
          <a:xfrm>
            <a:off x="685800" y="5122401"/>
            <a:ext cx="10820095" cy="740664"/>
          </a:xfrm>
          <a:prstGeom prst="rect">
            <a:avLst/>
          </a:prstGeom>
          <a:noFill/>
        </p:spPr>
        <p:txBody>
          <a:bodyPr wrap="square" anchor="t" lIns="45720" rIns="45720" tIns="27432" bIns="27432">
            <a:spAutoFit/>
          </a:bodyPr>
          <a:lstStyle/>
          <a:p>
            <a:pPr algn="l"/>
            <a:r>
              <a:rPr sz="1600" b="0" i="1">
                <a:solidFill>
                  <a:srgbClr val="6B665C"/>
                </a:solidFill>
                <a:latin typeface="Segoe UI"/>
              </a:rPr>
              <a:t>Panels D to F. The summaries here come from a test service, so the sentences are test text, not Google's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The job is saved, so closing the popup is safe</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13</a:t>
            </a:r>
          </a:p>
        </p:txBody>
      </p:sp>
      <p:pic>
        <p:nvPicPr>
          <p:cNvPr id="7" name="Picture 6" descr="State diagram of one job: idle, then running through extracting, summarizing and merging, ending as done, as an error, or as interrupted after a stale period."/>
          <p:cNvPicPr>
            <a:picLocks noChangeAspect="1"/>
          </p:cNvPicPr>
          <p:nvPr/>
        </p:nvPicPr>
        <p:blipFill>
          <a:blip r:embed="rId2"/>
          <a:stretch>
            <a:fillRect/>
          </a:stretch>
        </p:blipFill>
        <p:spPr>
          <a:xfrm>
            <a:off x="685800" y="1600200"/>
            <a:ext cx="6492056" cy="3123981"/>
          </a:xfrm>
          <a:prstGeom prst="rect">
            <a:avLst/>
          </a:prstGeom>
        </p:spPr>
      </p:pic>
      <p:sp>
        <p:nvSpPr>
          <p:cNvPr id="8" name="TextBox 7"/>
          <p:cNvSpPr txBox="1"/>
          <p:nvPr/>
        </p:nvSpPr>
        <p:spPr>
          <a:xfrm>
            <a:off x="685800" y="4815621"/>
            <a:ext cx="6492057" cy="740664"/>
          </a:xfrm>
          <a:prstGeom prst="rect">
            <a:avLst/>
          </a:prstGeom>
          <a:noFill/>
        </p:spPr>
        <p:txBody>
          <a:bodyPr wrap="square" anchor="t" lIns="45720" rIns="45720" tIns="27432" bIns="27432">
            <a:spAutoFit/>
          </a:bodyPr>
          <a:lstStyle/>
          <a:p>
            <a:pPr algn="l"/>
            <a:r>
              <a:rPr sz="1600" b="0" i="1">
                <a:solidFill>
                  <a:srgbClr val="6B665C"/>
                </a:solidFill>
                <a:latin typeface="Segoe UI"/>
              </a:rPr>
              <a:t>The states of one job. An interrupted job can be started again.</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The service worker writes each step to a record for the tab.</a:t>
            </a:r>
          </a:p>
          <a:p>
            <a:pPr marL="320040" indent="-320040">
              <a:lnSpc>
                <a:spcPct val="105000"/>
              </a:lnSpc>
              <a:spcAft>
                <a:spcPts val="1200"/>
              </a:spcAft>
              <a:buClr>
                <a:srgbClr val="B4391F"/>
              </a:buClr>
              <a:buFont typeface="Arial"/>
              <a:buChar char="•"/>
            </a:pPr>
            <a:r>
              <a:rPr sz="2000">
                <a:solidFill>
                  <a:srgbClr val="1C1B1A"/>
                </a:solidFill>
                <a:latin typeface="Segoe UI"/>
              </a:rPr>
              <a:t>Closing the popup does not stop the summary. Reopening it shows the result.</a:t>
            </a:r>
          </a:p>
          <a:p>
            <a:pPr marL="320040" indent="-320040">
              <a:lnSpc>
                <a:spcPct val="105000"/>
              </a:lnSpc>
              <a:spcAft>
                <a:spcPts val="1200"/>
              </a:spcAft>
              <a:buClr>
                <a:srgbClr val="B4391F"/>
              </a:buClr>
              <a:buFont typeface="Arial"/>
              <a:buChar char="•"/>
            </a:pPr>
            <a:r>
              <a:rPr sz="2000">
                <a:solidFill>
                  <a:srgbClr val="1C1B1A"/>
                </a:solidFill>
                <a:latin typeface="Segoe UI"/>
              </a:rPr>
              <a:t>After 3 minutes with no update, the job is shown as interrupted.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Setting it up: two batch files and one manual step</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14</a:t>
            </a:r>
          </a:p>
        </p:txBody>
      </p:sp>
      <p:pic>
        <p:nvPicPr>
          <p:cNvPr id="7" name="Picture 6" descr="Deployment diagram: the web page, extractor, popup, service worker and storage run on the user's Windows computer, and the Gemini service runs on the internet."/>
          <p:cNvPicPr>
            <a:picLocks noChangeAspect="1"/>
          </p:cNvPicPr>
          <p:nvPr/>
        </p:nvPicPr>
        <p:blipFill>
          <a:blip r:embed="rId2"/>
          <a:stretch>
            <a:fillRect/>
          </a:stretch>
        </p:blipFill>
        <p:spPr>
          <a:xfrm>
            <a:off x="685800" y="1600200"/>
            <a:ext cx="6492056" cy="2698518"/>
          </a:xfrm>
          <a:prstGeom prst="rect">
            <a:avLst/>
          </a:prstGeom>
        </p:spPr>
      </p:pic>
      <p:sp>
        <p:nvSpPr>
          <p:cNvPr id="8" name="TextBox 7"/>
          <p:cNvSpPr txBox="1"/>
          <p:nvPr/>
        </p:nvSpPr>
        <p:spPr>
          <a:xfrm>
            <a:off x="685800" y="4390158"/>
            <a:ext cx="6492057" cy="740664"/>
          </a:xfrm>
          <a:prstGeom prst="rect">
            <a:avLst/>
          </a:prstGeom>
          <a:noFill/>
        </p:spPr>
        <p:txBody>
          <a:bodyPr wrap="square" anchor="t" lIns="45720" rIns="45720" tIns="27432" bIns="27432">
            <a:spAutoFit/>
          </a:bodyPr>
          <a:lstStyle/>
          <a:p>
            <a:pPr algn="l"/>
            <a:r>
              <a:rPr sz="1600" b="0" i="1">
                <a:solidFill>
                  <a:srgbClr val="6B665C"/>
                </a:solidFill>
                <a:latin typeface="Segoe UI"/>
              </a:rPr>
              <a:t>Where things run: on the computer, except the Gemini service.</a:t>
            </a:r>
          </a:p>
        </p:txBody>
      </p:sp>
      <p:cxnSp>
        <p:nvCxnSpPr>
          <p:cNvPr id="9" name="Connector 8"/>
          <p:cNvCxnSpPr/>
          <p:nvPr/>
        </p:nvCxnSpPr>
        <p:spPr>
          <a:xfrm>
            <a:off x="7315017" y="1600200"/>
            <a:ext cx="0" cy="4526280"/>
          </a:xfrm>
          <a:prstGeom prst="line">
            <a:avLst/>
          </a:prstGeom>
          <a:ln w="9525">
            <a:solidFill>
              <a:srgbClr val="D9D2C3"/>
            </a:solidFill>
          </a:ln>
        </p:spPr>
      </p:cxnSp>
      <p:sp>
        <p:nvSpPr>
          <p:cNvPr id="10" name="TextBox 9"/>
          <p:cNvSpPr txBox="1"/>
          <p:nvPr/>
        </p:nvSpPr>
        <p:spPr>
          <a:xfrm>
            <a:off x="7497897" y="1600200"/>
            <a:ext cx="4007998"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000">
                <a:solidFill>
                  <a:srgbClr val="1C1B1A"/>
                </a:solidFill>
                <a:latin typeface="Segoe UI"/>
              </a:rPr>
              <a:t>setup.bat checks Chrome 116 or newer and that the extension files are complete.</a:t>
            </a:r>
          </a:p>
          <a:p>
            <a:pPr marL="320040" indent="-320040">
              <a:lnSpc>
                <a:spcPct val="105000"/>
              </a:lnSpc>
              <a:spcAft>
                <a:spcPts val="1200"/>
              </a:spcAft>
              <a:buClr>
                <a:srgbClr val="B4391F"/>
              </a:buClr>
              <a:buFont typeface="Arial"/>
              <a:buChar char="•"/>
            </a:pPr>
            <a:r>
              <a:rPr sz="2000">
                <a:solidFill>
                  <a:srgbClr val="1C1B1A"/>
                </a:solidFill>
                <a:latin typeface="Segoe UI"/>
              </a:rPr>
              <a:t>run.bat opens the extensions page and copies the folder path.</a:t>
            </a:r>
          </a:p>
          <a:p>
            <a:pPr marL="320040" indent="-320040">
              <a:lnSpc>
                <a:spcPct val="105000"/>
              </a:lnSpc>
              <a:spcAft>
                <a:spcPts val="1200"/>
              </a:spcAft>
              <a:buClr>
                <a:srgbClr val="B4391F"/>
              </a:buClr>
              <a:buFont typeface="Arial"/>
              <a:buChar char="•"/>
            </a:pPr>
            <a:r>
              <a:rPr sz="2000">
                <a:solidFill>
                  <a:srgbClr val="1C1B1A"/>
                </a:solidFill>
                <a:latin typeface="Segoe UI"/>
              </a:rPr>
              <a:t>The user clicks Load unpacked and selects the folder by hand.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How it was tested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15</a:t>
            </a:r>
          </a:p>
        </p:txBody>
      </p:sp>
      <p:sp>
        <p:nvSpPr>
          <p:cNvPr id="7" name="Rectangle 6"/>
          <p:cNvSpPr/>
          <p:nvPr/>
        </p:nvSpPr>
        <p:spPr>
          <a:xfrm>
            <a:off x="685800"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65</a:t>
            </a:r>
          </a:p>
        </p:txBody>
      </p:sp>
      <p:sp>
        <p:nvSpPr>
          <p:cNvPr id="9" name="TextBox 8"/>
          <p:cNvSpPr txBox="1"/>
          <p:nvPr/>
        </p:nvSpPr>
        <p:spPr>
          <a:xfrm>
            <a:off x="685800"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unit tests, all passing</a:t>
            </a:r>
          </a:p>
        </p:txBody>
      </p:sp>
      <p:sp>
        <p:nvSpPr>
          <p:cNvPr id="10" name="Rectangle 9"/>
          <p:cNvSpPr/>
          <p:nvPr/>
        </p:nvSpPr>
        <p:spPr>
          <a:xfrm>
            <a:off x="3505123"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05123"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28</a:t>
            </a:r>
          </a:p>
        </p:txBody>
      </p:sp>
      <p:sp>
        <p:nvSpPr>
          <p:cNvPr id="12" name="TextBox 11"/>
          <p:cNvSpPr txBox="1"/>
          <p:nvPr/>
        </p:nvSpPr>
        <p:spPr>
          <a:xfrm>
            <a:off x="3505123"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browser scenarios, all passing</a:t>
            </a:r>
          </a:p>
        </p:txBody>
      </p:sp>
      <p:sp>
        <p:nvSpPr>
          <p:cNvPr id="13" name="Rectangle 12"/>
          <p:cNvSpPr/>
          <p:nvPr/>
        </p:nvSpPr>
        <p:spPr>
          <a:xfrm>
            <a:off x="6324446"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6"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10</a:t>
            </a:r>
          </a:p>
        </p:txBody>
      </p:sp>
      <p:sp>
        <p:nvSpPr>
          <p:cNvPr id="15" name="TextBox 14"/>
          <p:cNvSpPr txBox="1"/>
          <p:nvPr/>
        </p:nvSpPr>
        <p:spPr>
          <a:xfrm>
            <a:off x="6324446"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setup script checks, all passing</a:t>
            </a:r>
          </a:p>
        </p:txBody>
      </p:sp>
      <p:sp>
        <p:nvSpPr>
          <p:cNvPr id="16" name="Rectangle 15"/>
          <p:cNvSpPr/>
          <p:nvPr/>
        </p:nvSpPr>
        <p:spPr>
          <a:xfrm>
            <a:off x="9143769" y="1783080"/>
            <a:ext cx="54864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3769" y="1965960"/>
            <a:ext cx="2362123" cy="1188720"/>
          </a:xfrm>
          <a:prstGeom prst="rect">
            <a:avLst/>
          </a:prstGeom>
          <a:noFill/>
        </p:spPr>
        <p:txBody>
          <a:bodyPr wrap="square" anchor="t" lIns="45720" rIns="45720" tIns="27432" bIns="27432">
            <a:spAutoFit/>
          </a:bodyPr>
          <a:lstStyle/>
          <a:p>
            <a:pPr algn="l"/>
            <a:r>
              <a:rPr sz="6600" b="1" i="0">
                <a:solidFill>
                  <a:srgbClr val="1C1B1A"/>
                </a:solidFill>
                <a:latin typeface="Georgia"/>
              </a:rPr>
              <a:t>9</a:t>
            </a:r>
          </a:p>
        </p:txBody>
      </p:sp>
      <p:sp>
        <p:nvSpPr>
          <p:cNvPr id="18" name="TextBox 17"/>
          <p:cNvSpPr txBox="1"/>
          <p:nvPr/>
        </p:nvSpPr>
        <p:spPr>
          <a:xfrm>
            <a:off x="9143769" y="3246120"/>
            <a:ext cx="2270683" cy="822960"/>
          </a:xfrm>
          <a:prstGeom prst="rect">
            <a:avLst/>
          </a:prstGeom>
          <a:noFill/>
        </p:spPr>
        <p:txBody>
          <a:bodyPr wrap="square" anchor="t" lIns="45720" rIns="45720" tIns="27432" bIns="27432">
            <a:spAutoFit/>
          </a:bodyPr>
          <a:lstStyle/>
          <a:p>
            <a:pPr algn="l"/>
            <a:r>
              <a:rPr sz="1800" b="0" i="0">
                <a:solidFill>
                  <a:srgbClr val="1C1B1A"/>
                </a:solidFill>
                <a:latin typeface="Segoe UI"/>
              </a:rPr>
              <a:t>live runs: 7 summaries, 2 error checks</a:t>
            </a:r>
          </a:p>
        </p:txBody>
      </p:sp>
      <p:cxnSp>
        <p:nvCxnSpPr>
          <p:cNvPr id="19" name="Connector 18"/>
          <p:cNvCxnSpPr/>
          <p:nvPr/>
        </p:nvCxnSpPr>
        <p:spPr>
          <a:xfrm>
            <a:off x="685800" y="4251960"/>
            <a:ext cx="10820095" cy="0"/>
          </a:xfrm>
          <a:prstGeom prst="line">
            <a:avLst/>
          </a:prstGeom>
          <a:ln w="9525">
            <a:solidFill>
              <a:srgbClr val="D9D2C3"/>
            </a:solidFill>
          </a:ln>
        </p:spPr>
      </p:cxnSp>
      <p:sp>
        <p:nvSpPr>
          <p:cNvPr id="20" name="TextBox 19"/>
          <p:cNvSpPr txBox="1"/>
          <p:nvPr/>
        </p:nvSpPr>
        <p:spPr>
          <a:xfrm>
            <a:off x="685800" y="4434840"/>
            <a:ext cx="10820095" cy="914400"/>
          </a:xfrm>
          <a:prstGeom prst="rect">
            <a:avLst/>
          </a:prstGeom>
          <a:noFill/>
        </p:spPr>
        <p:txBody>
          <a:bodyPr wrap="square" anchor="t" lIns="45720" rIns="45720" tIns="27432" bIns="27432">
            <a:spAutoFit/>
          </a:bodyPr>
          <a:lstStyle/>
          <a:p>
            <a:pPr algn="l"/>
            <a:r>
              <a:rPr sz="1600" b="0" i="1">
                <a:solidFill>
                  <a:srgbClr val="6B665C"/>
                </a:solidFill>
                <a:latin typeface="Segoe UI"/>
              </a:rPr>
              <a:t>Counts from the run-3 record, the setup checks and the live-measurements file. Browser tests use a test service.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Live runs: seven pages summarized by the real service</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16</a:t>
            </a:r>
          </a:p>
        </p:txBody>
      </p:sp>
      <p:graphicFrame>
        <p:nvGraphicFramePr>
          <p:cNvPr id="7" name="Table 6"/>
          <p:cNvGraphicFramePr>
            <a:graphicFrameLocks noGrp="1"/>
          </p:cNvGraphicFramePr>
          <p:nvPr/>
        </p:nvGraphicFramePr>
        <p:xfrm>
          <a:off x="685800" y="1600200"/>
          <a:ext cx="10820093" cy="4069080"/>
        </p:xfrm>
        <a:graphic>
          <a:graphicData uri="http://schemas.openxmlformats.org/drawingml/2006/table">
            <a:tbl>
              <a:tblPr firstRow="1">
                <a:tableStyleId>{2D5ABB26-0587-4C30-8999-92F81FD0307C}</a:tableStyleId>
              </a:tblPr>
              <a:tblGrid>
                <a:gridCol w="1082009"/>
                <a:gridCol w="5508411"/>
                <a:gridCol w="1180374"/>
                <a:gridCol w="1475467"/>
                <a:gridCol w="1573832"/>
              </a:tblGrid>
              <a:tr h="508635">
                <a:tc>
                  <a:txBody>
                    <a:bodyPr/>
                    <a:lstStyle/>
                    <a:p>
                      <a:r>
                        <a:rPr sz="1600" b="1">
                          <a:solidFill>
                            <a:srgbClr val="1C1B1A"/>
                          </a:solidFill>
                          <a:latin typeface="Segoe UI"/>
                        </a:rPr>
                        <a:t>Case</a:t>
                      </a:r>
                    </a:p>
                  </a:txBody>
                  <a:tcPr anchor="ctr" marL="91440" marR="91440" marT="27432" marB="27432">
                    <a:lnB w="12700">
                      <a:solidFill>
                        <a:srgbClr val="1C1B1A"/>
                      </a:solidFill>
                    </a:lnB>
                    <a:noFill/>
                  </a:tcPr>
                </a:tc>
                <a:tc>
                  <a:txBody>
                    <a:bodyPr/>
                    <a:lstStyle/>
                    <a:p>
                      <a:r>
                        <a:rPr sz="1600" b="1">
                          <a:solidFill>
                            <a:srgbClr val="1C1B1A"/>
                          </a:solidFill>
                          <a:latin typeface="Segoe UI"/>
                        </a:rPr>
                        <a:t>Page</a:t>
                      </a:r>
                    </a:p>
                  </a:txBody>
                  <a:tcPr anchor="ctr" marL="91440" marR="91440" marT="27432" marB="27432">
                    <a:lnB w="12700">
                      <a:solidFill>
                        <a:srgbClr val="1C1B1A"/>
                      </a:solidFill>
                    </a:lnB>
                    <a:noFill/>
                  </a:tcPr>
                </a:tc>
                <a:tc>
                  <a:txBody>
                    <a:bodyPr/>
                    <a:lstStyle/>
                    <a:p>
                      <a:r>
                        <a:rPr sz="1600" b="1">
                          <a:solidFill>
                            <a:srgbClr val="1C1B1A"/>
                          </a:solidFill>
                          <a:latin typeface="Segoe UI"/>
                        </a:rPr>
                        <a:t>Parts</a:t>
                      </a:r>
                    </a:p>
                  </a:txBody>
                  <a:tcPr anchor="ctr" marL="91440" marR="91440" marT="27432" marB="27432">
                    <a:lnB w="12700">
                      <a:solidFill>
                        <a:srgbClr val="1C1B1A"/>
                      </a:solidFill>
                    </a:lnB>
                    <a:noFill/>
                  </a:tcPr>
                </a:tc>
                <a:tc>
                  <a:txBody>
                    <a:bodyPr/>
                    <a:lstStyle/>
                    <a:p>
                      <a:r>
                        <a:rPr sz="1600" b="1">
                          <a:solidFill>
                            <a:srgbClr val="1C1B1A"/>
                          </a:solidFill>
                          <a:latin typeface="Segoe UI"/>
                        </a:rPr>
                        <a:t>Requests</a:t>
                      </a:r>
                    </a:p>
                  </a:txBody>
                  <a:tcPr anchor="ctr" marL="91440" marR="91440" marT="27432" marB="27432">
                    <a:lnB w="12700">
                      <a:solidFill>
                        <a:srgbClr val="1C1B1A"/>
                      </a:solidFill>
                    </a:lnB>
                    <a:noFill/>
                  </a:tcPr>
                </a:tc>
                <a:tc>
                  <a:txBody>
                    <a:bodyPr/>
                    <a:lstStyle/>
                    <a:p>
                      <a:r>
                        <a:rPr sz="1600" b="1">
                          <a:solidFill>
                            <a:srgbClr val="1C1B1A"/>
                          </a:solidFill>
                          <a:latin typeface="Segoe UI"/>
                        </a:rPr>
                        <a:t>Time (s)</a:t>
                      </a:r>
                    </a:p>
                  </a:txBody>
                  <a:tcPr anchor="ctr" marL="91440" marR="91440" marT="27432" marB="27432">
                    <a:lnB w="12700">
                      <a:solidFill>
                        <a:srgbClr val="1C1B1A"/>
                      </a:solidFill>
                    </a:lnB>
                    <a:noFill/>
                  </a:tcPr>
                </a:tc>
              </a:tr>
              <a:tr h="508635">
                <a:tc>
                  <a:txBody>
                    <a:bodyPr/>
                    <a:lstStyle/>
                    <a:p>
                      <a:r>
                        <a:rPr sz="1600" b="0">
                          <a:solidFill>
                            <a:srgbClr val="1C1B1A"/>
                          </a:solidFill>
                          <a:latin typeface="Segoe UI"/>
                        </a:rPr>
                        <a:t>L01</a:t>
                      </a:r>
                    </a:p>
                  </a:txBody>
                  <a:tcPr anchor="ctr" marL="91440" marR="91440" marT="27432" marB="27432">
                    <a:lnB w="9525">
                      <a:solidFill>
                        <a:srgbClr val="D9D2C3"/>
                      </a:solidFill>
                    </a:lnB>
                    <a:noFill/>
                  </a:tcPr>
                </a:tc>
                <a:tc>
                  <a:txBody>
                    <a:bodyPr/>
                    <a:lstStyle/>
                    <a:p>
                      <a:r>
                        <a:rPr sz="1600" b="0">
                          <a:solidFill>
                            <a:srgbClr val="1C1B1A"/>
                          </a:solidFill>
                          <a:latin typeface="Segoe UI"/>
                        </a:rPr>
                        <a:t>Short article (fixture)</a:t>
                      </a:r>
                    </a:p>
                  </a:txBody>
                  <a:tcPr anchor="ctr" marL="91440" marR="91440" marT="27432" marB="27432">
                    <a:lnB w="9525">
                      <a:solidFill>
                        <a:srgbClr val="D9D2C3"/>
                      </a:solidFill>
                    </a:lnB>
                    <a:noFill/>
                  </a:tcPr>
                </a:tc>
                <a:tc>
                  <a:txBody>
                    <a:bodyPr/>
                    <a:lstStyle/>
                    <a:p>
                      <a:r>
                        <a:rPr sz="1600" b="0">
                          <a:solidFill>
                            <a:srgbClr val="1C1B1A"/>
                          </a:solidFill>
                          <a:latin typeface="Segoe UI"/>
                        </a:rPr>
                        <a:t>1</a:t>
                      </a:r>
                    </a:p>
                  </a:txBody>
                  <a:tcPr anchor="ctr" marL="91440" marR="91440" marT="27432" marB="27432">
                    <a:lnB w="9525">
                      <a:solidFill>
                        <a:srgbClr val="D9D2C3"/>
                      </a:solidFill>
                    </a:lnB>
                    <a:noFill/>
                  </a:tcPr>
                </a:tc>
                <a:tc>
                  <a:txBody>
                    <a:bodyPr/>
                    <a:lstStyle/>
                    <a:p>
                      <a:r>
                        <a:rPr sz="1600" b="0">
                          <a:solidFill>
                            <a:srgbClr val="1C1B1A"/>
                          </a:solidFill>
                          <a:latin typeface="Segoe UI"/>
                        </a:rPr>
                        <a:t>1</a:t>
                      </a:r>
                    </a:p>
                  </a:txBody>
                  <a:tcPr anchor="ctr" marL="91440" marR="91440" marT="27432" marB="27432">
                    <a:lnB w="9525">
                      <a:solidFill>
                        <a:srgbClr val="D9D2C3"/>
                      </a:solidFill>
                    </a:lnB>
                    <a:noFill/>
                  </a:tcPr>
                </a:tc>
                <a:tc>
                  <a:txBody>
                    <a:bodyPr/>
                    <a:lstStyle/>
                    <a:p>
                      <a:r>
                        <a:rPr sz="1600" b="0">
                          <a:solidFill>
                            <a:srgbClr val="1C1B1A"/>
                          </a:solidFill>
                          <a:latin typeface="Segoe UI"/>
                        </a:rPr>
                        <a:t>1.7</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L02</a:t>
                      </a:r>
                    </a:p>
                  </a:txBody>
                  <a:tcPr anchor="ctr" marL="91440" marR="91440" marT="27432" marB="27432">
                    <a:lnB w="9525">
                      <a:solidFill>
                        <a:srgbClr val="D9D2C3"/>
                      </a:solidFill>
                    </a:lnB>
                    <a:noFill/>
                  </a:tcPr>
                </a:tc>
                <a:tc>
                  <a:txBody>
                    <a:bodyPr/>
                    <a:lstStyle/>
                    <a:p>
                      <a:r>
                        <a:rPr sz="1600" b="0">
                          <a:solidFill>
                            <a:srgbClr val="1C1B1A"/>
                          </a:solidFill>
                          <a:latin typeface="Segoe UI"/>
                        </a:rPr>
                        <a:t>Long article (fixture)</a:t>
                      </a:r>
                    </a:p>
                  </a:txBody>
                  <a:tcPr anchor="ctr" marL="91440" marR="91440" marT="27432" marB="27432">
                    <a:lnB w="9525">
                      <a:solidFill>
                        <a:srgbClr val="D9D2C3"/>
                      </a:solidFill>
                    </a:lnB>
                    <a:noFill/>
                  </a:tcPr>
                </a:tc>
                <a:tc>
                  <a:txBody>
                    <a:bodyPr/>
                    <a:lstStyle/>
                    <a:p>
                      <a:r>
                        <a:rPr sz="1600" b="0">
                          <a:solidFill>
                            <a:srgbClr val="1C1B1A"/>
                          </a:solidFill>
                          <a:latin typeface="Segoe UI"/>
                        </a:rPr>
                        <a:t>2</a:t>
                      </a:r>
                    </a:p>
                  </a:txBody>
                  <a:tcPr anchor="ctr" marL="91440" marR="91440" marT="27432" marB="27432">
                    <a:lnB w="9525">
                      <a:solidFill>
                        <a:srgbClr val="D9D2C3"/>
                      </a:solidFill>
                    </a:lnB>
                    <a:noFill/>
                  </a:tcPr>
                </a:tc>
                <a:tc>
                  <a:txBody>
                    <a:bodyPr/>
                    <a:lstStyle/>
                    <a:p>
                      <a:r>
                        <a:rPr sz="1600" b="0">
                          <a:solidFill>
                            <a:srgbClr val="1C1B1A"/>
                          </a:solidFill>
                          <a:latin typeface="Segoe UI"/>
                        </a:rPr>
                        <a:t>3</a:t>
                      </a:r>
                    </a:p>
                  </a:txBody>
                  <a:tcPr anchor="ctr" marL="91440" marR="91440" marT="27432" marB="27432">
                    <a:lnB w="9525">
                      <a:solidFill>
                        <a:srgbClr val="D9D2C3"/>
                      </a:solidFill>
                    </a:lnB>
                    <a:noFill/>
                  </a:tcPr>
                </a:tc>
                <a:tc>
                  <a:txBody>
                    <a:bodyPr/>
                    <a:lstStyle/>
                    <a:p>
                      <a:r>
                        <a:rPr sz="1600" b="0">
                          <a:solidFill>
                            <a:srgbClr val="1C1B1A"/>
                          </a:solidFill>
                          <a:latin typeface="Segoe UI"/>
                        </a:rPr>
                        <a:t>5.9</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L03</a:t>
                      </a:r>
                    </a:p>
                  </a:txBody>
                  <a:tcPr anchor="ctr" marL="91440" marR="91440" marT="27432" marB="27432">
                    <a:lnB w="9525">
                      <a:solidFill>
                        <a:srgbClr val="D9D2C3"/>
                      </a:solidFill>
                    </a:lnB>
                    <a:noFill/>
                  </a:tcPr>
                </a:tc>
                <a:tc>
                  <a:txBody>
                    <a:bodyPr/>
                    <a:lstStyle/>
                    <a:p>
                      <a:r>
                        <a:rPr sz="1600" b="0">
                          <a:solidFill>
                            <a:srgbClr val="1C1B1A"/>
                          </a:solidFill>
                          <a:latin typeface="Segoe UI"/>
                        </a:rPr>
                        <a:t>Same article, 3,000-character parts</a:t>
                      </a:r>
                    </a:p>
                  </a:txBody>
                  <a:tcPr anchor="ctr" marL="91440" marR="91440" marT="27432" marB="27432">
                    <a:lnB w="9525">
                      <a:solidFill>
                        <a:srgbClr val="D9D2C3"/>
                      </a:solidFill>
                    </a:lnB>
                    <a:noFill/>
                  </a:tcPr>
                </a:tc>
                <a:tc>
                  <a:txBody>
                    <a:bodyPr/>
                    <a:lstStyle/>
                    <a:p>
                      <a:r>
                        <a:rPr sz="1600" b="0">
                          <a:solidFill>
                            <a:srgbClr val="1C1B1A"/>
                          </a:solidFill>
                          <a:latin typeface="Segoe UI"/>
                        </a:rPr>
                        <a:t>4</a:t>
                      </a:r>
                    </a:p>
                  </a:txBody>
                  <a:tcPr anchor="ctr" marL="91440" marR="91440" marT="27432" marB="27432">
                    <a:lnB w="9525">
                      <a:solidFill>
                        <a:srgbClr val="D9D2C3"/>
                      </a:solidFill>
                    </a:lnB>
                    <a:noFill/>
                  </a:tcPr>
                </a:tc>
                <a:tc>
                  <a:txBody>
                    <a:bodyPr/>
                    <a:lstStyle/>
                    <a:p>
                      <a:r>
                        <a:rPr sz="1600" b="0">
                          <a:solidFill>
                            <a:srgbClr val="1C1B1A"/>
                          </a:solidFill>
                          <a:latin typeface="Segoe UI"/>
                        </a:rPr>
                        <a:t>5</a:t>
                      </a:r>
                    </a:p>
                  </a:txBody>
                  <a:tcPr anchor="ctr" marL="91440" marR="91440" marT="27432" marB="27432">
                    <a:lnB w="9525">
                      <a:solidFill>
                        <a:srgbClr val="D9D2C3"/>
                      </a:solidFill>
                    </a:lnB>
                    <a:noFill/>
                  </a:tcPr>
                </a:tc>
                <a:tc>
                  <a:txBody>
                    <a:bodyPr/>
                    <a:lstStyle/>
                    <a:p>
                      <a:r>
                        <a:rPr sz="1600" b="0">
                          <a:solidFill>
                            <a:srgbClr val="1C1B1A"/>
                          </a:solidFill>
                          <a:latin typeface="Segoe UI"/>
                        </a:rPr>
                        <a:t>7.2</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L04</a:t>
                      </a:r>
                    </a:p>
                  </a:txBody>
                  <a:tcPr anchor="ctr" marL="91440" marR="91440" marT="27432" marB="27432">
                    <a:lnB w="9525">
                      <a:solidFill>
                        <a:srgbClr val="D9D2C3"/>
                      </a:solidFill>
                    </a:lnB>
                    <a:noFill/>
                  </a:tcPr>
                </a:tc>
                <a:tc>
                  <a:txBody>
                    <a:bodyPr/>
                    <a:lstStyle/>
                    <a:p>
                      <a:r>
                        <a:rPr sz="1600" b="0">
                          <a:solidFill>
                            <a:srgbClr val="1C1B1A"/>
                          </a:solidFill>
                          <a:latin typeface="Segoe UI"/>
                        </a:rPr>
                        <a:t>Wikipedia: Lighthouse article</a:t>
                      </a:r>
                    </a:p>
                  </a:txBody>
                  <a:tcPr anchor="ctr" marL="91440" marR="91440" marT="27432" marB="27432">
                    <a:lnB w="9525">
                      <a:solidFill>
                        <a:srgbClr val="D9D2C3"/>
                      </a:solidFill>
                    </a:lnB>
                    <a:noFill/>
                  </a:tcPr>
                </a:tc>
                <a:tc>
                  <a:txBody>
                    <a:bodyPr/>
                    <a:lstStyle/>
                    <a:p>
                      <a:r>
                        <a:rPr sz="1600" b="0">
                          <a:solidFill>
                            <a:srgbClr val="1C1B1A"/>
                          </a:solidFill>
                          <a:latin typeface="Segoe UI"/>
                        </a:rPr>
                        <a:t>5</a:t>
                      </a:r>
                    </a:p>
                  </a:txBody>
                  <a:tcPr anchor="ctr" marL="91440" marR="91440" marT="27432" marB="27432">
                    <a:lnB w="9525">
                      <a:solidFill>
                        <a:srgbClr val="D9D2C3"/>
                      </a:solidFill>
                    </a:lnB>
                    <a:noFill/>
                  </a:tcPr>
                </a:tc>
                <a:tc>
                  <a:txBody>
                    <a:bodyPr/>
                    <a:lstStyle/>
                    <a:p>
                      <a:r>
                        <a:rPr sz="1600" b="0">
                          <a:solidFill>
                            <a:srgbClr val="1C1B1A"/>
                          </a:solidFill>
                          <a:latin typeface="Segoe UI"/>
                        </a:rPr>
                        <a:t>6</a:t>
                      </a:r>
                    </a:p>
                  </a:txBody>
                  <a:tcPr anchor="ctr" marL="91440" marR="91440" marT="27432" marB="27432">
                    <a:lnB w="9525">
                      <a:solidFill>
                        <a:srgbClr val="D9D2C3"/>
                      </a:solidFill>
                    </a:lnB>
                    <a:noFill/>
                  </a:tcPr>
                </a:tc>
                <a:tc>
                  <a:txBody>
                    <a:bodyPr/>
                    <a:lstStyle/>
                    <a:p>
                      <a:r>
                        <a:rPr sz="1600" b="0">
                          <a:solidFill>
                            <a:srgbClr val="1C1B1A"/>
                          </a:solidFill>
                          <a:latin typeface="Segoe UI"/>
                        </a:rPr>
                        <a:t>17.8</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L05</a:t>
                      </a:r>
                    </a:p>
                  </a:txBody>
                  <a:tcPr anchor="ctr" marL="91440" marR="91440" marT="27432" marB="27432">
                    <a:lnB w="9525">
                      <a:solidFill>
                        <a:srgbClr val="D9D2C3"/>
                      </a:solidFill>
                    </a:lnB>
                    <a:noFill/>
                  </a:tcPr>
                </a:tc>
                <a:tc>
                  <a:txBody>
                    <a:bodyPr/>
                    <a:lstStyle/>
                    <a:p>
                      <a:r>
                        <a:rPr sz="1600" b="0">
                          <a:solidFill>
                            <a:srgbClr val="1C1B1A"/>
                          </a:solidFill>
                          <a:latin typeface="Segoe UI"/>
                        </a:rPr>
                        <a:t>Wikipedia: Fresnel lens article</a:t>
                      </a:r>
                    </a:p>
                  </a:txBody>
                  <a:tcPr anchor="ctr" marL="91440" marR="91440" marT="27432" marB="27432">
                    <a:lnB w="9525">
                      <a:solidFill>
                        <a:srgbClr val="D9D2C3"/>
                      </a:solidFill>
                    </a:lnB>
                    <a:noFill/>
                  </a:tcPr>
                </a:tc>
                <a:tc>
                  <a:txBody>
                    <a:bodyPr/>
                    <a:lstStyle/>
                    <a:p>
                      <a:r>
                        <a:rPr sz="1600" b="0">
                          <a:solidFill>
                            <a:srgbClr val="1C1B1A"/>
                          </a:solidFill>
                          <a:latin typeface="Segoe UI"/>
                        </a:rPr>
                        <a:t>7</a:t>
                      </a:r>
                    </a:p>
                  </a:txBody>
                  <a:tcPr anchor="ctr" marL="91440" marR="91440" marT="27432" marB="27432">
                    <a:lnB w="9525">
                      <a:solidFill>
                        <a:srgbClr val="D9D2C3"/>
                      </a:solidFill>
                    </a:lnB>
                    <a:noFill/>
                  </a:tcPr>
                </a:tc>
                <a:tc>
                  <a:txBody>
                    <a:bodyPr/>
                    <a:lstStyle/>
                    <a:p>
                      <a:r>
                        <a:rPr sz="1600" b="0">
                          <a:solidFill>
                            <a:srgbClr val="1C1B1A"/>
                          </a:solidFill>
                          <a:latin typeface="Segoe UI"/>
                        </a:rPr>
                        <a:t>8</a:t>
                      </a:r>
                    </a:p>
                  </a:txBody>
                  <a:tcPr anchor="ctr" marL="91440" marR="91440" marT="27432" marB="27432">
                    <a:lnB w="9525">
                      <a:solidFill>
                        <a:srgbClr val="D9D2C3"/>
                      </a:solidFill>
                    </a:lnB>
                    <a:noFill/>
                  </a:tcPr>
                </a:tc>
                <a:tc>
                  <a:txBody>
                    <a:bodyPr/>
                    <a:lstStyle/>
                    <a:p>
                      <a:r>
                        <a:rPr sz="1600" b="0">
                          <a:solidFill>
                            <a:srgbClr val="1C1B1A"/>
                          </a:solidFill>
                          <a:latin typeface="Segoe UI"/>
                        </a:rPr>
                        <a:t>23.0</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L06</a:t>
                      </a:r>
                    </a:p>
                  </a:txBody>
                  <a:tcPr anchor="ctr" marL="91440" marR="91440" marT="27432" marB="27432">
                    <a:lnB w="9525">
                      <a:solidFill>
                        <a:srgbClr val="D9D2C3"/>
                      </a:solidFill>
                    </a:lnB>
                    <a:noFill/>
                  </a:tcPr>
                </a:tc>
                <a:tc>
                  <a:txBody>
                    <a:bodyPr/>
                    <a:lstStyle/>
                    <a:p>
                      <a:r>
                        <a:rPr sz="1600" b="0">
                          <a:solidFill>
                            <a:srgbClr val="1C1B1A"/>
                          </a:solidFill>
                          <a:latin typeface="Segoe UI"/>
                        </a:rPr>
                        <a:t>Chrome docs: Manifest V3</a:t>
                      </a:r>
                    </a:p>
                  </a:txBody>
                  <a:tcPr anchor="ctr" marL="91440" marR="91440" marT="27432" marB="27432">
                    <a:lnB w="9525">
                      <a:solidFill>
                        <a:srgbClr val="D9D2C3"/>
                      </a:solidFill>
                    </a:lnB>
                    <a:noFill/>
                  </a:tcPr>
                </a:tc>
                <a:tc>
                  <a:txBody>
                    <a:bodyPr/>
                    <a:lstStyle/>
                    <a:p>
                      <a:r>
                        <a:rPr sz="1600" b="0">
                          <a:solidFill>
                            <a:srgbClr val="1C1B1A"/>
                          </a:solidFill>
                          <a:latin typeface="Segoe UI"/>
                        </a:rPr>
                        <a:t>1</a:t>
                      </a:r>
                    </a:p>
                  </a:txBody>
                  <a:tcPr anchor="ctr" marL="91440" marR="91440" marT="27432" marB="27432">
                    <a:lnB w="9525">
                      <a:solidFill>
                        <a:srgbClr val="D9D2C3"/>
                      </a:solidFill>
                    </a:lnB>
                    <a:noFill/>
                  </a:tcPr>
                </a:tc>
                <a:tc>
                  <a:txBody>
                    <a:bodyPr/>
                    <a:lstStyle/>
                    <a:p>
                      <a:r>
                        <a:rPr sz="1600" b="0">
                          <a:solidFill>
                            <a:srgbClr val="1C1B1A"/>
                          </a:solidFill>
                          <a:latin typeface="Segoe UI"/>
                        </a:rPr>
                        <a:t>1</a:t>
                      </a:r>
                    </a:p>
                  </a:txBody>
                  <a:tcPr anchor="ctr" marL="91440" marR="91440" marT="27432" marB="27432">
                    <a:lnB w="9525">
                      <a:solidFill>
                        <a:srgbClr val="D9D2C3"/>
                      </a:solidFill>
                    </a:lnB>
                    <a:noFill/>
                  </a:tcPr>
                </a:tc>
                <a:tc>
                  <a:txBody>
                    <a:bodyPr/>
                    <a:lstStyle/>
                    <a:p>
                      <a:r>
                        <a:rPr sz="1600" b="0">
                          <a:solidFill>
                            <a:srgbClr val="1C1B1A"/>
                          </a:solidFill>
                          <a:latin typeface="Segoe UI"/>
                        </a:rPr>
                        <a:t>1.9</a:t>
                      </a:r>
                    </a:p>
                  </a:txBody>
                  <a:tcPr anchor="ctr" marL="91440" marR="91440" marT="27432" marB="27432">
                    <a:lnB w="9525">
                      <a:solidFill>
                        <a:srgbClr val="D9D2C3"/>
                      </a:solidFill>
                    </a:lnB>
                    <a:noFill/>
                  </a:tcPr>
                </a:tc>
              </a:tr>
              <a:tr h="508635">
                <a:tc>
                  <a:txBody>
                    <a:bodyPr/>
                    <a:lstStyle/>
                    <a:p>
                      <a:r>
                        <a:rPr sz="1600" b="0">
                          <a:solidFill>
                            <a:srgbClr val="1C1B1A"/>
                          </a:solidFill>
                          <a:latin typeface="Segoe UI"/>
                        </a:rPr>
                        <a:t>L07</a:t>
                      </a:r>
                    </a:p>
                  </a:txBody>
                  <a:tcPr anchor="ctr" marL="91440" marR="91440" marT="27432" marB="27432">
                    <a:lnB w="9525">
                      <a:solidFill>
                        <a:srgbClr val="D9D2C3"/>
                      </a:solidFill>
                    </a:lnB>
                    <a:noFill/>
                  </a:tcPr>
                </a:tc>
                <a:tc>
                  <a:txBody>
                    <a:bodyPr/>
                    <a:lstStyle/>
                    <a:p>
                      <a:r>
                        <a:rPr sz="1600" b="0">
                          <a:solidFill>
                            <a:srgbClr val="1C1B1A"/>
                          </a:solidFill>
                          <a:latin typeface="Segoe UI"/>
                        </a:rPr>
                        <a:t>MDN: WebGPU API</a:t>
                      </a:r>
                    </a:p>
                  </a:txBody>
                  <a:tcPr anchor="ctr" marL="91440" marR="91440" marT="27432" marB="27432">
                    <a:lnB w="9525">
                      <a:solidFill>
                        <a:srgbClr val="D9D2C3"/>
                      </a:solidFill>
                    </a:lnB>
                    <a:noFill/>
                  </a:tcPr>
                </a:tc>
                <a:tc>
                  <a:txBody>
                    <a:bodyPr/>
                    <a:lstStyle/>
                    <a:p>
                      <a:r>
                        <a:rPr sz="1600" b="0">
                          <a:solidFill>
                            <a:srgbClr val="1C1B1A"/>
                          </a:solidFill>
                          <a:latin typeface="Segoe UI"/>
                        </a:rPr>
                        <a:t>4</a:t>
                      </a:r>
                    </a:p>
                  </a:txBody>
                  <a:tcPr anchor="ctr" marL="91440" marR="91440" marT="27432" marB="27432">
                    <a:lnB w="9525">
                      <a:solidFill>
                        <a:srgbClr val="D9D2C3"/>
                      </a:solidFill>
                    </a:lnB>
                    <a:noFill/>
                  </a:tcPr>
                </a:tc>
                <a:tc>
                  <a:txBody>
                    <a:bodyPr/>
                    <a:lstStyle/>
                    <a:p>
                      <a:r>
                        <a:rPr sz="1600" b="0">
                          <a:solidFill>
                            <a:srgbClr val="1C1B1A"/>
                          </a:solidFill>
                          <a:latin typeface="Segoe UI"/>
                        </a:rPr>
                        <a:t>5</a:t>
                      </a:r>
                    </a:p>
                  </a:txBody>
                  <a:tcPr anchor="ctr" marL="91440" marR="91440" marT="27432" marB="27432">
                    <a:lnB w="9525">
                      <a:solidFill>
                        <a:srgbClr val="D9D2C3"/>
                      </a:solidFill>
                    </a:lnB>
                    <a:noFill/>
                  </a:tcPr>
                </a:tc>
                <a:tc>
                  <a:txBody>
                    <a:bodyPr/>
                    <a:lstStyle/>
                    <a:p>
                      <a:r>
                        <a:rPr sz="1600" b="0">
                          <a:solidFill>
                            <a:srgbClr val="1C1B1A"/>
                          </a:solidFill>
                          <a:latin typeface="Segoe UI"/>
                        </a:rPr>
                        <a:t>7.5</a:t>
                      </a:r>
                    </a:p>
                  </a:txBody>
                  <a:tcPr anchor="ctr" marL="91440" marR="91440" marT="27432" marB="27432">
                    <a:lnB w="9525">
                      <a:solidFill>
                        <a:srgbClr val="D9D2C3"/>
                      </a:solidFill>
                    </a:lnB>
                    <a:noFill/>
                  </a:tcPr>
                </a:tc>
              </a:tr>
            </a:tbl>
          </a:graphicData>
        </a:graphic>
      </p:graphicFrame>
      <p:sp>
        <p:nvSpPr>
          <p:cNvPr id="8" name="TextBox 7"/>
          <p:cNvSpPr txBox="1"/>
          <p:nvPr/>
        </p:nvSpPr>
        <p:spPr>
          <a:xfrm>
            <a:off x="685800" y="5806440"/>
            <a:ext cx="10820095" cy="640080"/>
          </a:xfrm>
          <a:prstGeom prst="rect">
            <a:avLst/>
          </a:prstGeom>
          <a:noFill/>
        </p:spPr>
        <p:txBody>
          <a:bodyPr wrap="square" anchor="t" lIns="45720" rIns="45720" tIns="27432" bIns="27432">
            <a:spAutoFit/>
          </a:bodyPr>
          <a:lstStyle/>
          <a:p>
            <a:pPr algn="l"/>
            <a:r>
              <a:rPr sz="1600" b="0" i="1">
                <a:solidFill>
                  <a:srgbClr val="6B665C"/>
                </a:solidFill>
                <a:latin typeface="Segoe UI"/>
              </a:rPr>
              <a:t>L08 (a very long article, limit set to 10 parts) was refused in 0.6 s. L09 (wrong key) was rejected in 0.5 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Problems met and how they were fixed</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17</a:t>
            </a:r>
          </a:p>
        </p:txBody>
      </p:sp>
      <p:graphicFrame>
        <p:nvGraphicFramePr>
          <p:cNvPr id="7" name="Table 6"/>
          <p:cNvGraphicFramePr>
            <a:graphicFrameLocks noGrp="1"/>
          </p:cNvGraphicFramePr>
          <p:nvPr/>
        </p:nvGraphicFramePr>
        <p:xfrm>
          <a:off x="685800" y="1600200"/>
          <a:ext cx="10820094" cy="2834640"/>
        </p:xfrm>
        <a:graphic>
          <a:graphicData uri="http://schemas.openxmlformats.org/drawingml/2006/table">
            <a:tbl>
              <a:tblPr firstRow="1">
                <a:tableStyleId>{2D5ABB26-0587-4C30-8999-92F81FD0307C}</a:tableStyleId>
              </a:tblPr>
              <a:tblGrid>
                <a:gridCol w="3484437"/>
                <a:gridCol w="7335657"/>
              </a:tblGrid>
              <a:tr h="566928">
                <a:tc>
                  <a:txBody>
                    <a:bodyPr/>
                    <a:lstStyle/>
                    <a:p>
                      <a:r>
                        <a:rPr sz="1600" b="1">
                          <a:solidFill>
                            <a:srgbClr val="1C1B1A"/>
                          </a:solidFill>
                          <a:latin typeface="Segoe UI"/>
                        </a:rPr>
                        <a:t>Problem</a:t>
                      </a:r>
                    </a:p>
                  </a:txBody>
                  <a:tcPr anchor="ctr" marL="91440" marR="91440" marT="27432" marB="27432">
                    <a:lnB w="12700">
                      <a:solidFill>
                        <a:srgbClr val="1C1B1A"/>
                      </a:solidFill>
                    </a:lnB>
                    <a:noFill/>
                  </a:tcPr>
                </a:tc>
                <a:tc>
                  <a:txBody>
                    <a:bodyPr/>
                    <a:lstStyle/>
                    <a:p>
                      <a:r>
                        <a:rPr sz="1600" b="1">
                          <a:solidFill>
                            <a:srgbClr val="1C1B1A"/>
                          </a:solidFill>
                          <a:latin typeface="Segoe UI"/>
                        </a:rPr>
                        <a:t>What we did</a:t>
                      </a:r>
                    </a:p>
                  </a:txBody>
                  <a:tcPr anchor="ctr" marL="91440" marR="91440" marT="27432" marB="27432">
                    <a:lnB w="12700">
                      <a:solidFill>
                        <a:srgbClr val="1C1B1A"/>
                      </a:solidFill>
                    </a:lnB>
                    <a:noFill/>
                  </a:tcPr>
                </a:tc>
              </a:tr>
              <a:tr h="566928">
                <a:tc>
                  <a:txBody>
                    <a:bodyPr/>
                    <a:lstStyle/>
                    <a:p>
                      <a:r>
                        <a:rPr sz="1600" b="0">
                          <a:solidFill>
                            <a:srgbClr val="1C1B1A"/>
                          </a:solidFill>
                          <a:latin typeface="Segoe UI"/>
                        </a:rPr>
                        <a:t>Chrome 137 and later dropped the flag that loads an extension</a:t>
                      </a:r>
                    </a:p>
                  </a:txBody>
                  <a:tcPr anchor="ctr" marL="91440" marR="91440" marT="27432" marB="27432">
                    <a:lnB w="9525">
                      <a:solidFill>
                        <a:srgbClr val="D9D2C3"/>
                      </a:solidFill>
                    </a:lnB>
                    <a:noFill/>
                  </a:tcPr>
                </a:tc>
                <a:tc>
                  <a:txBody>
                    <a:bodyPr/>
                    <a:lstStyle/>
                    <a:p>
                      <a:r>
                        <a:rPr sz="1600" b="0">
                          <a:solidFill>
                            <a:srgbClr val="1C1B1A"/>
                          </a:solidFill>
                          <a:latin typeface="Segoe UI"/>
                        </a:rPr>
                        <a:t>run.bat now opens the extensions page and prints the Load unpacked steps. Automated tests run on Playwright's Chromium.</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The first model took 11 to 13 seconds per request</a:t>
                      </a:r>
                    </a:p>
                  </a:txBody>
                  <a:tcPr anchor="ctr" marL="91440" marR="91440" marT="27432" marB="27432">
                    <a:lnB w="9525">
                      <a:solidFill>
                        <a:srgbClr val="D9D2C3"/>
                      </a:solidFill>
                    </a:lnB>
                    <a:noFill/>
                  </a:tcPr>
                </a:tc>
                <a:tc>
                  <a:txBody>
                    <a:bodyPr/>
                    <a:lstStyle/>
                    <a:p>
                      <a:r>
                        <a:rPr sz="1600" b="0">
                          <a:solidFill>
                            <a:srgbClr val="1C1B1A"/>
                          </a:solidFill>
                          <a:latin typeface="Segoe UI"/>
                        </a:rPr>
                        <a:t>That was close to the 25-second limit. A faster model, gemini-3.5-flash-lite, took 1.6 to 2.0 seconds in the benchmark.</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Table cells ran together, and the summary still looked normal</a:t>
                      </a:r>
                    </a:p>
                  </a:txBody>
                  <a:tcPr anchor="ctr" marL="91440" marR="91440" marT="27432" marB="27432">
                    <a:lnB w="9525">
                      <a:solidFill>
                        <a:srgbClr val="D9D2C3"/>
                      </a:solidFill>
                    </a:lnB>
                    <a:noFill/>
                  </a:tcPr>
                </a:tc>
                <a:tc>
                  <a:txBody>
                    <a:bodyPr/>
                    <a:lstStyle/>
                    <a:p>
                      <a:r>
                        <a:rPr sz="1600" b="0">
                          <a:solidFill>
                            <a:srgbClr val="1C1B1A"/>
                          </a:solidFill>
                          <a:latin typeface="Segoe UI"/>
                        </a:rPr>
                        <a:t>The model read fused numbers such as Q14.5M12%. Cells are now separated by a vertical bar, and a browser test checks it.</a:t>
                      </a:r>
                    </a:p>
                  </a:txBody>
                  <a:tcPr anchor="ctr" marL="91440" marR="91440" marT="27432" marB="27432">
                    <a:lnB w="9525">
                      <a:solidFill>
                        <a:srgbClr val="D9D2C3"/>
                      </a:solidFill>
                    </a:lnB>
                    <a:noFill/>
                  </a:tcPr>
                </a:tc>
              </a:tr>
              <a:tr h="566928">
                <a:tc>
                  <a:txBody>
                    <a:bodyPr/>
                    <a:lstStyle/>
                    <a:p>
                      <a:r>
                        <a:rPr sz="1600" b="0">
                          <a:solidFill>
                            <a:srgbClr val="1C1B1A"/>
                          </a:solidFill>
                          <a:latin typeface="Segoe UI"/>
                        </a:rPr>
                        <a:t>Free quota ran out during the live runs</a:t>
                      </a:r>
                    </a:p>
                  </a:txBody>
                  <a:tcPr anchor="ctr" marL="91440" marR="91440" marT="27432" marB="27432">
                    <a:lnB w="9525">
                      <a:solidFill>
                        <a:srgbClr val="D9D2C3"/>
                      </a:solidFill>
                    </a:lnB>
                    <a:noFill/>
                  </a:tcPr>
                </a:tc>
                <a:tc>
                  <a:txBody>
                    <a:bodyPr/>
                    <a:lstStyle/>
                    <a:p>
                      <a:r>
                        <a:rPr sz="1600" b="0">
                          <a:solidFill>
                            <a:srgbClr val="1C1B1A"/>
                          </a:solidFill>
                          <a:latin typeface="Segoe UI"/>
                        </a:rPr>
                        <a:t>A long wait from the service now stops at once, with a message that says when to try again.</a:t>
                      </a:r>
                    </a:p>
                  </a:txBody>
                  <a:tcPr anchor="ctr" marL="91440" marR="91440" marT="27432" marB="27432">
                    <a:lnB w="9525">
                      <a:solidFill>
                        <a:srgbClr val="D9D2C3"/>
                      </a:solidFill>
                    </a:lnB>
                    <a:no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is not done yet</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18</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Manual check in the real Chrome toolbar: the steps are written, the result is not recorded yet.</a:t>
            </a:r>
          </a:p>
          <a:p>
            <a:pPr marL="320040" indent="-320040">
              <a:lnSpc>
                <a:spcPct val="105000"/>
              </a:lnSpc>
              <a:spcAft>
                <a:spcPts val="1200"/>
              </a:spcAft>
              <a:buClr>
                <a:srgbClr val="B4391F"/>
              </a:buClr>
              <a:buFont typeface="Arial"/>
              <a:buChar char="•"/>
            </a:pPr>
            <a:r>
              <a:rPr sz="2200">
                <a:solidFill>
                  <a:srgbClr val="1C1B1A"/>
                </a:solidFill>
                <a:latin typeface="Segoe UI"/>
              </a:rPr>
              <a:t>Setup scripts on a clean copy of the project: not run yet.</a:t>
            </a:r>
          </a:p>
          <a:p>
            <a:pPr marL="320040" indent="-320040">
              <a:lnSpc>
                <a:spcPct val="105000"/>
              </a:lnSpc>
              <a:spcAft>
                <a:spcPts val="1200"/>
              </a:spcAft>
              <a:buClr>
                <a:srgbClr val="B4391F"/>
              </a:buClr>
              <a:buFont typeface="Arial"/>
              <a:buChar char="•"/>
            </a:pPr>
            <a:r>
              <a:rPr sz="2200">
                <a:solidFill>
                  <a:srgbClr val="1C1B1A"/>
                </a:solidFill>
                <a:latin typeface="Segoe UI"/>
              </a:rPr>
              <a:t>Summary quality: no reader has scored the summaries.</a:t>
            </a:r>
          </a:p>
          <a:p>
            <a:pPr marL="320040" indent="-320040">
              <a:lnSpc>
                <a:spcPct val="105000"/>
              </a:lnSpc>
              <a:spcAft>
                <a:spcPts val="1200"/>
              </a:spcAft>
              <a:buClr>
                <a:srgbClr val="B4391F"/>
              </a:buClr>
              <a:buFont typeface="Arial"/>
              <a:buChar char="•"/>
            </a:pPr>
            <a:r>
              <a:rPr sz="2200">
                <a:solidFill>
                  <a:srgbClr val="1C1B1A"/>
                </a:solidFill>
                <a:latin typeface="Segoe UI"/>
              </a:rPr>
              <a:t>Page text is not private: it goes to Google for each part of a page.</a:t>
            </a:r>
          </a:p>
          <a:p>
            <a:pPr marL="320040" indent="-320040">
              <a:lnSpc>
                <a:spcPct val="105000"/>
              </a:lnSpc>
              <a:spcAft>
                <a:spcPts val="1200"/>
              </a:spcAft>
              <a:buClr>
                <a:srgbClr val="B4391F"/>
              </a:buClr>
              <a:buFont typeface="Arial"/>
              <a:buChar char="•"/>
            </a:pPr>
            <a:r>
              <a:rPr sz="2200">
                <a:solidFill>
                  <a:srgbClr val="1C1B1A"/>
                </a:solidFill>
                <a:latin typeface="Segoe UI"/>
              </a:rPr>
              <a:t>Pages behind a login were not tested.</a:t>
            </a:r>
          </a:p>
          <a:p>
            <a:pPr marL="320040" indent="-320040">
              <a:lnSpc>
                <a:spcPct val="105000"/>
              </a:lnSpc>
              <a:spcAft>
                <a:spcPts val="1200"/>
              </a:spcAft>
              <a:buClr>
                <a:srgbClr val="B4391F"/>
              </a:buClr>
              <a:buFont typeface="Arial"/>
              <a:buChar char="•"/>
            </a:pPr>
            <a:r>
              <a:rPr sz="2200">
                <a:solidFill>
                  <a:srgbClr val="1C1B1A"/>
                </a:solidFill>
                <a:latin typeface="Segoe UI"/>
              </a:rPr>
              <a:t>One rare merge case: very long part summaries can share one request. Not fixed.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TextBox 1"/>
          <p:cNvSpPr txBox="1"/>
          <p:nvPr/>
        </p:nvSpPr>
        <p:spPr>
          <a:xfrm>
            <a:off x="685800" y="411480"/>
            <a:ext cx="10820095" cy="777240"/>
          </a:xfrm>
          <a:prstGeom prst="rect">
            <a:avLst/>
          </a:prstGeom>
          <a:noFill/>
        </p:spPr>
        <p:txBody>
          <a:bodyPr wrap="square" anchor="b" lIns="45720" rIns="45720" tIns="27432" bIns="27432">
            <a:spAutoFit/>
          </a:bodyPr>
          <a:lstStyle/>
          <a:p>
            <a:pPr algn="l"/>
            <a:r>
              <a:rPr sz="3000" b="1" i="0">
                <a:solidFill>
                  <a:srgbClr val="1C1B1A"/>
                </a:solidFill>
                <a:latin typeface="Georgia"/>
              </a:rPr>
              <a:t>What Version 2 adds</a:t>
            </a:r>
          </a:p>
        </p:txBody>
      </p:sp>
      <p:cxnSp>
        <p:nvCxnSpPr>
          <p:cNvPr id="3" name="Connector 2"/>
          <p:cNvCxnSpPr/>
          <p:nvPr/>
        </p:nvCxnSpPr>
        <p:spPr>
          <a:xfrm>
            <a:off x="685800" y="1280160"/>
            <a:ext cx="10820095" cy="0"/>
          </a:xfrm>
          <a:prstGeom prst="line">
            <a:avLst/>
          </a:prstGeom>
          <a:ln w="9525">
            <a:solidFill>
              <a:srgbClr val="D9D2C3"/>
            </a:solidFill>
          </a:ln>
        </p:spPr>
      </p:cxnSp>
      <p:sp>
        <p:nvSpPr>
          <p:cNvPr id="4" name="Rectangle 3"/>
          <p:cNvSpPr/>
          <p:nvPr/>
        </p:nvSpPr>
        <p:spPr>
          <a:xfrm>
            <a:off x="685800" y="1252728"/>
            <a:ext cx="82296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355080"/>
            <a:ext cx="9144000" cy="365760"/>
          </a:xfrm>
          <a:prstGeom prst="rect">
            <a:avLst/>
          </a:prstGeom>
          <a:noFill/>
        </p:spPr>
        <p:txBody>
          <a:bodyPr wrap="square" anchor="t" lIns="45720" rIns="45720" tIns="27432" bIns="27432">
            <a:spAutoFit/>
          </a:bodyPr>
          <a:lstStyle/>
          <a:p>
            <a:pPr algn="l"/>
            <a:r>
              <a:rPr sz="1600" b="0" i="0">
                <a:solidFill>
                  <a:srgbClr val="6B665C"/>
                </a:solidFill>
                <a:latin typeface="Segoe UI"/>
              </a:rPr>
              <a:t>Page Summarizer  |  Mid-Semester Review (Version 1)</a:t>
            </a:r>
          </a:p>
        </p:txBody>
      </p:sp>
      <p:sp>
        <p:nvSpPr>
          <p:cNvPr id="6" name="TextBox 5"/>
          <p:cNvSpPr txBox="1"/>
          <p:nvPr/>
        </p:nvSpPr>
        <p:spPr>
          <a:xfrm>
            <a:off x="10591495" y="6355080"/>
            <a:ext cx="914400" cy="365760"/>
          </a:xfrm>
          <a:prstGeom prst="rect">
            <a:avLst/>
          </a:prstGeom>
          <a:noFill/>
        </p:spPr>
        <p:txBody>
          <a:bodyPr wrap="square" anchor="t" lIns="45720" rIns="45720" tIns="27432" bIns="27432">
            <a:spAutoFit/>
          </a:bodyPr>
          <a:lstStyle/>
          <a:p>
            <a:pPr algn="r"/>
            <a:r>
              <a:rPr sz="1600" b="0" i="0">
                <a:solidFill>
                  <a:srgbClr val="6B665C"/>
                </a:solidFill>
                <a:latin typeface="Segoe UI"/>
              </a:rPr>
              <a:t>19</a:t>
            </a:r>
          </a:p>
        </p:txBody>
      </p:sp>
      <p:sp>
        <p:nvSpPr>
          <p:cNvPr id="7" name="TextBox 6"/>
          <p:cNvSpPr txBox="1"/>
          <p:nvPr/>
        </p:nvSpPr>
        <p:spPr>
          <a:xfrm>
            <a:off x="685800" y="1600200"/>
            <a:ext cx="10820095" cy="4526280"/>
          </a:xfrm>
          <a:prstGeom prst="rect">
            <a:avLst/>
          </a:prstGeom>
          <a:noFill/>
        </p:spPr>
        <p:txBody>
          <a:bodyPr wrap="square" lIns="45720" rIns="45720">
            <a:spAutoFit/>
          </a:bodyPr>
          <a:lstStyle/>
          <a:p>
            <a:pPr marL="320040" indent="-320040">
              <a:lnSpc>
                <a:spcPct val="105000"/>
              </a:lnSpc>
              <a:spcAft>
                <a:spcPts val="1200"/>
              </a:spcAft>
              <a:buClr>
                <a:srgbClr val="B4391F"/>
              </a:buClr>
              <a:buFont typeface="Arial"/>
              <a:buChar char="•"/>
            </a:pPr>
            <a:r>
              <a:rPr sz="2200">
                <a:solidFill>
                  <a:srgbClr val="1C1B1A"/>
                </a:solidFill>
                <a:latin typeface="Segoe UI"/>
              </a:rPr>
              <a:t>A small model runs inside the browser, so no API key is needed.</a:t>
            </a:r>
          </a:p>
          <a:p>
            <a:pPr marL="320040" indent="-320040">
              <a:lnSpc>
                <a:spcPct val="105000"/>
              </a:lnSpc>
              <a:spcAft>
                <a:spcPts val="1200"/>
              </a:spcAft>
              <a:buClr>
                <a:srgbClr val="B4391F"/>
              </a:buClr>
              <a:buFont typeface="Arial"/>
              <a:buChar char="•"/>
            </a:pPr>
            <a:r>
              <a:rPr sz="2200">
                <a:solidFill>
                  <a:srgbClr val="1C1B1A"/>
                </a:solidFill>
                <a:latin typeface="Segoe UI"/>
              </a:rPr>
              <a:t>Page text stays on the computer, and summaries work offline once the model is downloaded.</a:t>
            </a:r>
          </a:p>
          <a:p>
            <a:pPr marL="320040" indent="-320040">
              <a:lnSpc>
                <a:spcPct val="105000"/>
              </a:lnSpc>
              <a:spcAft>
                <a:spcPts val="1200"/>
              </a:spcAft>
              <a:buClr>
                <a:srgbClr val="B4391F"/>
              </a:buClr>
              <a:buFont typeface="Arial"/>
              <a:buChar char="•"/>
            </a:pPr>
            <a:r>
              <a:rPr sz="2200">
                <a:solidFill>
                  <a:srgbClr val="1C1B1A"/>
                </a:solidFill>
                <a:latin typeface="Segoe UI"/>
              </a:rPr>
              <a:t>The popup, the page reader and the job handling stay the same. Only the engine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685800" y="2011680"/>
            <a:ext cx="1097280" cy="45720"/>
          </a:xfrm>
          <a:prstGeom prst="rect">
            <a:avLst/>
          </a:prstGeom>
          <a:solidFill>
            <a:srgbClr val="B43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194560"/>
            <a:ext cx="10820095" cy="1097280"/>
          </a:xfrm>
          <a:prstGeom prst="rect">
            <a:avLst/>
          </a:prstGeom>
          <a:noFill/>
        </p:spPr>
        <p:txBody>
          <a:bodyPr wrap="square" anchor="t" lIns="45720" rIns="45720" tIns="27432" bIns="27432">
            <a:spAutoFit/>
          </a:bodyPr>
          <a:lstStyle/>
          <a:p>
            <a:pPr algn="l"/>
            <a:r>
              <a:rPr sz="4400" b="1" i="0">
                <a:solidFill>
                  <a:srgbClr val="1C1B1A"/>
                </a:solidFill>
                <a:latin typeface="Georgia"/>
              </a:rPr>
              <a:t>Thank you. Questions?</a:t>
            </a:r>
          </a:p>
        </p:txBody>
      </p:sp>
      <p:sp>
        <p:nvSpPr>
          <p:cNvPr id="4" name="TextBox 3"/>
          <p:cNvSpPr txBox="1"/>
          <p:nvPr/>
        </p:nvSpPr>
        <p:spPr>
          <a:xfrm>
            <a:off x="685800" y="3474720"/>
            <a:ext cx="10820095" cy="457200"/>
          </a:xfrm>
          <a:prstGeom prst="rect">
            <a:avLst/>
          </a:prstGeom>
          <a:noFill/>
        </p:spPr>
        <p:txBody>
          <a:bodyPr wrap="square" anchor="t" lIns="45720" rIns="45720" tIns="27432" bIns="27432">
            <a:spAutoFit/>
          </a:bodyPr>
          <a:lstStyle/>
          <a:p>
            <a:pPr algn="l"/>
            <a:r>
              <a:rPr sz="2200" b="0" i="0">
                <a:solidFill>
                  <a:srgbClr val="1C1B1A"/>
                </a:solidFill>
                <a:latin typeface="Segoe UI"/>
              </a:rPr>
              <a:t>[Insert Student Name]  |  BITS ID [Insert BITS ID]</a:t>
            </a:r>
          </a:p>
        </p:txBody>
      </p:sp>
      <p:sp>
        <p:nvSpPr>
          <p:cNvPr id="5" name="TextBox 4"/>
          <p:cNvSpPr txBox="1"/>
          <p:nvPr/>
        </p:nvSpPr>
        <p:spPr>
          <a:xfrm>
            <a:off x="685800" y="3977640"/>
            <a:ext cx="10820095" cy="457200"/>
          </a:xfrm>
          <a:prstGeom prst="rect">
            <a:avLst/>
          </a:prstGeom>
          <a:noFill/>
        </p:spPr>
        <p:txBody>
          <a:bodyPr wrap="square" anchor="t" lIns="45720" rIns="45720" tIns="27432" bIns="27432">
            <a:spAutoFit/>
          </a:bodyPr>
          <a:lstStyle/>
          <a:p>
            <a:pPr algn="l"/>
            <a:r>
              <a:rPr sz="2200" b="0" i="0">
                <a:solidFill>
                  <a:srgbClr val="6B665C"/>
                </a:solidFill>
                <a:latin typeface="Segoe UI"/>
              </a:rPr>
              <a:t>The code, the tests and the setup scripts are in the project folder.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Page Summarizer: mid-semester review (Version 1)</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