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name is [Insert Student Name], and this is my final-semester review of the Page Summarizer project. Version 1 sent the page text to a cloud service. Version 2 runs a small language model inside Chrome, on this laptop. I will explain the AI parts in plain words, then show what was built and what was measured.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will go through six parts. First, Version 1 and what it could not do. Then I explain what a language model is, how it writes, and how the model gets onto the laptop. Next are the parts that run it, the popup, the errors and the setup. After that come the tests, the measured results and the problems I met. I finish with what is not done yet, the demo plan and questions.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Version 1 has one promise. A reader presses one button on an open page and gets a short summary in the popup. The reader pastes a free key once, and each part of the page is then sent to Google. So the page text leaves this laptop, and every summary needs the internet. Version 2 keeps the same popup, page reader and job handling, and only the engine changes.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shows what changed between the two versions. Version 1 needed a Google key and sent each part of the page to Google. Version 2 downloads the model once, and then works without a key and without the internet. The speed row gives the measured times for this laptop, and I say which run each one comes from.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language model is a program that guesses the next piece of text. Learning set its stored numbers, which are called parameters, and this project only reads them. The model reads and writes tokens, and a token is about four characters of English. Its context window is the text it can hold in one request, which is 4,096 tokens for this model. So the project cuts a long page into parts of about 1,500 tokens.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works in two stages. First it reads the whole prompt in one pass, which the report calls prefill. Then it writes the answer one token at a time, which is called decode, and that stage is the slow one. The saved clean runs wrote 34 to 53 tokens a second on this laptop. A separate speed test measured about 63, and it has no saved run file, so I label it as a test.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ideas make the model small enough to run here. The first is 4-bit compression. Most stored numbers are rounded to 4 bits, which brings the file down to about 695 MB. The second is WebGPU, the browser's way to run work on the graphics card. The first use also waits about half a minute while the card compiles its programs.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compares the first use with later use for the short article. The first use downloads about 695 MB, and that download took 158.3 seconds on the developer's connection. Later use skips the download and takes about 15 to 18 seconds. I show the run before the label fix as well, because it had a wrong line on screen. I quote the after-fix run, and I say which run I quote.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extension has layers. The popup only has a button and shows progress. The service worker owns the job, and it asks a hidden offscreen page to do the heavy work. That page holds the loaded model and runs a web worker, which runs the WebLLM library. WebLLM sends the calculations to the graphics card through WebGPU.</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files are kept in IndexedDB, which is the browser's own storage for the extension. The job record sits in session storage, and it is removed when its tab closes. The loaded model lives in graphics memory and is freed after five idle minutes. For the offline proof, I blocked the outside websites and ran the short article, which took 17.7 seconds after the label fix.</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offscreen page is a hidden page that Chrome lets an extension open for a heavy task. It has no tabs and no storage access, so it talks only by messages. The service worker sends three kinds of request, and the page sends progress and keepalive messages back. The page closes five minutes after its last message ends, and that frees the graphics memory.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extension checks the computer before it starts. Without WebGPU or the 16-bit math feature, it refuses with a plain message instead of failing quietly. On an integrated chip it chooses the smaller model and shows a note. If the main model runs out of graphics memory, the small model tries the job, and the popup says so. That choice is saved, so it stays until the stored settings are cleared.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Many laptops have a weak graphics chip built into the processor and a stronger separate card. On this laptop Chrome used the Intel chip by default, so the extension chose the smaller model and showed a note. With the NVIDIA card, the 1B model wrote 34 to 53 tokens a second in the clean runs. The setting that moves Chrome to the card is opt-in, and it has been tested only against a throw-away registry key.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Long pages are cut into parts of at most 6,000 characters, which is about 1,500 tokens. Each part gets its own summary, and then one request merges the part summaries. This is the clean run of a Lighthouse article in seven parts. It finished at 74.1 seconds, with the model already stored and loaded.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the reader sees on first use. The button says Download model and summarize, and the model line says the model is not downloaded yet. After the download and the load, the popup shows the warm-up line, because the first answer compiles the graphics programs. These pictures were made with the pretend model, so the sizes on them are its fixed numbers. The real download was about 695 MB.</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 finished summary. The stats line shows the parts, the requests, the time and the model. In the second picture, the main model ran out of graphics memory, so SmolLM2 wrote the summary, and the popup says it may be less detailed. This fallback used to be silent, and I added the notice after a screenshot run showed the gap. Both pictures were made with the pretend model.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failure has one code and one plain message. The reader sees the message in the popup, and the technical detail goes to the console. The table shows six of the thirteen codes. Two of the refusals happen before any download: a page that is too long, and a page that Chrome does not let an extension read.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client uses four scripts. setup.bat checks Chrome and the files, and it ends with SETUP COMPLETE or SETUP FAILED. run.bat opens the extensions page, and the client clicks Load unpacked by hand. check-computer.ps1 reports the laptop's memory, graphics chips and free space. The setup.bat --gpu option changes a Windows setting, so it runs only when the client asks for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tests run at three levels. There are 76 unit tests, which check the small rules without a browser or a network. There are 29 browser scenarios, which run in a hidden Chromium with a pretend model, and they all pass. The 15 Windows script checks test the batch files and the PowerShell scripts. The four clean real-model run files are the only numbers I quote for speed.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clean runs only. Each run file says at the top whether other programs were running, and these runs have no such note. The after-label-fix runs show 65 and 45 tokens a second, which is above the 34 to 53 range of the earlier clean runs, so I show both. The Intel run file has no such note, so I treat it as clean. Runs made while other programs were running are left out, because they are slower for a reason that has nothing to do with the code.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met four real problems on 21 October, and each one is written in the development log. The first was the graphics chip: Chrome picked the weak Intel chip, so the first answers were very slow. The second was the model cache, which failed inside the hidden page until I switched the storage. The third was silent: the small model wrote summaries with no sign on screen. The fourth was a wrong Downloading line on a model that was already stored. The fifth problem came from the real Chrome on 24 October. On the long Wikipedia page the popup only said that something went wrong inside the extension. I repeated it in a hidden browser and found two weak spots: one answer on the Intel chip took longer than the three-minute limit, and a part that did not fit the model's window was reported as a vague error. Now such a part is cut in half and tried again, the answer limit is ten minutes, and the popup shows a technical detail line.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 things are not finished, and I want to be exact about them. The client's laptop has not been tested, so its numbers are not known yet. The setting that moves Chrome to the card was tested only against a throw-away registry key. Every browser test and real run used a hidden Chromium, so I have not clicked through the daily Chrome window. The model is meant for English text, and it makes small slips. Two more limits. On the Intel chip the seven-part Lighthouse article took 616 seconds, about ten minutes, and the summary was poor. The step that cuts a too-long part in half is covered by unit tests and the pretend model, because no real part overflowed the window on that day.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demo follows the steps in the knowledge-transfer document. I start from the extensions page, so the audience sees that no key is needed. Then I summarize the Lighthouse article, and after that I turn off the network for a short article. I also show two refusals, so the audience sees that the code stops early.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listening. The code, the tests and the setup scripts are in the finalsem project folder, and I can show any part of them. The speed figures I quoted are from clean runs, and the other runs are listed with the reason they are left out. I am happy to take questions now. If a question is about something not built or not tested, I will say so.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pic>
        <p:nvPicPr>
          <p:cNvPr id="2" name="Picture 1" descr="BITS Pilani logo"/>
          <p:cNvPicPr>
            <a:picLocks noChangeAspect="1"/>
          </p:cNvPicPr>
          <p:nvPr/>
        </p:nvPicPr>
        <p:blipFill>
          <a:blip r:embed="rId2"/>
          <a:stretch>
            <a:fillRect/>
          </a:stretch>
        </p:blipFill>
        <p:spPr>
          <a:xfrm>
            <a:off x="685800" y="640080"/>
            <a:ext cx="892479" cy="868680"/>
          </a:xfrm>
          <a:prstGeom prst="rect">
            <a:avLst/>
          </a:prstGeom>
        </p:spPr>
      </p:pic>
      <p:sp>
        <p:nvSpPr>
          <p:cNvPr id="3" name="Rectangle 2"/>
          <p:cNvSpPr/>
          <p:nvPr/>
        </p:nvSpPr>
        <p:spPr>
          <a:xfrm>
            <a:off x="685800" y="1874519"/>
            <a:ext cx="1097280" cy="45720"/>
          </a:xfrm>
          <a:prstGeom prst="rect">
            <a:avLst/>
          </a:prstGeom>
          <a:solidFill>
            <a:srgbClr val="B43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057400"/>
            <a:ext cx="10820095" cy="1371600"/>
          </a:xfrm>
          <a:prstGeom prst="rect">
            <a:avLst/>
          </a:prstGeom>
          <a:noFill/>
        </p:spPr>
        <p:txBody>
          <a:bodyPr wrap="square" anchor="t" lIns="45720" rIns="45720" tIns="27432" bIns="27432">
            <a:spAutoFit/>
          </a:bodyPr>
          <a:lstStyle/>
          <a:p>
            <a:pPr algn="l"/>
            <a:r>
              <a:rPr sz="4400" b="1" i="0">
                <a:solidFill>
                  <a:srgbClr val="1C1B1A"/>
                </a:solidFill>
                <a:latin typeface="Georgia"/>
              </a:rPr>
              <a:t>AI-Powered Web Page Summarizer</a:t>
            </a:r>
          </a:p>
        </p:txBody>
      </p:sp>
      <p:sp>
        <p:nvSpPr>
          <p:cNvPr id="5" name="TextBox 4"/>
          <p:cNvSpPr txBox="1"/>
          <p:nvPr/>
        </p:nvSpPr>
        <p:spPr>
          <a:xfrm>
            <a:off x="685800" y="3429000"/>
            <a:ext cx="10820095" cy="548640"/>
          </a:xfrm>
          <a:prstGeom prst="rect">
            <a:avLst/>
          </a:prstGeom>
          <a:noFill/>
        </p:spPr>
        <p:txBody>
          <a:bodyPr wrap="square" anchor="t" lIns="45720" rIns="45720" tIns="27432" bIns="27432">
            <a:spAutoFit/>
          </a:bodyPr>
          <a:lstStyle/>
          <a:p>
            <a:pPr algn="l"/>
            <a:r>
              <a:rPr sz="2400" b="0" i="0">
                <a:solidFill>
                  <a:srgbClr val="6B665C"/>
                </a:solidFill>
                <a:latin typeface="Segoe UI"/>
              </a:rPr>
              <a:t>A Chrome extension that runs a small language model on this laptop</a:t>
            </a:r>
          </a:p>
        </p:txBody>
      </p:sp>
      <p:cxnSp>
        <p:nvCxnSpPr>
          <p:cNvPr id="6" name="Connector 5"/>
          <p:cNvCxnSpPr/>
          <p:nvPr/>
        </p:nvCxnSpPr>
        <p:spPr>
          <a:xfrm>
            <a:off x="685800" y="4206240"/>
            <a:ext cx="10820095" cy="0"/>
          </a:xfrm>
          <a:prstGeom prst="line">
            <a:avLst/>
          </a:prstGeom>
          <a:ln w="9525">
            <a:solidFill>
              <a:srgbClr val="D9D2C3"/>
            </a:solidFill>
          </a:ln>
        </p:spPr>
      </p:cxnSp>
      <p:sp>
        <p:nvSpPr>
          <p:cNvPr id="7" name="TextBox 6"/>
          <p:cNvSpPr txBox="1"/>
          <p:nvPr/>
        </p:nvSpPr>
        <p:spPr>
          <a:xfrm>
            <a:off x="685800" y="4434840"/>
            <a:ext cx="10820095" cy="365760"/>
          </a:xfrm>
          <a:prstGeom prst="rect">
            <a:avLst/>
          </a:prstGeom>
          <a:noFill/>
        </p:spPr>
        <p:txBody>
          <a:bodyPr wrap="square" anchor="t" lIns="45720" rIns="45720" tIns="27432" bIns="27432">
            <a:spAutoFit/>
          </a:bodyPr>
          <a:lstStyle/>
          <a:p>
            <a:pPr algn="l"/>
            <a:r>
              <a:rPr sz="1800" b="0" i="0">
                <a:solidFill>
                  <a:srgbClr val="1C1B1A"/>
                </a:solidFill>
                <a:latin typeface="Segoe UI"/>
              </a:rPr>
              <a:t>Final-Semester Review (Version 2)</a:t>
            </a:r>
          </a:p>
        </p:txBody>
      </p:sp>
      <p:sp>
        <p:nvSpPr>
          <p:cNvPr id="8" name="TextBox 7"/>
          <p:cNvSpPr txBox="1"/>
          <p:nvPr/>
        </p:nvSpPr>
        <p:spPr>
          <a:xfrm>
            <a:off x="685800" y="4818888"/>
            <a:ext cx="10820095" cy="365760"/>
          </a:xfrm>
          <a:prstGeom prst="rect">
            <a:avLst/>
          </a:prstGeom>
          <a:noFill/>
        </p:spPr>
        <p:txBody>
          <a:bodyPr wrap="square" anchor="t" lIns="45720" rIns="45720" tIns="27432" bIns="27432">
            <a:spAutoFit/>
          </a:bodyPr>
          <a:lstStyle/>
          <a:p>
            <a:pPr algn="l"/>
            <a:r>
              <a:rPr sz="1800" b="0" i="0">
                <a:solidFill>
                  <a:srgbClr val="6B665C"/>
                </a:solidFill>
                <a:latin typeface="Segoe UI"/>
              </a:rPr>
              <a:t>[Insert Student Name]  |  BITS ID [Insert BITS ID]</a:t>
            </a:r>
          </a:p>
        </p:txBody>
      </p:sp>
      <p:sp>
        <p:nvSpPr>
          <p:cNvPr id="9" name="TextBox 8"/>
          <p:cNvSpPr txBox="1"/>
          <p:nvPr/>
        </p:nvSpPr>
        <p:spPr>
          <a:xfrm>
            <a:off x="685800" y="5202936"/>
            <a:ext cx="10820095" cy="365760"/>
          </a:xfrm>
          <a:prstGeom prst="rect">
            <a:avLst/>
          </a:prstGeom>
          <a:noFill/>
        </p:spPr>
        <p:txBody>
          <a:bodyPr wrap="square" anchor="t" lIns="45720" rIns="45720" tIns="27432" bIns="27432">
            <a:spAutoFit/>
          </a:bodyPr>
          <a:lstStyle/>
          <a:p>
            <a:pPr algn="l"/>
            <a:r>
              <a:rPr sz="1800" b="0" i="0">
                <a:solidFill>
                  <a:srgbClr val="6B665C"/>
                </a:solidFill>
                <a:latin typeface="Segoe UI"/>
              </a:rPr>
              <a:t>[Insert Degree Program]  |  Course No. [Insert Course No.]</a:t>
            </a:r>
          </a:p>
        </p:txBody>
      </p:sp>
      <p:sp>
        <p:nvSpPr>
          <p:cNvPr id="10" name="TextBox 9"/>
          <p:cNvSpPr txBox="1"/>
          <p:nvPr/>
        </p:nvSpPr>
        <p:spPr>
          <a:xfrm>
            <a:off x="685800" y="5586984"/>
            <a:ext cx="10820095" cy="365760"/>
          </a:xfrm>
          <a:prstGeom prst="rect">
            <a:avLst/>
          </a:prstGeom>
          <a:noFill/>
        </p:spPr>
        <p:txBody>
          <a:bodyPr wrap="square" anchor="t" lIns="45720" rIns="45720" tIns="27432" bIns="27432">
            <a:spAutoFit/>
          </a:bodyPr>
          <a:lstStyle/>
          <a:p>
            <a:pPr algn="l"/>
            <a:r>
              <a:rPr sz="1800" b="0" i="0">
                <a:solidFill>
                  <a:srgbClr val="6B665C"/>
                </a:solidFill>
                <a:latin typeface="Segoe UI"/>
              </a:rPr>
              <a:t>Project carried out at [Insert Organization Name &amp; Location]</a:t>
            </a:r>
          </a:p>
        </p:txBody>
      </p:sp>
      <p:sp>
        <p:nvSpPr>
          <p:cNvPr id="11" name="TextBox 10"/>
          <p:cNvSpPr txBox="1"/>
          <p:nvPr/>
        </p:nvSpPr>
        <p:spPr>
          <a:xfrm>
            <a:off x="685800" y="5971032"/>
            <a:ext cx="10820095" cy="365760"/>
          </a:xfrm>
          <a:prstGeom prst="rect">
            <a:avLst/>
          </a:prstGeom>
          <a:noFill/>
        </p:spPr>
        <p:txBody>
          <a:bodyPr wrap="square" anchor="t" lIns="45720" rIns="45720" tIns="27432" bIns="27432">
            <a:spAutoFit/>
          </a:bodyPr>
          <a:lstStyle/>
          <a:p>
            <a:pPr algn="l"/>
            <a:r>
              <a:rPr sz="1800" b="0" i="0">
                <a:solidFill>
                  <a:srgbClr val="6B665C"/>
                </a:solidFill>
                <a:latin typeface="Segoe UI"/>
              </a:rPr>
              <a:t>Birla Institute of Technology &amp; Science, Pilani (Rajasthan)</a:t>
            </a:r>
          </a:p>
        </p:txBody>
      </p:sp>
      <p:sp>
        <p:nvSpPr>
          <p:cNvPr id="12" name="TextBox 11"/>
          <p:cNvSpPr txBox="1"/>
          <p:nvPr/>
        </p:nvSpPr>
        <p:spPr>
          <a:xfrm>
            <a:off x="685800" y="6355080"/>
            <a:ext cx="10820095" cy="365760"/>
          </a:xfrm>
          <a:prstGeom prst="rect">
            <a:avLst/>
          </a:prstGeom>
          <a:noFill/>
        </p:spPr>
        <p:txBody>
          <a:bodyPr wrap="square" anchor="t" lIns="45720" rIns="45720" tIns="27432" bIns="27432">
            <a:spAutoFit/>
          </a:bodyPr>
          <a:lstStyle/>
          <a:p>
            <a:pPr algn="l"/>
            <a:r>
              <a:rPr sz="1800" b="0" i="0">
                <a:solidFill>
                  <a:srgbClr val="6B665C"/>
                </a:solidFill>
                <a:latin typeface="Segoe UI"/>
              </a:rPr>
              <a:t>[Insert Month and Year]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TextBox 1"/>
          <p:cNvSpPr txBox="1"/>
          <p:nvPr/>
        </p:nvSpPr>
        <p:spPr>
          <a:xfrm>
            <a:off x="685800" y="411480"/>
            <a:ext cx="10820095" cy="777240"/>
          </a:xfrm>
          <a:prstGeom prst="rect">
            <a:avLst/>
          </a:prstGeom>
          <a:noFill/>
        </p:spPr>
        <p:txBody>
          <a:bodyPr wrap="square" anchor="b" lIns="45720" rIns="45720" tIns="27432" bIns="27432">
            <a:spAutoFit/>
          </a:bodyPr>
          <a:lstStyle/>
          <a:p>
            <a:pPr algn="l"/>
            <a:r>
              <a:rPr sz="3000" b="1" i="0">
                <a:solidFill>
                  <a:srgbClr val="1C1B1A"/>
                </a:solidFill>
                <a:latin typeface="Georgia"/>
              </a:rPr>
              <a:t>What I will cover</a:t>
            </a:r>
          </a:p>
        </p:txBody>
      </p:sp>
      <p:cxnSp>
        <p:nvCxnSpPr>
          <p:cNvPr id="3" name="Connector 2"/>
          <p:cNvCxnSpPr/>
          <p:nvPr/>
        </p:nvCxnSpPr>
        <p:spPr>
          <a:xfrm>
            <a:off x="685800" y="1280160"/>
            <a:ext cx="10820095" cy="0"/>
          </a:xfrm>
          <a:prstGeom prst="line">
            <a:avLst/>
          </a:prstGeom>
          <a:ln w="9525">
            <a:solidFill>
              <a:srgbClr val="D9D2C3"/>
            </a:solidFill>
          </a:ln>
        </p:spPr>
      </p:cxnSp>
      <p:sp>
        <p:nvSpPr>
          <p:cNvPr id="4" name="Rectangle 3"/>
          <p:cNvSpPr/>
          <p:nvPr/>
        </p:nvSpPr>
        <p:spPr>
          <a:xfrm>
            <a:off x="685800" y="1252728"/>
            <a:ext cx="822960" cy="45720"/>
          </a:xfrm>
          <a:prstGeom prst="rect">
            <a:avLst/>
          </a:prstGeom>
          <a:solidFill>
            <a:srgbClr val="B43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355080"/>
            <a:ext cx="9144000" cy="365760"/>
          </a:xfrm>
          <a:prstGeom prst="rect">
            <a:avLst/>
          </a:prstGeom>
          <a:noFill/>
        </p:spPr>
        <p:txBody>
          <a:bodyPr wrap="square" anchor="t" lIns="45720" rIns="45720" tIns="27432" bIns="27432">
            <a:spAutoFit/>
          </a:bodyPr>
          <a:lstStyle/>
          <a:p>
            <a:pPr algn="l"/>
            <a:r>
              <a:rPr sz="1600" b="0" i="0">
                <a:solidFill>
                  <a:srgbClr val="6B665C"/>
                </a:solidFill>
                <a:latin typeface="Segoe UI"/>
              </a:rPr>
              <a:t>Page Summarizer  |  Final-Semester Review (Version 2)</a:t>
            </a:r>
          </a:p>
        </p:txBody>
      </p:sp>
      <p:sp>
        <p:nvSpPr>
          <p:cNvPr id="6" name="TextBox 5"/>
          <p:cNvSpPr txBox="1"/>
          <p:nvPr/>
        </p:nvSpPr>
        <p:spPr>
          <a:xfrm>
            <a:off x="10591495" y="6355080"/>
            <a:ext cx="914400" cy="365760"/>
          </a:xfrm>
          <a:prstGeom prst="rect">
            <a:avLst/>
          </a:prstGeom>
          <a:noFill/>
        </p:spPr>
        <p:txBody>
          <a:bodyPr wrap="square" anchor="t" lIns="45720" rIns="45720" tIns="27432" bIns="27432">
            <a:spAutoFit/>
          </a:bodyPr>
          <a:lstStyle/>
          <a:p>
            <a:pPr algn="r"/>
            <a:r>
              <a:rPr sz="1600" b="0" i="0">
                <a:solidFill>
                  <a:srgbClr val="6B665C"/>
                </a:solidFill>
                <a:latin typeface="Segoe UI"/>
              </a:rPr>
              <a:t>2</a:t>
            </a:r>
          </a:p>
        </p:txBody>
      </p:sp>
      <p:sp>
        <p:nvSpPr>
          <p:cNvPr id="7" name="TextBox 6"/>
          <p:cNvSpPr txBox="1"/>
          <p:nvPr/>
        </p:nvSpPr>
        <p:spPr>
          <a:xfrm>
            <a:off x="685800" y="1600200"/>
            <a:ext cx="10820095" cy="4526280"/>
          </a:xfrm>
          <a:prstGeom prst="rect">
            <a:avLst/>
          </a:prstGeom>
          <a:noFill/>
        </p:spPr>
        <p:txBody>
          <a:bodyPr wrap="square" lIns="45720" rIns="45720">
            <a:spAutoFit/>
          </a:bodyPr>
          <a:lstStyle/>
          <a:p>
            <a:pPr marL="320040" indent="-320040">
              <a:lnSpc>
                <a:spcPct val="105000"/>
              </a:lnSpc>
              <a:spcAft>
                <a:spcPts val="1200"/>
              </a:spcAft>
              <a:buClr>
                <a:srgbClr val="B4391F"/>
              </a:buClr>
              <a:buFont typeface="Arial"/>
              <a:buChar char="•"/>
            </a:pPr>
            <a:r>
              <a:rPr sz="2200">
                <a:solidFill>
                  <a:srgbClr val="1C1B1A"/>
                </a:solidFill>
                <a:latin typeface="Segoe UI"/>
              </a:rPr>
              <a:t>Version 1 and what it could not do</a:t>
            </a:r>
          </a:p>
          <a:p>
            <a:pPr marL="320040" indent="-320040">
              <a:lnSpc>
                <a:spcPct val="105000"/>
              </a:lnSpc>
              <a:spcAft>
                <a:spcPts val="1200"/>
              </a:spcAft>
              <a:buClr>
                <a:srgbClr val="B4391F"/>
              </a:buClr>
              <a:buFont typeface="Arial"/>
              <a:buChar char="•"/>
            </a:pPr>
            <a:r>
              <a:rPr sz="2200">
                <a:solidFill>
                  <a:srgbClr val="1C1B1A"/>
                </a:solidFill>
                <a:latin typeface="Segoe UI"/>
              </a:rPr>
              <a:t>What a language model is, and how this one writes</a:t>
            </a:r>
          </a:p>
          <a:p>
            <a:pPr marL="320040" indent="-320040">
              <a:lnSpc>
                <a:spcPct val="105000"/>
              </a:lnSpc>
              <a:spcAft>
                <a:spcPts val="1200"/>
              </a:spcAft>
              <a:buClr>
                <a:srgbClr val="B4391F"/>
              </a:buClr>
              <a:buFont typeface="Arial"/>
              <a:buChar char="•"/>
            </a:pPr>
            <a:r>
              <a:rPr sz="2200">
                <a:solidFill>
                  <a:srgbClr val="1C1B1A"/>
                </a:solidFill>
                <a:latin typeface="Segoe UI"/>
              </a:rPr>
              <a:t>How the model gets onto the laptop, and the parts that run it</a:t>
            </a:r>
          </a:p>
          <a:p>
            <a:pPr marL="320040" indent="-320040">
              <a:lnSpc>
                <a:spcPct val="105000"/>
              </a:lnSpc>
              <a:spcAft>
                <a:spcPts val="1200"/>
              </a:spcAft>
              <a:buClr>
                <a:srgbClr val="B4391F"/>
              </a:buClr>
              <a:buFont typeface="Arial"/>
              <a:buChar char="•"/>
            </a:pPr>
            <a:r>
              <a:rPr sz="2200">
                <a:solidFill>
                  <a:srgbClr val="1C1B1A"/>
                </a:solidFill>
                <a:latin typeface="Segoe UI"/>
              </a:rPr>
              <a:t>The popup, the errors and the setup</a:t>
            </a:r>
          </a:p>
          <a:p>
            <a:pPr marL="320040" indent="-320040">
              <a:lnSpc>
                <a:spcPct val="105000"/>
              </a:lnSpc>
              <a:spcAft>
                <a:spcPts val="1200"/>
              </a:spcAft>
              <a:buClr>
                <a:srgbClr val="B4391F"/>
              </a:buClr>
              <a:buFont typeface="Arial"/>
              <a:buChar char="•"/>
            </a:pPr>
            <a:r>
              <a:rPr sz="2200">
                <a:solidFill>
                  <a:srgbClr val="1C1B1A"/>
                </a:solidFill>
                <a:latin typeface="Segoe UI"/>
              </a:rPr>
              <a:t>Testing, measured results and the problems I met</a:t>
            </a:r>
          </a:p>
          <a:p>
            <a:pPr marL="320040" indent="-320040">
              <a:lnSpc>
                <a:spcPct val="105000"/>
              </a:lnSpc>
              <a:spcAft>
                <a:spcPts val="1200"/>
              </a:spcAft>
              <a:buClr>
                <a:srgbClr val="B4391F"/>
              </a:buClr>
              <a:buFont typeface="Arial"/>
              <a:buChar char="•"/>
            </a:pPr>
            <a:r>
              <a:rPr sz="2200">
                <a:solidFill>
                  <a:srgbClr val="1C1B1A"/>
                </a:solidFill>
                <a:latin typeface="Segoe UI"/>
              </a:rPr>
              <a:t>What is not done, the demo plan and questions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TextBox 1"/>
          <p:cNvSpPr txBox="1"/>
          <p:nvPr/>
        </p:nvSpPr>
        <p:spPr>
          <a:xfrm>
            <a:off x="685800" y="411480"/>
            <a:ext cx="10820095" cy="777240"/>
          </a:xfrm>
          <a:prstGeom prst="rect">
            <a:avLst/>
          </a:prstGeom>
          <a:noFill/>
        </p:spPr>
        <p:txBody>
          <a:bodyPr wrap="square" anchor="b" lIns="45720" rIns="45720" tIns="27432" bIns="27432">
            <a:spAutoFit/>
          </a:bodyPr>
          <a:lstStyle/>
          <a:p>
            <a:pPr algn="l"/>
            <a:r>
              <a:rPr sz="3000" b="1" i="0">
                <a:solidFill>
                  <a:srgbClr val="1C1B1A"/>
                </a:solidFill>
                <a:latin typeface="Georgia"/>
              </a:rPr>
              <a:t>Version 1 and its limits</a:t>
            </a:r>
          </a:p>
        </p:txBody>
      </p:sp>
      <p:cxnSp>
        <p:nvCxnSpPr>
          <p:cNvPr id="3" name="Connector 2"/>
          <p:cNvCxnSpPr/>
          <p:nvPr/>
        </p:nvCxnSpPr>
        <p:spPr>
          <a:xfrm>
            <a:off x="685800" y="1280160"/>
            <a:ext cx="10820095" cy="0"/>
          </a:xfrm>
          <a:prstGeom prst="line">
            <a:avLst/>
          </a:prstGeom>
          <a:ln w="9525">
            <a:solidFill>
              <a:srgbClr val="D9D2C3"/>
            </a:solidFill>
          </a:ln>
        </p:spPr>
      </p:cxnSp>
      <p:sp>
        <p:nvSpPr>
          <p:cNvPr id="4" name="Rectangle 3"/>
          <p:cNvSpPr/>
          <p:nvPr/>
        </p:nvSpPr>
        <p:spPr>
          <a:xfrm>
            <a:off x="685800" y="1252728"/>
            <a:ext cx="822960" cy="45720"/>
          </a:xfrm>
          <a:prstGeom prst="rect">
            <a:avLst/>
          </a:prstGeom>
          <a:solidFill>
            <a:srgbClr val="B43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355080"/>
            <a:ext cx="9144000" cy="365760"/>
          </a:xfrm>
          <a:prstGeom prst="rect">
            <a:avLst/>
          </a:prstGeom>
          <a:noFill/>
        </p:spPr>
        <p:txBody>
          <a:bodyPr wrap="square" anchor="t" lIns="45720" rIns="45720" tIns="27432" bIns="27432">
            <a:spAutoFit/>
          </a:bodyPr>
          <a:lstStyle/>
          <a:p>
            <a:pPr algn="l"/>
            <a:r>
              <a:rPr sz="1600" b="0" i="0">
                <a:solidFill>
                  <a:srgbClr val="6B665C"/>
                </a:solidFill>
                <a:latin typeface="Segoe UI"/>
              </a:rPr>
              <a:t>Page Summarizer  |  Final-Semester Review (Version 2)</a:t>
            </a:r>
          </a:p>
        </p:txBody>
      </p:sp>
      <p:sp>
        <p:nvSpPr>
          <p:cNvPr id="6" name="TextBox 5"/>
          <p:cNvSpPr txBox="1"/>
          <p:nvPr/>
        </p:nvSpPr>
        <p:spPr>
          <a:xfrm>
            <a:off x="10591495" y="6355080"/>
            <a:ext cx="914400" cy="365760"/>
          </a:xfrm>
          <a:prstGeom prst="rect">
            <a:avLst/>
          </a:prstGeom>
          <a:noFill/>
        </p:spPr>
        <p:txBody>
          <a:bodyPr wrap="square" anchor="t" lIns="45720" rIns="45720" tIns="27432" bIns="27432">
            <a:spAutoFit/>
          </a:bodyPr>
          <a:lstStyle/>
          <a:p>
            <a:pPr algn="r"/>
            <a:r>
              <a:rPr sz="1600" b="0" i="0">
                <a:solidFill>
                  <a:srgbClr val="6B665C"/>
                </a:solidFill>
                <a:latin typeface="Segoe UI"/>
              </a:rPr>
              <a:t>3</a:t>
            </a:r>
          </a:p>
        </p:txBody>
      </p:sp>
      <p:sp>
        <p:nvSpPr>
          <p:cNvPr id="7" name="TextBox 6"/>
          <p:cNvSpPr txBox="1"/>
          <p:nvPr/>
        </p:nvSpPr>
        <p:spPr>
          <a:xfrm>
            <a:off x="685800" y="1600200"/>
            <a:ext cx="10820095" cy="4526280"/>
          </a:xfrm>
          <a:prstGeom prst="rect">
            <a:avLst/>
          </a:prstGeom>
          <a:noFill/>
        </p:spPr>
        <p:txBody>
          <a:bodyPr wrap="square" lIns="45720" rIns="45720">
            <a:spAutoFit/>
          </a:bodyPr>
          <a:lstStyle/>
          <a:p>
            <a:pPr marL="320040" indent="-320040">
              <a:lnSpc>
                <a:spcPct val="105000"/>
              </a:lnSpc>
              <a:spcAft>
                <a:spcPts val="1200"/>
              </a:spcAft>
              <a:buClr>
                <a:srgbClr val="B4391F"/>
              </a:buClr>
              <a:buFont typeface="Arial"/>
              <a:buChar char="•"/>
            </a:pPr>
            <a:r>
              <a:rPr sz="2200">
                <a:solidFill>
                  <a:srgbClr val="1C1B1A"/>
                </a:solidFill>
                <a:latin typeface="Segoe UI"/>
              </a:rPr>
              <a:t>Version 1 summarizes the open page with a free Gemini key, pasted once into the popup.</a:t>
            </a:r>
          </a:p>
          <a:p>
            <a:pPr marL="320040" indent="-320040">
              <a:lnSpc>
                <a:spcPct val="105000"/>
              </a:lnSpc>
              <a:spcAft>
                <a:spcPts val="1200"/>
              </a:spcAft>
              <a:buClr>
                <a:srgbClr val="B4391F"/>
              </a:buClr>
              <a:buFont typeface="Arial"/>
              <a:buChar char="•"/>
            </a:pPr>
            <a:r>
              <a:rPr sz="2200">
                <a:solidFill>
                  <a:srgbClr val="1C1B1A"/>
                </a:solidFill>
                <a:latin typeface="Segoe UI"/>
              </a:rPr>
              <a:t>Each part of a page is sent to Google, so the page text leaves this laptop.</a:t>
            </a:r>
          </a:p>
          <a:p>
            <a:pPr marL="320040" indent="-320040">
              <a:lnSpc>
                <a:spcPct val="105000"/>
              </a:lnSpc>
              <a:spcAft>
                <a:spcPts val="1200"/>
              </a:spcAft>
              <a:buClr>
                <a:srgbClr val="B4391F"/>
              </a:buClr>
              <a:buFont typeface="Arial"/>
              <a:buChar char="•"/>
            </a:pPr>
            <a:r>
              <a:rPr sz="2200">
                <a:solidFill>
                  <a:srgbClr val="1C1B1A"/>
                </a:solidFill>
                <a:latin typeface="Segoe UI"/>
              </a:rPr>
              <a:t>Every summary needs the internet, and the free quota ran out during the live runs.</a:t>
            </a:r>
          </a:p>
          <a:p>
            <a:pPr marL="320040" indent="-320040">
              <a:lnSpc>
                <a:spcPct val="105000"/>
              </a:lnSpc>
              <a:spcAft>
                <a:spcPts val="1200"/>
              </a:spcAft>
              <a:buClr>
                <a:srgbClr val="B4391F"/>
              </a:buClr>
              <a:buFont typeface="Arial"/>
              <a:buChar char="•"/>
            </a:pPr>
            <a:r>
              <a:rPr sz="2200">
                <a:solidFill>
                  <a:srgbClr val="1C1B1A"/>
                </a:solidFill>
                <a:latin typeface="Segoe UI"/>
              </a:rPr>
              <a:t>Version 2 keeps the popup, the page reader and the job handling. Only the engine changes.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TextBox 1"/>
          <p:cNvSpPr txBox="1"/>
          <p:nvPr/>
        </p:nvSpPr>
        <p:spPr>
          <a:xfrm>
            <a:off x="685800" y="411480"/>
            <a:ext cx="10820095" cy="777240"/>
          </a:xfrm>
          <a:prstGeom prst="rect">
            <a:avLst/>
          </a:prstGeom>
          <a:noFill/>
        </p:spPr>
        <p:txBody>
          <a:bodyPr wrap="square" anchor="b" lIns="45720" rIns="45720" tIns="27432" bIns="27432">
            <a:spAutoFit/>
          </a:bodyPr>
          <a:lstStyle/>
          <a:p>
            <a:pPr algn="l"/>
            <a:r>
              <a:rPr sz="3000" b="1" i="0">
                <a:solidFill>
                  <a:srgbClr val="1C1B1A"/>
                </a:solidFill>
                <a:latin typeface="Georgia"/>
              </a:rPr>
              <a:t>What Version 2 changes</a:t>
            </a:r>
          </a:p>
        </p:txBody>
      </p:sp>
      <p:cxnSp>
        <p:nvCxnSpPr>
          <p:cNvPr id="3" name="Connector 2"/>
          <p:cNvCxnSpPr/>
          <p:nvPr/>
        </p:nvCxnSpPr>
        <p:spPr>
          <a:xfrm>
            <a:off x="685800" y="1280160"/>
            <a:ext cx="10820095" cy="0"/>
          </a:xfrm>
          <a:prstGeom prst="line">
            <a:avLst/>
          </a:prstGeom>
          <a:ln w="9525">
            <a:solidFill>
              <a:srgbClr val="D9D2C3"/>
            </a:solidFill>
          </a:ln>
        </p:spPr>
      </p:cxnSp>
      <p:sp>
        <p:nvSpPr>
          <p:cNvPr id="4" name="Rectangle 3"/>
          <p:cNvSpPr/>
          <p:nvPr/>
        </p:nvSpPr>
        <p:spPr>
          <a:xfrm>
            <a:off x="685800" y="1252728"/>
            <a:ext cx="822960" cy="45720"/>
          </a:xfrm>
          <a:prstGeom prst="rect">
            <a:avLst/>
          </a:prstGeom>
          <a:solidFill>
            <a:srgbClr val="B43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355080"/>
            <a:ext cx="9144000" cy="365760"/>
          </a:xfrm>
          <a:prstGeom prst="rect">
            <a:avLst/>
          </a:prstGeom>
          <a:noFill/>
        </p:spPr>
        <p:txBody>
          <a:bodyPr wrap="square" anchor="t" lIns="45720" rIns="45720" tIns="27432" bIns="27432">
            <a:spAutoFit/>
          </a:bodyPr>
          <a:lstStyle/>
          <a:p>
            <a:pPr algn="l"/>
            <a:r>
              <a:rPr sz="1600" b="0" i="0">
                <a:solidFill>
                  <a:srgbClr val="6B665C"/>
                </a:solidFill>
                <a:latin typeface="Segoe UI"/>
              </a:rPr>
              <a:t>Page Summarizer  |  Final-Semester Review (Version 2)</a:t>
            </a:r>
          </a:p>
        </p:txBody>
      </p:sp>
      <p:sp>
        <p:nvSpPr>
          <p:cNvPr id="6" name="TextBox 5"/>
          <p:cNvSpPr txBox="1"/>
          <p:nvPr/>
        </p:nvSpPr>
        <p:spPr>
          <a:xfrm>
            <a:off x="10591495" y="6355080"/>
            <a:ext cx="914400" cy="365760"/>
          </a:xfrm>
          <a:prstGeom prst="rect">
            <a:avLst/>
          </a:prstGeom>
          <a:noFill/>
        </p:spPr>
        <p:txBody>
          <a:bodyPr wrap="square" anchor="t" lIns="45720" rIns="45720" tIns="27432" bIns="27432">
            <a:spAutoFit/>
          </a:bodyPr>
          <a:lstStyle/>
          <a:p>
            <a:pPr algn="r"/>
            <a:r>
              <a:rPr sz="1600" b="0" i="0">
                <a:solidFill>
                  <a:srgbClr val="6B665C"/>
                </a:solidFill>
                <a:latin typeface="Segoe UI"/>
              </a:rPr>
              <a:t>4</a:t>
            </a:r>
          </a:p>
        </p:txBody>
      </p:sp>
      <p:graphicFrame>
        <p:nvGraphicFramePr>
          <p:cNvPr id="7" name="Table 6"/>
          <p:cNvGraphicFramePr>
            <a:graphicFrameLocks noGrp="1"/>
          </p:cNvGraphicFramePr>
          <p:nvPr/>
        </p:nvGraphicFramePr>
        <p:xfrm>
          <a:off x="685800" y="1600200"/>
          <a:ext cx="10820094" cy="3968496"/>
        </p:xfrm>
        <a:graphic>
          <a:graphicData uri="http://schemas.openxmlformats.org/drawingml/2006/table">
            <a:tbl>
              <a:tblPr firstRow="1">
                <a:tableStyleId>{2D5ABB26-0587-4C30-8999-92F81FD0307C}</a:tableStyleId>
              </a:tblPr>
              <a:tblGrid>
                <a:gridCol w="2567480"/>
                <a:gridCol w="4034611"/>
                <a:gridCol w="4218003"/>
              </a:tblGrid>
              <a:tr h="566928">
                <a:tc>
                  <a:txBody>
                    <a:bodyPr/>
                    <a:lstStyle/>
                    <a:p>
                      <a:r>
                        <a:rPr sz="1600" b="1">
                          <a:solidFill>
                            <a:srgbClr val="1C1B1A"/>
                          </a:solidFill>
                          <a:latin typeface="Segoe UI"/>
                        </a:rPr>
                        <a:t>Measure</a:t>
                      </a:r>
                    </a:p>
                  </a:txBody>
                  <a:tcPr anchor="ctr" marL="91440" marR="91440" marT="27432" marB="27432">
                    <a:lnB w="12700">
                      <a:solidFill>
                        <a:srgbClr val="1C1B1A"/>
                      </a:solidFill>
                    </a:lnB>
                    <a:noFill/>
                  </a:tcPr>
                </a:tc>
                <a:tc>
                  <a:txBody>
                    <a:bodyPr/>
                    <a:lstStyle/>
                    <a:p>
                      <a:r>
                        <a:rPr sz="1600" b="1">
                          <a:solidFill>
                            <a:srgbClr val="1C1B1A"/>
                          </a:solidFill>
                          <a:latin typeface="Segoe UI"/>
                        </a:rPr>
                        <a:t>Version 1 (cloud Gemini)</a:t>
                      </a:r>
                    </a:p>
                  </a:txBody>
                  <a:tcPr anchor="ctr" marL="91440" marR="91440" marT="27432" marB="27432">
                    <a:lnB w="12700">
                      <a:solidFill>
                        <a:srgbClr val="1C1B1A"/>
                      </a:solidFill>
                    </a:lnB>
                    <a:noFill/>
                  </a:tcPr>
                </a:tc>
                <a:tc>
                  <a:txBody>
                    <a:bodyPr/>
                    <a:lstStyle/>
                    <a:p>
                      <a:r>
                        <a:rPr sz="1600" b="1">
                          <a:solidFill>
                            <a:srgbClr val="1C1B1A"/>
                          </a:solidFill>
                          <a:latin typeface="Segoe UI"/>
                        </a:rPr>
                        <a:t>Version 2 (this laptop)</a:t>
                      </a:r>
                    </a:p>
                  </a:txBody>
                  <a:tcPr anchor="ctr" marL="91440" marR="91440" marT="27432" marB="27432">
                    <a:lnB w="12700">
                      <a:solidFill>
                        <a:srgbClr val="1C1B1A"/>
                      </a:solidFill>
                    </a:lnB>
                    <a:noFill/>
                  </a:tcPr>
                </a:tc>
              </a:tr>
              <a:tr h="566928">
                <a:tc>
                  <a:txBody>
                    <a:bodyPr/>
                    <a:lstStyle/>
                    <a:p>
                      <a:r>
                        <a:rPr sz="1600" b="0">
                          <a:solidFill>
                            <a:srgbClr val="1C1B1A"/>
                          </a:solidFill>
                          <a:latin typeface="Segoe UI"/>
                        </a:rPr>
                        <a:t>Model</a:t>
                      </a:r>
                    </a:p>
                  </a:txBody>
                  <a:tcPr anchor="ctr" marL="91440" marR="91440" marT="27432" marB="27432">
                    <a:lnB w="9525">
                      <a:solidFill>
                        <a:srgbClr val="D9D2C3"/>
                      </a:solidFill>
                    </a:lnB>
                    <a:noFill/>
                  </a:tcPr>
                </a:tc>
                <a:tc>
                  <a:txBody>
                    <a:bodyPr/>
                    <a:lstStyle/>
                    <a:p>
                      <a:r>
                        <a:rPr sz="1600" b="0">
                          <a:solidFill>
                            <a:srgbClr val="1C1B1A"/>
                          </a:solidFill>
                          <a:latin typeface="Segoe UI"/>
                        </a:rPr>
                        <a:t>gemini-3.5-flash-lite, run by Google</a:t>
                      </a:r>
                    </a:p>
                  </a:txBody>
                  <a:tcPr anchor="ctr" marL="91440" marR="91440" marT="27432" marB="27432">
                    <a:lnB w="9525">
                      <a:solidFill>
                        <a:srgbClr val="D9D2C3"/>
                      </a:solidFill>
                    </a:lnB>
                    <a:noFill/>
                  </a:tcPr>
                </a:tc>
                <a:tc>
                  <a:txBody>
                    <a:bodyPr/>
                    <a:lstStyle/>
                    <a:p>
                      <a:r>
                        <a:rPr sz="1600" b="0">
                          <a:solidFill>
                            <a:srgbClr val="1C1B1A"/>
                          </a:solidFill>
                          <a:latin typeface="Segoe UI"/>
                        </a:rPr>
                        <a:t>Llama 3.2 1B on the graphics card (SmolLM2 360M on Intel)</a:t>
                      </a:r>
                    </a:p>
                  </a:txBody>
                  <a:tcPr anchor="ctr" marL="91440" marR="91440" marT="27432" marB="27432">
                    <a:lnB w="9525">
                      <a:solidFill>
                        <a:srgbClr val="D9D2C3"/>
                      </a:solidFill>
                    </a:lnB>
                    <a:noFill/>
                  </a:tcPr>
                </a:tc>
              </a:tr>
              <a:tr h="566928">
                <a:tc>
                  <a:txBody>
                    <a:bodyPr/>
                    <a:lstStyle/>
                    <a:p>
                      <a:r>
                        <a:rPr sz="1600" b="0">
                          <a:solidFill>
                            <a:srgbClr val="1C1B1A"/>
                          </a:solidFill>
                          <a:latin typeface="Segoe UI"/>
                        </a:rPr>
                        <a:t>API key</a:t>
                      </a:r>
                    </a:p>
                  </a:txBody>
                  <a:tcPr anchor="ctr" marL="91440" marR="91440" marT="27432" marB="27432">
                    <a:lnB w="9525">
                      <a:solidFill>
                        <a:srgbClr val="D9D2C3"/>
                      </a:solidFill>
                    </a:lnB>
                    <a:noFill/>
                  </a:tcPr>
                </a:tc>
                <a:tc>
                  <a:txBody>
                    <a:bodyPr/>
                    <a:lstStyle/>
                    <a:p>
                      <a:r>
                        <a:rPr sz="1600" b="0">
                          <a:solidFill>
                            <a:srgbClr val="1C1B1A"/>
                          </a:solidFill>
                          <a:latin typeface="Segoe UI"/>
                        </a:rPr>
                        <a:t>Needed: a free key, pasted in the popup</a:t>
                      </a:r>
                    </a:p>
                  </a:txBody>
                  <a:tcPr anchor="ctr" marL="91440" marR="91440" marT="27432" marB="27432">
                    <a:lnB w="9525">
                      <a:solidFill>
                        <a:srgbClr val="D9D2C3"/>
                      </a:solidFill>
                    </a:lnB>
                    <a:noFill/>
                  </a:tcPr>
                </a:tc>
                <a:tc>
                  <a:txBody>
                    <a:bodyPr/>
                    <a:lstStyle/>
                    <a:p>
                      <a:r>
                        <a:rPr sz="1600" b="0">
                          <a:solidFill>
                            <a:srgbClr val="1C1B1A"/>
                          </a:solidFill>
                          <a:latin typeface="Segoe UI"/>
                        </a:rPr>
                        <a:t>Not needed</a:t>
                      </a:r>
                    </a:p>
                  </a:txBody>
                  <a:tcPr anchor="ctr" marL="91440" marR="91440" marT="27432" marB="27432">
                    <a:lnB w="9525">
                      <a:solidFill>
                        <a:srgbClr val="D9D2C3"/>
                      </a:solidFill>
                    </a:lnB>
                    <a:noFill/>
                  </a:tcPr>
                </a:tc>
              </a:tr>
              <a:tr h="566928">
                <a:tc>
                  <a:txBody>
                    <a:bodyPr/>
                    <a:lstStyle/>
                    <a:p>
                      <a:r>
                        <a:rPr sz="1600" b="0">
                          <a:solidFill>
                            <a:srgbClr val="1C1B1A"/>
                          </a:solidFill>
                          <a:latin typeface="Segoe UI"/>
                        </a:rPr>
                        <a:t>Internet</a:t>
                      </a:r>
                    </a:p>
                  </a:txBody>
                  <a:tcPr anchor="ctr" marL="91440" marR="91440" marT="27432" marB="27432">
                    <a:lnB w="9525">
                      <a:solidFill>
                        <a:srgbClr val="D9D2C3"/>
                      </a:solidFill>
                    </a:lnB>
                    <a:noFill/>
                  </a:tcPr>
                </a:tc>
                <a:tc>
                  <a:txBody>
                    <a:bodyPr/>
                    <a:lstStyle/>
                    <a:p>
                      <a:r>
                        <a:rPr sz="1600" b="0">
                          <a:solidFill>
                            <a:srgbClr val="1C1B1A"/>
                          </a:solidFill>
                          <a:latin typeface="Segoe UI"/>
                        </a:rPr>
                        <a:t>Needed for every summary</a:t>
                      </a:r>
                    </a:p>
                  </a:txBody>
                  <a:tcPr anchor="ctr" marL="91440" marR="91440" marT="27432" marB="27432">
                    <a:lnB w="9525">
                      <a:solidFill>
                        <a:srgbClr val="D9D2C3"/>
                      </a:solidFill>
                    </a:lnB>
                    <a:noFill/>
                  </a:tcPr>
                </a:tc>
                <a:tc>
                  <a:txBody>
                    <a:bodyPr/>
                    <a:lstStyle/>
                    <a:p>
                      <a:r>
                        <a:rPr sz="1600" b="0">
                          <a:solidFill>
                            <a:srgbClr val="1C1B1A"/>
                          </a:solidFill>
                          <a:latin typeface="Segoe UI"/>
                        </a:rPr>
                        <a:t>Once, to download about 695 MB</a:t>
                      </a:r>
                    </a:p>
                  </a:txBody>
                  <a:tcPr anchor="ctr" marL="91440" marR="91440" marT="27432" marB="27432">
                    <a:lnB w="9525">
                      <a:solidFill>
                        <a:srgbClr val="D9D2C3"/>
                      </a:solidFill>
                    </a:lnB>
                    <a:noFill/>
                  </a:tcPr>
                </a:tc>
              </a:tr>
              <a:tr h="566928">
                <a:tc>
                  <a:txBody>
                    <a:bodyPr/>
                    <a:lstStyle/>
                    <a:p>
                      <a:r>
                        <a:rPr sz="1600" b="0">
                          <a:solidFill>
                            <a:srgbClr val="1C1B1A"/>
                          </a:solidFill>
                          <a:latin typeface="Segoe UI"/>
                        </a:rPr>
                        <a:t>Where page text goes</a:t>
                      </a:r>
                    </a:p>
                  </a:txBody>
                  <a:tcPr anchor="ctr" marL="91440" marR="91440" marT="27432" marB="27432">
                    <a:lnB w="9525">
                      <a:solidFill>
                        <a:srgbClr val="D9D2C3"/>
                      </a:solidFill>
                    </a:lnB>
                    <a:noFill/>
                  </a:tcPr>
                </a:tc>
                <a:tc>
                  <a:txBody>
                    <a:bodyPr/>
                    <a:lstStyle/>
                    <a:p>
                      <a:r>
                        <a:rPr sz="1600" b="0">
                          <a:solidFill>
                            <a:srgbClr val="1C1B1A"/>
                          </a:solidFill>
                          <a:latin typeface="Segoe UI"/>
                        </a:rPr>
                        <a:t>Sent to Google over HTTPS</a:t>
                      </a:r>
                    </a:p>
                  </a:txBody>
                  <a:tcPr anchor="ctr" marL="91440" marR="91440" marT="27432" marB="27432">
                    <a:lnB w="9525">
                      <a:solidFill>
                        <a:srgbClr val="D9D2C3"/>
                      </a:solidFill>
                    </a:lnB>
                    <a:noFill/>
                  </a:tcPr>
                </a:tc>
                <a:tc>
                  <a:txBody>
                    <a:bodyPr/>
                    <a:lstStyle/>
                    <a:p>
                      <a:r>
                        <a:rPr sz="1600" b="0">
                          <a:solidFill>
                            <a:srgbClr val="1C1B1A"/>
                          </a:solidFill>
                          <a:latin typeface="Segoe UI"/>
                        </a:rPr>
                        <a:t>Stays on this laptop</a:t>
                      </a:r>
                    </a:p>
                  </a:txBody>
                  <a:tcPr anchor="ctr" marL="91440" marR="91440" marT="27432" marB="27432">
                    <a:lnB w="9525">
                      <a:solidFill>
                        <a:srgbClr val="D9D2C3"/>
                      </a:solidFill>
                    </a:lnB>
                    <a:noFill/>
                  </a:tcPr>
                </a:tc>
              </a:tr>
              <a:tr h="566928">
                <a:tc>
                  <a:txBody>
                    <a:bodyPr/>
                    <a:lstStyle/>
                    <a:p>
                      <a:r>
                        <a:rPr sz="1600" b="0">
                          <a:solidFill>
                            <a:srgbClr val="1C1B1A"/>
                          </a:solidFill>
                          <a:latin typeface="Segoe UI"/>
                        </a:rPr>
                        <a:t>Free-tier limit</a:t>
                      </a:r>
                    </a:p>
                  </a:txBody>
                  <a:tcPr anchor="ctr" marL="91440" marR="91440" marT="27432" marB="27432">
                    <a:lnB w="9525">
                      <a:solidFill>
                        <a:srgbClr val="D9D2C3"/>
                      </a:solidFill>
                    </a:lnB>
                    <a:noFill/>
                  </a:tcPr>
                </a:tc>
                <a:tc>
                  <a:txBody>
                    <a:bodyPr/>
                    <a:lstStyle/>
                    <a:p>
                      <a:r>
                        <a:rPr sz="1600" b="0">
                          <a:solidFill>
                            <a:srgbClr val="1C1B1A"/>
                          </a:solidFill>
                          <a:latin typeface="Segoe UI"/>
                        </a:rPr>
                        <a:t>Quota named by the service (15 a minute for the default model)</a:t>
                      </a:r>
                    </a:p>
                  </a:txBody>
                  <a:tcPr anchor="ctr" marL="91440" marR="91440" marT="27432" marB="27432">
                    <a:lnB w="9525">
                      <a:solidFill>
                        <a:srgbClr val="D9D2C3"/>
                      </a:solidFill>
                    </a:lnB>
                    <a:noFill/>
                  </a:tcPr>
                </a:tc>
                <a:tc>
                  <a:txBody>
                    <a:bodyPr/>
                    <a:lstStyle/>
                    <a:p>
                      <a:r>
                        <a:rPr sz="1600" b="0">
                          <a:solidFill>
                            <a:srgbClr val="1C1B1A"/>
                          </a:solidFill>
                          <a:latin typeface="Segoe UI"/>
                        </a:rPr>
                        <a:t>No service quota; a page over 12 parts is refused</a:t>
                      </a:r>
                    </a:p>
                  </a:txBody>
                  <a:tcPr anchor="ctr" marL="91440" marR="91440" marT="27432" marB="27432">
                    <a:lnB w="9525">
                      <a:solidFill>
                        <a:srgbClr val="D9D2C3"/>
                      </a:solidFill>
                    </a:lnB>
                    <a:noFill/>
                  </a:tcPr>
                </a:tc>
              </a:tr>
              <a:tr h="566928">
                <a:tc>
                  <a:txBody>
                    <a:bodyPr/>
                    <a:lstStyle/>
                    <a:p>
                      <a:r>
                        <a:rPr sz="1600" b="0">
                          <a:solidFill>
                            <a:srgbClr val="1C1B1A"/>
                          </a:solidFill>
                          <a:latin typeface="Segoe UI"/>
                        </a:rPr>
                        <a:t>Speed</a:t>
                      </a:r>
                    </a:p>
                  </a:txBody>
                  <a:tcPr anchor="ctr" marL="91440" marR="91440" marT="27432" marB="27432">
                    <a:lnB w="9525">
                      <a:solidFill>
                        <a:srgbClr val="D9D2C3"/>
                      </a:solidFill>
                    </a:lnB>
                    <a:noFill/>
                  </a:tcPr>
                </a:tc>
                <a:tc>
                  <a:txBody>
                    <a:bodyPr/>
                    <a:lstStyle/>
                    <a:p>
                      <a:r>
                        <a:rPr sz="1600" b="0">
                          <a:solidFill>
                            <a:srgbClr val="1C1B1A"/>
                          </a:solidFill>
                          <a:latin typeface="Segoe UI"/>
                        </a:rPr>
                        <a:t>Measured in the mid-semester deck</a:t>
                      </a:r>
                    </a:p>
                  </a:txBody>
                  <a:tcPr anchor="ctr" marL="91440" marR="91440" marT="27432" marB="27432">
                    <a:lnB w="9525">
                      <a:solidFill>
                        <a:srgbClr val="D9D2C3"/>
                      </a:solidFill>
                    </a:lnB>
                    <a:noFill/>
                  </a:tcPr>
                </a:tc>
                <a:tc>
                  <a:txBody>
                    <a:bodyPr/>
                    <a:lstStyle/>
                    <a:p>
                      <a:r>
                        <a:rPr sz="1600" b="0">
                          <a:solidFill>
                            <a:srgbClr val="1C1B1A"/>
                          </a:solidFill>
                          <a:latin typeface="Segoe UI"/>
                        </a:rPr>
                        <a:t>15.3 s to 17.7 s for a short article, model stored</a:t>
                      </a:r>
                    </a:p>
                  </a:txBody>
                  <a:tcPr anchor="ctr" marL="91440" marR="91440" marT="27432" marB="27432">
                    <a:lnB w="9525">
                      <a:solidFill>
                        <a:srgbClr val="D9D2C3"/>
                      </a:solidFill>
                    </a:lnB>
                    <a:noFill/>
                  </a:tcPr>
                </a:tc>
              </a:tr>
            </a:tbl>
          </a:graphicData>
        </a:graphic>
      </p:graphicFrame>
      <p:sp>
        <p:nvSpPr>
          <p:cNvPr id="8" name="TextBox 7"/>
          <p:cNvSpPr txBox="1"/>
          <p:nvPr/>
        </p:nvSpPr>
        <p:spPr>
          <a:xfrm>
            <a:off x="685800" y="5705856"/>
            <a:ext cx="10820095" cy="640080"/>
          </a:xfrm>
          <a:prstGeom prst="rect">
            <a:avLst/>
          </a:prstGeom>
          <a:noFill/>
        </p:spPr>
        <p:txBody>
          <a:bodyPr wrap="square" anchor="t" lIns="45720" rIns="45720" tIns="27432" bIns="27432">
            <a:spAutoFit/>
          </a:bodyPr>
          <a:lstStyle/>
          <a:p>
            <a:pPr algn="l"/>
            <a:r>
              <a:rPr sz="1600" b="0" i="1">
                <a:solidFill>
                  <a:srgbClr val="6B665C"/>
                </a:solidFill>
                <a:latin typeface="Segoe UI"/>
              </a:rPr>
              <a:t>Summary quality was not measured in either version. Version 1 timings are in the mid-semester deck.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TextBox 1"/>
          <p:cNvSpPr txBox="1"/>
          <p:nvPr/>
        </p:nvSpPr>
        <p:spPr>
          <a:xfrm>
            <a:off x="685800" y="411480"/>
            <a:ext cx="10820095" cy="777240"/>
          </a:xfrm>
          <a:prstGeom prst="rect">
            <a:avLst/>
          </a:prstGeom>
          <a:noFill/>
        </p:spPr>
        <p:txBody>
          <a:bodyPr wrap="square" anchor="b" lIns="45720" rIns="45720" tIns="27432" bIns="27432">
            <a:spAutoFit/>
          </a:bodyPr>
          <a:lstStyle/>
          <a:p>
            <a:pPr algn="l"/>
            <a:r>
              <a:rPr sz="3000" b="1" i="0">
                <a:solidFill>
                  <a:srgbClr val="1C1B1A"/>
                </a:solidFill>
                <a:latin typeface="Georgia"/>
              </a:rPr>
              <a:t>What a language model is, and the numbers</a:t>
            </a:r>
          </a:p>
        </p:txBody>
      </p:sp>
      <p:cxnSp>
        <p:nvCxnSpPr>
          <p:cNvPr id="3" name="Connector 2"/>
          <p:cNvCxnSpPr/>
          <p:nvPr/>
        </p:nvCxnSpPr>
        <p:spPr>
          <a:xfrm>
            <a:off x="685800" y="1280160"/>
            <a:ext cx="10820095" cy="0"/>
          </a:xfrm>
          <a:prstGeom prst="line">
            <a:avLst/>
          </a:prstGeom>
          <a:ln w="9525">
            <a:solidFill>
              <a:srgbClr val="D9D2C3"/>
            </a:solidFill>
          </a:ln>
        </p:spPr>
      </p:cxnSp>
      <p:sp>
        <p:nvSpPr>
          <p:cNvPr id="4" name="Rectangle 3"/>
          <p:cNvSpPr/>
          <p:nvPr/>
        </p:nvSpPr>
        <p:spPr>
          <a:xfrm>
            <a:off x="685800" y="1252728"/>
            <a:ext cx="822960" cy="45720"/>
          </a:xfrm>
          <a:prstGeom prst="rect">
            <a:avLst/>
          </a:prstGeom>
          <a:solidFill>
            <a:srgbClr val="B43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355080"/>
            <a:ext cx="9144000" cy="365760"/>
          </a:xfrm>
          <a:prstGeom prst="rect">
            <a:avLst/>
          </a:prstGeom>
          <a:noFill/>
        </p:spPr>
        <p:txBody>
          <a:bodyPr wrap="square" anchor="t" lIns="45720" rIns="45720" tIns="27432" bIns="27432">
            <a:spAutoFit/>
          </a:bodyPr>
          <a:lstStyle/>
          <a:p>
            <a:pPr algn="l"/>
            <a:r>
              <a:rPr sz="1600" b="0" i="0">
                <a:solidFill>
                  <a:srgbClr val="6B665C"/>
                </a:solidFill>
                <a:latin typeface="Segoe UI"/>
              </a:rPr>
              <a:t>Page Summarizer  |  Final-Semester Review (Version 2)</a:t>
            </a:r>
          </a:p>
        </p:txBody>
      </p:sp>
      <p:sp>
        <p:nvSpPr>
          <p:cNvPr id="6" name="TextBox 5"/>
          <p:cNvSpPr txBox="1"/>
          <p:nvPr/>
        </p:nvSpPr>
        <p:spPr>
          <a:xfrm>
            <a:off x="10591495" y="6355080"/>
            <a:ext cx="914400" cy="365760"/>
          </a:xfrm>
          <a:prstGeom prst="rect">
            <a:avLst/>
          </a:prstGeom>
          <a:noFill/>
        </p:spPr>
        <p:txBody>
          <a:bodyPr wrap="square" anchor="t" lIns="45720" rIns="45720" tIns="27432" bIns="27432">
            <a:spAutoFit/>
          </a:bodyPr>
          <a:lstStyle/>
          <a:p>
            <a:pPr algn="r"/>
            <a:r>
              <a:rPr sz="1600" b="0" i="0">
                <a:solidFill>
                  <a:srgbClr val="6B665C"/>
                </a:solidFill>
                <a:latin typeface="Segoe UI"/>
              </a:rPr>
              <a:t>5</a:t>
            </a:r>
          </a:p>
        </p:txBody>
      </p:sp>
      <p:sp>
        <p:nvSpPr>
          <p:cNvPr id="7" name="TextBox 6"/>
          <p:cNvSpPr txBox="1"/>
          <p:nvPr/>
        </p:nvSpPr>
        <p:spPr>
          <a:xfrm>
            <a:off x="685800" y="1600200"/>
            <a:ext cx="5135727" cy="457200"/>
          </a:xfrm>
          <a:prstGeom prst="rect">
            <a:avLst/>
          </a:prstGeom>
          <a:noFill/>
        </p:spPr>
        <p:txBody>
          <a:bodyPr wrap="square" anchor="b" lIns="45720" rIns="45720" tIns="27432" bIns="27432">
            <a:spAutoFit/>
          </a:bodyPr>
          <a:lstStyle/>
          <a:p>
            <a:pPr algn="l"/>
            <a:r>
              <a:rPr sz="2000" b="1" i="0">
                <a:solidFill>
                  <a:srgbClr val="1C1B1A"/>
                </a:solidFill>
                <a:latin typeface="Georgia"/>
              </a:rPr>
              <a:t>What it is</a:t>
            </a:r>
          </a:p>
        </p:txBody>
      </p:sp>
      <p:cxnSp>
        <p:nvCxnSpPr>
          <p:cNvPr id="8" name="Connector 7"/>
          <p:cNvCxnSpPr/>
          <p:nvPr/>
        </p:nvCxnSpPr>
        <p:spPr>
          <a:xfrm>
            <a:off x="685800" y="2148840"/>
            <a:ext cx="5135727" cy="0"/>
          </a:xfrm>
          <a:prstGeom prst="line">
            <a:avLst/>
          </a:prstGeom>
          <a:ln w="9525">
            <a:solidFill>
              <a:srgbClr val="D9D2C3"/>
            </a:solidFill>
          </a:ln>
        </p:spPr>
      </p:cxnSp>
      <p:sp>
        <p:nvSpPr>
          <p:cNvPr id="9" name="TextBox 8"/>
          <p:cNvSpPr txBox="1"/>
          <p:nvPr/>
        </p:nvSpPr>
        <p:spPr>
          <a:xfrm>
            <a:off x="685800" y="2286000"/>
            <a:ext cx="5135727" cy="3840480"/>
          </a:xfrm>
          <a:prstGeom prst="rect">
            <a:avLst/>
          </a:prstGeom>
          <a:noFill/>
        </p:spPr>
        <p:txBody>
          <a:bodyPr wrap="square" lIns="45720" rIns="45720">
            <a:spAutoFit/>
          </a:bodyPr>
          <a:lstStyle/>
          <a:p>
            <a:pPr marL="320040" indent="-320040">
              <a:lnSpc>
                <a:spcPct val="105000"/>
              </a:lnSpc>
              <a:spcAft>
                <a:spcPts val="1200"/>
              </a:spcAft>
              <a:buClr>
                <a:srgbClr val="B4391F"/>
              </a:buClr>
              <a:buFont typeface="Arial"/>
              <a:buChar char="•"/>
            </a:pPr>
            <a:r>
              <a:rPr sz="2000">
                <a:solidFill>
                  <a:srgbClr val="1C1B1A"/>
                </a:solidFill>
                <a:latin typeface="Segoe UI"/>
              </a:rPr>
              <a:t>A language model guesses the next piece of text, one piece at a time.</a:t>
            </a:r>
          </a:p>
          <a:p>
            <a:pPr marL="320040" indent="-320040">
              <a:lnSpc>
                <a:spcPct val="105000"/>
              </a:lnSpc>
              <a:spcAft>
                <a:spcPts val="1200"/>
              </a:spcAft>
              <a:buClr>
                <a:srgbClr val="B4391F"/>
              </a:buClr>
              <a:buFont typeface="Arial"/>
              <a:buChar char="•"/>
            </a:pPr>
            <a:r>
              <a:rPr sz="2000">
                <a:solidFill>
                  <a:srgbClr val="1C1B1A"/>
                </a:solidFill>
                <a:latin typeface="Segoe UI"/>
              </a:rPr>
              <a:t>Learning set its stored numbers, called parameters. The project only reads them.</a:t>
            </a:r>
          </a:p>
          <a:p>
            <a:pPr marL="320040" indent="-320040">
              <a:lnSpc>
                <a:spcPct val="105000"/>
              </a:lnSpc>
              <a:spcAft>
                <a:spcPts val="1200"/>
              </a:spcAft>
              <a:buClr>
                <a:srgbClr val="B4391F"/>
              </a:buClr>
              <a:buFont typeface="Arial"/>
              <a:buChar char="•"/>
            </a:pPr>
            <a:r>
              <a:rPr sz="2000">
                <a:solidFill>
                  <a:srgbClr val="1C1B1A"/>
                </a:solidFill>
                <a:latin typeface="Segoe UI"/>
              </a:rPr>
              <a:t>The model here is Llama 3.2 1B, tuned to follow plain requests in English.</a:t>
            </a:r>
          </a:p>
        </p:txBody>
      </p:sp>
      <p:sp>
        <p:nvSpPr>
          <p:cNvPr id="10" name="TextBox 9"/>
          <p:cNvSpPr txBox="1"/>
          <p:nvPr/>
        </p:nvSpPr>
        <p:spPr>
          <a:xfrm>
            <a:off x="6370167" y="1600200"/>
            <a:ext cx="5135727" cy="457200"/>
          </a:xfrm>
          <a:prstGeom prst="rect">
            <a:avLst/>
          </a:prstGeom>
          <a:noFill/>
        </p:spPr>
        <p:txBody>
          <a:bodyPr wrap="square" anchor="b" lIns="45720" rIns="45720" tIns="27432" bIns="27432">
            <a:spAutoFit/>
          </a:bodyPr>
          <a:lstStyle/>
          <a:p>
            <a:pPr algn="l"/>
            <a:r>
              <a:rPr sz="2000" b="1" i="0">
                <a:solidFill>
                  <a:srgbClr val="1C1B1A"/>
                </a:solidFill>
                <a:latin typeface="Georgia"/>
              </a:rPr>
              <a:t>The numbers</a:t>
            </a:r>
          </a:p>
        </p:txBody>
      </p:sp>
      <p:cxnSp>
        <p:nvCxnSpPr>
          <p:cNvPr id="11" name="Connector 10"/>
          <p:cNvCxnSpPr/>
          <p:nvPr/>
        </p:nvCxnSpPr>
        <p:spPr>
          <a:xfrm>
            <a:off x="6370167" y="2148840"/>
            <a:ext cx="5135727" cy="0"/>
          </a:xfrm>
          <a:prstGeom prst="line">
            <a:avLst/>
          </a:prstGeom>
          <a:ln w="9525">
            <a:solidFill>
              <a:srgbClr val="D9D2C3"/>
            </a:solidFill>
          </a:ln>
        </p:spPr>
      </p:cxnSp>
      <p:sp>
        <p:nvSpPr>
          <p:cNvPr id="12" name="TextBox 11"/>
          <p:cNvSpPr txBox="1"/>
          <p:nvPr/>
        </p:nvSpPr>
        <p:spPr>
          <a:xfrm>
            <a:off x="6370167" y="2286000"/>
            <a:ext cx="5135727" cy="3840480"/>
          </a:xfrm>
          <a:prstGeom prst="rect">
            <a:avLst/>
          </a:prstGeom>
          <a:noFill/>
        </p:spPr>
        <p:txBody>
          <a:bodyPr wrap="square" lIns="45720" rIns="45720">
            <a:spAutoFit/>
          </a:bodyPr>
          <a:lstStyle/>
          <a:p>
            <a:pPr marL="320040" indent="-320040">
              <a:lnSpc>
                <a:spcPct val="105000"/>
              </a:lnSpc>
              <a:spcAft>
                <a:spcPts val="1200"/>
              </a:spcAft>
              <a:buClr>
                <a:srgbClr val="B4391F"/>
              </a:buClr>
              <a:buFont typeface="Arial"/>
              <a:buChar char="•"/>
            </a:pPr>
            <a:r>
              <a:rPr sz="2000">
                <a:solidFill>
                  <a:srgbClr val="1C1B1A"/>
                </a:solidFill>
                <a:latin typeface="Segoe UI"/>
              </a:rPr>
              <a:t>A token is a piece of text, about four characters of English. A rule of thumb.</a:t>
            </a:r>
          </a:p>
          <a:p>
            <a:pPr marL="320040" indent="-320040">
              <a:lnSpc>
                <a:spcPct val="105000"/>
              </a:lnSpc>
              <a:spcAft>
                <a:spcPts val="1200"/>
              </a:spcAft>
              <a:buClr>
                <a:srgbClr val="B4391F"/>
              </a:buClr>
              <a:buFont typeface="Arial"/>
              <a:buChar char="•"/>
            </a:pPr>
            <a:r>
              <a:rPr sz="2000">
                <a:solidFill>
                  <a:srgbClr val="1C1B1A"/>
                </a:solidFill>
                <a:latin typeface="Segoe UI"/>
              </a:rPr>
              <a:t>A part of 6,000 characters is about 1,500 tokens.</a:t>
            </a:r>
          </a:p>
          <a:p>
            <a:pPr marL="320040" indent="-320040">
              <a:lnSpc>
                <a:spcPct val="105000"/>
              </a:lnSpc>
              <a:spcAft>
                <a:spcPts val="1200"/>
              </a:spcAft>
              <a:buClr>
                <a:srgbClr val="B4391F"/>
              </a:buClr>
              <a:buFont typeface="Arial"/>
              <a:buChar char="•"/>
            </a:pPr>
            <a:r>
              <a:rPr sz="2000">
                <a:solidFill>
                  <a:srgbClr val="1C1B1A"/>
                </a:solidFill>
                <a:latin typeface="Segoe UI"/>
              </a:rPr>
              <a:t>Context window: 4,096 tokens. Like a desk that holds only so many pages.</a:t>
            </a:r>
          </a:p>
          <a:p>
            <a:pPr marL="320040" indent="-320040">
              <a:lnSpc>
                <a:spcPct val="105000"/>
              </a:lnSpc>
              <a:spcAft>
                <a:spcPts val="1200"/>
              </a:spcAft>
              <a:buClr>
                <a:srgbClr val="B4391F"/>
              </a:buClr>
              <a:buFont typeface="Arial"/>
              <a:buChar char="•"/>
            </a:pPr>
            <a:r>
              <a:rPr sz="2000">
                <a:solidFill>
                  <a:srgbClr val="1C1B1A"/>
                </a:solidFill>
                <a:latin typeface="Segoe UI"/>
              </a:rPr>
              <a:t>The instructions, the part and the answer must all fit in it at once.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TextBox 1"/>
          <p:cNvSpPr txBox="1"/>
          <p:nvPr/>
        </p:nvSpPr>
        <p:spPr>
          <a:xfrm>
            <a:off x="685800" y="411480"/>
            <a:ext cx="10820095" cy="777240"/>
          </a:xfrm>
          <a:prstGeom prst="rect">
            <a:avLst/>
          </a:prstGeom>
          <a:noFill/>
        </p:spPr>
        <p:txBody>
          <a:bodyPr wrap="square" anchor="b" lIns="45720" rIns="45720" tIns="27432" bIns="27432">
            <a:spAutoFit/>
          </a:bodyPr>
          <a:lstStyle/>
          <a:p>
            <a:pPr algn="l"/>
            <a:r>
              <a:rPr sz="3000" b="1" i="0">
                <a:solidFill>
                  <a:srgbClr val="1C1B1A"/>
                </a:solidFill>
                <a:latin typeface="Georgia"/>
              </a:rPr>
              <a:t>How a model writes: reading, then one token at a time</a:t>
            </a:r>
          </a:p>
        </p:txBody>
      </p:sp>
      <p:cxnSp>
        <p:nvCxnSpPr>
          <p:cNvPr id="3" name="Connector 2"/>
          <p:cNvCxnSpPr/>
          <p:nvPr/>
        </p:nvCxnSpPr>
        <p:spPr>
          <a:xfrm>
            <a:off x="685800" y="1280160"/>
            <a:ext cx="10820095" cy="0"/>
          </a:xfrm>
          <a:prstGeom prst="line">
            <a:avLst/>
          </a:prstGeom>
          <a:ln w="9525">
            <a:solidFill>
              <a:srgbClr val="D9D2C3"/>
            </a:solidFill>
          </a:ln>
        </p:spPr>
      </p:cxnSp>
      <p:sp>
        <p:nvSpPr>
          <p:cNvPr id="4" name="Rectangle 3"/>
          <p:cNvSpPr/>
          <p:nvPr/>
        </p:nvSpPr>
        <p:spPr>
          <a:xfrm>
            <a:off x="685800" y="1252728"/>
            <a:ext cx="822960" cy="45720"/>
          </a:xfrm>
          <a:prstGeom prst="rect">
            <a:avLst/>
          </a:prstGeom>
          <a:solidFill>
            <a:srgbClr val="B43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355080"/>
            <a:ext cx="9144000" cy="365760"/>
          </a:xfrm>
          <a:prstGeom prst="rect">
            <a:avLst/>
          </a:prstGeom>
          <a:noFill/>
        </p:spPr>
        <p:txBody>
          <a:bodyPr wrap="square" anchor="t" lIns="45720" rIns="45720" tIns="27432" bIns="27432">
            <a:spAutoFit/>
          </a:bodyPr>
          <a:lstStyle/>
          <a:p>
            <a:pPr algn="l"/>
            <a:r>
              <a:rPr sz="1600" b="0" i="0">
                <a:solidFill>
                  <a:srgbClr val="6B665C"/>
                </a:solidFill>
                <a:latin typeface="Segoe UI"/>
              </a:rPr>
              <a:t>Page Summarizer  |  Final-Semester Review (Version 2)</a:t>
            </a:r>
          </a:p>
        </p:txBody>
      </p:sp>
      <p:sp>
        <p:nvSpPr>
          <p:cNvPr id="6" name="TextBox 5"/>
          <p:cNvSpPr txBox="1"/>
          <p:nvPr/>
        </p:nvSpPr>
        <p:spPr>
          <a:xfrm>
            <a:off x="10591495" y="6355080"/>
            <a:ext cx="914400" cy="365760"/>
          </a:xfrm>
          <a:prstGeom prst="rect">
            <a:avLst/>
          </a:prstGeom>
          <a:noFill/>
        </p:spPr>
        <p:txBody>
          <a:bodyPr wrap="square" anchor="t" lIns="45720" rIns="45720" tIns="27432" bIns="27432">
            <a:spAutoFit/>
          </a:bodyPr>
          <a:lstStyle/>
          <a:p>
            <a:pPr algn="r"/>
            <a:r>
              <a:rPr sz="1600" b="0" i="0">
                <a:solidFill>
                  <a:srgbClr val="6B665C"/>
                </a:solidFill>
                <a:latin typeface="Segoe UI"/>
              </a:rPr>
              <a:t>6</a:t>
            </a:r>
          </a:p>
        </p:txBody>
      </p:sp>
      <p:graphicFrame>
        <p:nvGraphicFramePr>
          <p:cNvPr id="7" name="Table 6"/>
          <p:cNvGraphicFramePr>
            <a:graphicFrameLocks noGrp="1"/>
          </p:cNvGraphicFramePr>
          <p:nvPr/>
        </p:nvGraphicFramePr>
        <p:xfrm>
          <a:off x="685800" y="1600200"/>
          <a:ext cx="10820093" cy="2834640"/>
        </p:xfrm>
        <a:graphic>
          <a:graphicData uri="http://schemas.openxmlformats.org/drawingml/2006/table">
            <a:tbl>
              <a:tblPr firstRow="1">
                <a:tableStyleId>{2D5ABB26-0587-4C30-8999-92F81FD0307C}</a:tableStyleId>
              </a:tblPr>
              <a:tblGrid>
                <a:gridCol w="2384088"/>
                <a:gridCol w="4768177"/>
                <a:gridCol w="3667828"/>
              </a:tblGrid>
              <a:tr h="566928">
                <a:tc>
                  <a:txBody>
                    <a:bodyPr/>
                    <a:lstStyle/>
                    <a:p>
                      <a:r>
                        <a:rPr sz="1600" b="1">
                          <a:solidFill>
                            <a:srgbClr val="1C1B1A"/>
                          </a:solidFill>
                          <a:latin typeface="Segoe UI"/>
                        </a:rPr>
                        <a:t>Stage</a:t>
                      </a:r>
                    </a:p>
                  </a:txBody>
                  <a:tcPr anchor="ctr" marL="91440" marR="91440" marT="27432" marB="27432">
                    <a:lnB w="12700">
                      <a:solidFill>
                        <a:srgbClr val="1C1B1A"/>
                      </a:solidFill>
                    </a:lnB>
                    <a:noFill/>
                  </a:tcPr>
                </a:tc>
                <a:tc>
                  <a:txBody>
                    <a:bodyPr/>
                    <a:lstStyle/>
                    <a:p>
                      <a:r>
                        <a:rPr sz="1600" b="1">
                          <a:solidFill>
                            <a:srgbClr val="1C1B1A"/>
                          </a:solidFill>
                          <a:latin typeface="Segoe UI"/>
                        </a:rPr>
                        <a:t>Everyday picture</a:t>
                      </a:r>
                    </a:p>
                  </a:txBody>
                  <a:tcPr anchor="ctr" marL="91440" marR="91440" marT="27432" marB="27432">
                    <a:lnB w="12700">
                      <a:solidFill>
                        <a:srgbClr val="1C1B1A"/>
                      </a:solidFill>
                    </a:lnB>
                    <a:noFill/>
                  </a:tcPr>
                </a:tc>
                <a:tc>
                  <a:txBody>
                    <a:bodyPr/>
                    <a:lstStyle/>
                    <a:p>
                      <a:r>
                        <a:rPr sz="1600" b="1">
                          <a:solidFill>
                            <a:srgbClr val="1C1B1A"/>
                          </a:solidFill>
                          <a:latin typeface="Segoe UI"/>
                        </a:rPr>
                        <a:t>Measured on this laptop (NVIDIA RTX 3050)</a:t>
                      </a:r>
                    </a:p>
                  </a:txBody>
                  <a:tcPr anchor="ctr" marL="91440" marR="91440" marT="27432" marB="27432">
                    <a:lnB w="12700">
                      <a:solidFill>
                        <a:srgbClr val="1C1B1A"/>
                      </a:solidFill>
                    </a:lnB>
                    <a:noFill/>
                  </a:tcPr>
                </a:tc>
              </a:tr>
              <a:tr h="566928">
                <a:tc>
                  <a:txBody>
                    <a:bodyPr/>
                    <a:lstStyle/>
                    <a:p>
                      <a:r>
                        <a:rPr sz="1600" b="0">
                          <a:solidFill>
                            <a:srgbClr val="1C1B1A"/>
                          </a:solidFill>
                          <a:latin typeface="Segoe UI"/>
                        </a:rPr>
                        <a:t>Reading (prefill)</a:t>
                      </a:r>
                    </a:p>
                  </a:txBody>
                  <a:tcPr anchor="ctr" marL="91440" marR="91440" marT="27432" marB="27432">
                    <a:lnB w="9525">
                      <a:solidFill>
                        <a:srgbClr val="D9D2C3"/>
                      </a:solidFill>
                    </a:lnB>
                    <a:noFill/>
                  </a:tcPr>
                </a:tc>
                <a:tc>
                  <a:txBody>
                    <a:bodyPr/>
                    <a:lstStyle/>
                    <a:p>
                      <a:r>
                        <a:rPr sz="1600" b="0">
                          <a:solidFill>
                            <a:srgbClr val="1C1B1A"/>
                          </a:solidFill>
                          <a:latin typeface="Segoe UI"/>
                        </a:rPr>
                        <a:t>Reads the whole prompt in one pass, like scanning a page first</a:t>
                      </a:r>
                    </a:p>
                  </a:txBody>
                  <a:tcPr anchor="ctr" marL="91440" marR="91440" marT="27432" marB="27432">
                    <a:lnB w="9525">
                      <a:solidFill>
                        <a:srgbClr val="D9D2C3"/>
                      </a:solidFill>
                    </a:lnB>
                    <a:noFill/>
                  </a:tcPr>
                </a:tc>
                <a:tc>
                  <a:txBody>
                    <a:bodyPr/>
                    <a:lstStyle/>
                    <a:p>
                      <a:r>
                        <a:rPr sz="1600" b="0">
                          <a:solidFill>
                            <a:srgbClr val="1C1B1A"/>
                          </a:solidFill>
                          <a:latin typeface="Segoe UI"/>
                        </a:rPr>
                        <a:t>About 600 tokens a second (speed test)</a:t>
                      </a:r>
                    </a:p>
                  </a:txBody>
                  <a:tcPr anchor="ctr" marL="91440" marR="91440" marT="27432" marB="27432">
                    <a:lnB w="9525">
                      <a:solidFill>
                        <a:srgbClr val="D9D2C3"/>
                      </a:solidFill>
                    </a:lnB>
                    <a:noFill/>
                  </a:tcPr>
                </a:tc>
              </a:tr>
              <a:tr h="566928">
                <a:tc>
                  <a:txBody>
                    <a:bodyPr/>
                    <a:lstStyle/>
                    <a:p>
                      <a:r>
                        <a:rPr sz="1600" b="0">
                          <a:solidFill>
                            <a:srgbClr val="1C1B1A"/>
                          </a:solidFill>
                          <a:latin typeface="Segoe UI"/>
                        </a:rPr>
                        <a:t>Writing (decode)</a:t>
                      </a:r>
                    </a:p>
                  </a:txBody>
                  <a:tcPr anchor="ctr" marL="91440" marR="91440" marT="27432" marB="27432">
                    <a:lnB w="9525">
                      <a:solidFill>
                        <a:srgbClr val="D9D2C3"/>
                      </a:solidFill>
                    </a:lnB>
                    <a:noFill/>
                  </a:tcPr>
                </a:tc>
                <a:tc>
                  <a:txBody>
                    <a:bodyPr/>
                    <a:lstStyle/>
                    <a:p>
                      <a:r>
                        <a:rPr sz="1600" b="0">
                          <a:solidFill>
                            <a:srgbClr val="1C1B1A"/>
                          </a:solidFill>
                          <a:latin typeface="Segoe UI"/>
                        </a:rPr>
                        <a:t>One new token per step, and each step looks back at everything before it</a:t>
                      </a:r>
                    </a:p>
                  </a:txBody>
                  <a:tcPr anchor="ctr" marL="91440" marR="91440" marT="27432" marB="27432">
                    <a:lnB w="9525">
                      <a:solidFill>
                        <a:srgbClr val="D9D2C3"/>
                      </a:solidFill>
                    </a:lnB>
                    <a:noFill/>
                  </a:tcPr>
                </a:tc>
                <a:tc>
                  <a:txBody>
                    <a:bodyPr/>
                    <a:lstStyle/>
                    <a:p>
                      <a:r>
                        <a:rPr sz="1600" b="0">
                          <a:solidFill>
                            <a:srgbClr val="1C1B1A"/>
                          </a:solidFill>
                          <a:latin typeface="Segoe UI"/>
                        </a:rPr>
                        <a:t>34 to 53 tokens a second in clean runs; about 63 in the speed test</a:t>
                      </a:r>
                    </a:p>
                  </a:txBody>
                  <a:tcPr anchor="ctr" marL="91440" marR="91440" marT="27432" marB="27432">
                    <a:lnB w="9525">
                      <a:solidFill>
                        <a:srgbClr val="D9D2C3"/>
                      </a:solidFill>
                    </a:lnB>
                    <a:noFill/>
                  </a:tcPr>
                </a:tc>
              </a:tr>
              <a:tr h="566928">
                <a:tc>
                  <a:txBody>
                    <a:bodyPr/>
                    <a:lstStyle/>
                    <a:p>
                      <a:r>
                        <a:rPr sz="1600" b="0">
                          <a:solidFill>
                            <a:srgbClr val="1C1B1A"/>
                          </a:solidFill>
                          <a:latin typeface="Segoe UI"/>
                        </a:rPr>
                        <a:t>First answer</a:t>
                      </a:r>
                    </a:p>
                  </a:txBody>
                  <a:tcPr anchor="ctr" marL="91440" marR="91440" marT="27432" marB="27432">
                    <a:lnB w="9525">
                      <a:solidFill>
                        <a:srgbClr val="D9D2C3"/>
                      </a:solidFill>
                    </a:lnB>
                    <a:noFill/>
                  </a:tcPr>
                </a:tc>
                <a:tc>
                  <a:txBody>
                    <a:bodyPr/>
                    <a:lstStyle/>
                    <a:p>
                      <a:r>
                        <a:rPr sz="1600" b="0">
                          <a:solidFill>
                            <a:srgbClr val="1C1B1A"/>
                          </a:solidFill>
                          <a:latin typeface="Segoe UI"/>
                        </a:rPr>
                        <a:t>The graphics programs are compiled once, like warming up an oven</a:t>
                      </a:r>
                    </a:p>
                  </a:txBody>
                  <a:tcPr anchor="ctr" marL="91440" marR="91440" marT="27432" marB="27432">
                    <a:lnB w="9525">
                      <a:solidFill>
                        <a:srgbClr val="D9D2C3"/>
                      </a:solidFill>
                    </a:lnB>
                    <a:noFill/>
                  </a:tcPr>
                </a:tc>
                <a:tc>
                  <a:txBody>
                    <a:bodyPr/>
                    <a:lstStyle/>
                    <a:p>
                      <a:r>
                        <a:rPr sz="1600" b="0">
                          <a:solidFill>
                            <a:srgbClr val="1C1B1A"/>
                          </a:solidFill>
                          <a:latin typeface="Segoe UI"/>
                        </a:rPr>
                        <a:t>About 30 s on first use; 0.5 s in a later offline run</a:t>
                      </a:r>
                    </a:p>
                  </a:txBody>
                  <a:tcPr anchor="ctr" marL="91440" marR="91440" marT="27432" marB="27432">
                    <a:lnB w="9525">
                      <a:solidFill>
                        <a:srgbClr val="D9D2C3"/>
                      </a:solidFill>
                    </a:lnB>
                    <a:noFill/>
                  </a:tcPr>
                </a:tc>
              </a:tr>
              <a:tr h="566928">
                <a:tc>
                  <a:txBody>
                    <a:bodyPr/>
                    <a:lstStyle/>
                    <a:p>
                      <a:r>
                        <a:rPr sz="1600" b="0">
                          <a:solidFill>
                            <a:srgbClr val="1C1B1A"/>
                          </a:solidFill>
                          <a:latin typeface="Segoe UI"/>
                        </a:rPr>
                        <a:t>Answer length</a:t>
                      </a:r>
                    </a:p>
                  </a:txBody>
                  <a:tcPr anchor="ctr" marL="91440" marR="91440" marT="27432" marB="27432">
                    <a:lnB w="9525">
                      <a:solidFill>
                        <a:srgbClr val="D9D2C3"/>
                      </a:solidFill>
                    </a:lnB>
                    <a:noFill/>
                  </a:tcPr>
                </a:tc>
                <a:tc>
                  <a:txBody>
                    <a:bodyPr/>
                    <a:lstStyle/>
                    <a:p>
                      <a:r>
                        <a:rPr sz="1600" b="0">
                          <a:solidFill>
                            <a:srgbClr val="1C1B1A"/>
                          </a:solidFill>
                          <a:latin typeface="Segoe UI"/>
                        </a:rPr>
                        <a:t>Stops at the last token, or at 300 tokens a part (320 for the final summary)</a:t>
                      </a:r>
                    </a:p>
                  </a:txBody>
                  <a:tcPr anchor="ctr" marL="91440" marR="91440" marT="27432" marB="27432">
                    <a:lnB w="9525">
                      <a:solidFill>
                        <a:srgbClr val="D9D2C3"/>
                      </a:solidFill>
                    </a:lnB>
                    <a:noFill/>
                  </a:tcPr>
                </a:tc>
                <a:tc>
                  <a:txBody>
                    <a:bodyPr/>
                    <a:lstStyle/>
                    <a:p>
                      <a:r>
                        <a:rPr sz="1600" b="0">
                          <a:solidFill>
                            <a:srgbClr val="1C1B1A"/>
                          </a:solidFill>
                          <a:latin typeface="Segoe UI"/>
                        </a:rPr>
                        <a:t>Set in the configuration file; not a measurement</a:t>
                      </a:r>
                    </a:p>
                  </a:txBody>
                  <a:tcPr anchor="ctr" marL="91440" marR="91440" marT="27432" marB="27432">
                    <a:lnB w="9525">
                      <a:solidFill>
                        <a:srgbClr val="D9D2C3"/>
                      </a:solidFill>
                    </a:lnB>
                    <a:noFill/>
                  </a:tcPr>
                </a:tc>
              </a:tr>
            </a:tbl>
          </a:graphicData>
        </a:graphic>
      </p:graphicFrame>
      <p:sp>
        <p:nvSpPr>
          <p:cNvPr id="8" name="TextBox 7"/>
          <p:cNvSpPr txBox="1"/>
          <p:nvPr/>
        </p:nvSpPr>
        <p:spPr>
          <a:xfrm>
            <a:off x="685800" y="4572000"/>
            <a:ext cx="10820095" cy="640080"/>
          </a:xfrm>
          <a:prstGeom prst="rect">
            <a:avLst/>
          </a:prstGeom>
          <a:noFill/>
        </p:spPr>
        <p:txBody>
          <a:bodyPr wrap="square" anchor="t" lIns="45720" rIns="45720" tIns="27432" bIns="27432">
            <a:spAutoFit/>
          </a:bodyPr>
          <a:lstStyle/>
          <a:p>
            <a:pPr algn="l"/>
            <a:r>
              <a:rPr sz="1600" b="0" i="1">
                <a:solidFill>
                  <a:srgbClr val="6B665C"/>
                </a:solidFill>
                <a:latin typeface="Segoe UI"/>
              </a:rPr>
              <a:t>The 34 to 53 range is from saved clean runs. The run after the label fix reached 65 and 45 (slide 20). The speed test has no saved run file.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TextBox 1"/>
          <p:cNvSpPr txBox="1"/>
          <p:nvPr/>
        </p:nvSpPr>
        <p:spPr>
          <a:xfrm>
            <a:off x="685800" y="411480"/>
            <a:ext cx="10820095" cy="777240"/>
          </a:xfrm>
          <a:prstGeom prst="rect">
            <a:avLst/>
          </a:prstGeom>
          <a:noFill/>
        </p:spPr>
        <p:txBody>
          <a:bodyPr wrap="square" anchor="b" lIns="45720" rIns="45720" tIns="27432" bIns="27432">
            <a:spAutoFit/>
          </a:bodyPr>
          <a:lstStyle/>
          <a:p>
            <a:pPr algn="l"/>
            <a:r>
              <a:rPr sz="3000" b="1" i="0">
                <a:solidFill>
                  <a:srgbClr val="1C1B1A"/>
                </a:solidFill>
                <a:latin typeface="Georgia"/>
              </a:rPr>
              <a:t>Getting the model onto the laptop</a:t>
            </a:r>
          </a:p>
        </p:txBody>
      </p:sp>
      <p:cxnSp>
        <p:nvCxnSpPr>
          <p:cNvPr id="3" name="Connector 2"/>
          <p:cNvCxnSpPr/>
          <p:nvPr/>
        </p:nvCxnSpPr>
        <p:spPr>
          <a:xfrm>
            <a:off x="685800" y="1280160"/>
            <a:ext cx="10820095" cy="0"/>
          </a:xfrm>
          <a:prstGeom prst="line">
            <a:avLst/>
          </a:prstGeom>
          <a:ln w="9525">
            <a:solidFill>
              <a:srgbClr val="D9D2C3"/>
            </a:solidFill>
          </a:ln>
        </p:spPr>
      </p:cxnSp>
      <p:sp>
        <p:nvSpPr>
          <p:cNvPr id="4" name="Rectangle 3"/>
          <p:cNvSpPr/>
          <p:nvPr/>
        </p:nvSpPr>
        <p:spPr>
          <a:xfrm>
            <a:off x="685800" y="1252728"/>
            <a:ext cx="822960" cy="45720"/>
          </a:xfrm>
          <a:prstGeom prst="rect">
            <a:avLst/>
          </a:prstGeom>
          <a:solidFill>
            <a:srgbClr val="B43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355080"/>
            <a:ext cx="9144000" cy="365760"/>
          </a:xfrm>
          <a:prstGeom prst="rect">
            <a:avLst/>
          </a:prstGeom>
          <a:noFill/>
        </p:spPr>
        <p:txBody>
          <a:bodyPr wrap="square" anchor="t" lIns="45720" rIns="45720" tIns="27432" bIns="27432">
            <a:spAutoFit/>
          </a:bodyPr>
          <a:lstStyle/>
          <a:p>
            <a:pPr algn="l"/>
            <a:r>
              <a:rPr sz="1600" b="0" i="0">
                <a:solidFill>
                  <a:srgbClr val="6B665C"/>
                </a:solidFill>
                <a:latin typeface="Segoe UI"/>
              </a:rPr>
              <a:t>Page Summarizer  |  Final-Semester Review (Version 2)</a:t>
            </a:r>
          </a:p>
        </p:txBody>
      </p:sp>
      <p:sp>
        <p:nvSpPr>
          <p:cNvPr id="6" name="TextBox 5"/>
          <p:cNvSpPr txBox="1"/>
          <p:nvPr/>
        </p:nvSpPr>
        <p:spPr>
          <a:xfrm>
            <a:off x="10591495" y="6355080"/>
            <a:ext cx="914400" cy="365760"/>
          </a:xfrm>
          <a:prstGeom prst="rect">
            <a:avLst/>
          </a:prstGeom>
          <a:noFill/>
        </p:spPr>
        <p:txBody>
          <a:bodyPr wrap="square" anchor="t" lIns="45720" rIns="45720" tIns="27432" bIns="27432">
            <a:spAutoFit/>
          </a:bodyPr>
          <a:lstStyle/>
          <a:p>
            <a:pPr algn="r"/>
            <a:r>
              <a:rPr sz="1600" b="0" i="0">
                <a:solidFill>
                  <a:srgbClr val="6B665C"/>
                </a:solidFill>
                <a:latin typeface="Segoe UI"/>
              </a:rPr>
              <a:t>7</a:t>
            </a:r>
          </a:p>
        </p:txBody>
      </p:sp>
      <p:sp>
        <p:nvSpPr>
          <p:cNvPr id="7" name="TextBox 6"/>
          <p:cNvSpPr txBox="1"/>
          <p:nvPr/>
        </p:nvSpPr>
        <p:spPr>
          <a:xfrm>
            <a:off x="685800" y="1600200"/>
            <a:ext cx="5135727" cy="457200"/>
          </a:xfrm>
          <a:prstGeom prst="rect">
            <a:avLst/>
          </a:prstGeom>
          <a:noFill/>
        </p:spPr>
        <p:txBody>
          <a:bodyPr wrap="square" anchor="b" lIns="45720" rIns="45720" tIns="27432" bIns="27432">
            <a:spAutoFit/>
          </a:bodyPr>
          <a:lstStyle/>
          <a:p>
            <a:pPr algn="l"/>
            <a:r>
              <a:rPr sz="2000" b="1" i="0">
                <a:solidFill>
                  <a:srgbClr val="1C1B1A"/>
                </a:solidFill>
                <a:latin typeface="Georgia"/>
              </a:rPr>
              <a:t>The 4-bit file, about 695 MB</a:t>
            </a:r>
          </a:p>
        </p:txBody>
      </p:sp>
      <p:cxnSp>
        <p:nvCxnSpPr>
          <p:cNvPr id="8" name="Connector 7"/>
          <p:cNvCxnSpPr/>
          <p:nvPr/>
        </p:nvCxnSpPr>
        <p:spPr>
          <a:xfrm>
            <a:off x="685800" y="2148840"/>
            <a:ext cx="5135727" cy="0"/>
          </a:xfrm>
          <a:prstGeom prst="line">
            <a:avLst/>
          </a:prstGeom>
          <a:ln w="9525">
            <a:solidFill>
              <a:srgbClr val="D9D2C3"/>
            </a:solidFill>
          </a:ln>
        </p:spPr>
      </p:cxnSp>
      <p:sp>
        <p:nvSpPr>
          <p:cNvPr id="9" name="TextBox 8"/>
          <p:cNvSpPr txBox="1"/>
          <p:nvPr/>
        </p:nvSpPr>
        <p:spPr>
          <a:xfrm>
            <a:off x="685800" y="2286000"/>
            <a:ext cx="5135727" cy="3840480"/>
          </a:xfrm>
          <a:prstGeom prst="rect">
            <a:avLst/>
          </a:prstGeom>
          <a:noFill/>
        </p:spPr>
        <p:txBody>
          <a:bodyPr wrap="square" lIns="45720" rIns="45720">
            <a:spAutoFit/>
          </a:bodyPr>
          <a:lstStyle/>
          <a:p>
            <a:pPr marL="320040" indent="-320040">
              <a:lnSpc>
                <a:spcPct val="105000"/>
              </a:lnSpc>
              <a:spcAft>
                <a:spcPts val="1200"/>
              </a:spcAft>
              <a:buClr>
                <a:srgbClr val="B4391F"/>
              </a:buClr>
              <a:buFont typeface="Arial"/>
              <a:buChar char="•"/>
            </a:pPr>
            <a:r>
              <a:rPr sz="2000">
                <a:solidFill>
                  <a:srgbClr val="1C1B1A"/>
                </a:solidFill>
                <a:latin typeface="Segoe UI"/>
              </a:rPr>
              <a:t>Most stored numbers are kept in 4 bits, not 16. The model name q4f16_1 says so.</a:t>
            </a:r>
          </a:p>
          <a:p>
            <a:pPr marL="320040" indent="-320040">
              <a:lnSpc>
                <a:spcPct val="105000"/>
              </a:lnSpc>
              <a:spcAft>
                <a:spcPts val="1200"/>
              </a:spcAft>
              <a:buClr>
                <a:srgbClr val="B4391F"/>
              </a:buClr>
              <a:buFont typeface="Arial"/>
              <a:buChar char="•"/>
            </a:pPr>
            <a:r>
              <a:rPr sz="2000">
                <a:solidFill>
                  <a:srgbClr val="1C1B1A"/>
                </a:solidFill>
                <a:latin typeface="Segoe UI"/>
              </a:rPr>
              <a:t>One billion numbers at 4 bits take about 0.5 GB, so some parts keep more bits.</a:t>
            </a:r>
          </a:p>
          <a:p>
            <a:pPr marL="320040" indent="-320040">
              <a:lnSpc>
                <a:spcPct val="105000"/>
              </a:lnSpc>
              <a:spcAft>
                <a:spcPts val="1200"/>
              </a:spcAft>
              <a:buClr>
                <a:srgbClr val="B4391F"/>
              </a:buClr>
              <a:buFont typeface="Arial"/>
              <a:buChar char="•"/>
            </a:pPr>
            <a:r>
              <a:rPr sz="2000">
                <a:solidFill>
                  <a:srgbClr val="1C1B1A"/>
                </a:solidFill>
                <a:latin typeface="Segoe UI"/>
              </a:rPr>
              <a:t>The cost is precision. The answers can differ a little from the full model.</a:t>
            </a:r>
          </a:p>
        </p:txBody>
      </p:sp>
      <p:sp>
        <p:nvSpPr>
          <p:cNvPr id="10" name="TextBox 9"/>
          <p:cNvSpPr txBox="1"/>
          <p:nvPr/>
        </p:nvSpPr>
        <p:spPr>
          <a:xfrm>
            <a:off x="6370167" y="1600200"/>
            <a:ext cx="5135727" cy="457200"/>
          </a:xfrm>
          <a:prstGeom prst="rect">
            <a:avLst/>
          </a:prstGeom>
          <a:noFill/>
        </p:spPr>
        <p:txBody>
          <a:bodyPr wrap="square" anchor="b" lIns="45720" rIns="45720" tIns="27432" bIns="27432">
            <a:spAutoFit/>
          </a:bodyPr>
          <a:lstStyle/>
          <a:p>
            <a:pPr algn="l"/>
            <a:r>
              <a:rPr sz="2000" b="1" i="0">
                <a:solidFill>
                  <a:srgbClr val="1C1B1A"/>
                </a:solidFill>
                <a:latin typeface="Georgia"/>
              </a:rPr>
              <a:t>WebGPU and the warm-up</a:t>
            </a:r>
          </a:p>
        </p:txBody>
      </p:sp>
      <p:cxnSp>
        <p:nvCxnSpPr>
          <p:cNvPr id="11" name="Connector 10"/>
          <p:cNvCxnSpPr/>
          <p:nvPr/>
        </p:nvCxnSpPr>
        <p:spPr>
          <a:xfrm>
            <a:off x="6370167" y="2148840"/>
            <a:ext cx="5135727" cy="0"/>
          </a:xfrm>
          <a:prstGeom prst="line">
            <a:avLst/>
          </a:prstGeom>
          <a:ln w="9525">
            <a:solidFill>
              <a:srgbClr val="D9D2C3"/>
            </a:solidFill>
          </a:ln>
        </p:spPr>
      </p:cxnSp>
      <p:sp>
        <p:nvSpPr>
          <p:cNvPr id="12" name="TextBox 11"/>
          <p:cNvSpPr txBox="1"/>
          <p:nvPr/>
        </p:nvSpPr>
        <p:spPr>
          <a:xfrm>
            <a:off x="6370167" y="2286000"/>
            <a:ext cx="5135727" cy="3840480"/>
          </a:xfrm>
          <a:prstGeom prst="rect">
            <a:avLst/>
          </a:prstGeom>
          <a:noFill/>
        </p:spPr>
        <p:txBody>
          <a:bodyPr wrap="square" lIns="45720" rIns="45720">
            <a:spAutoFit/>
          </a:bodyPr>
          <a:lstStyle/>
          <a:p>
            <a:pPr marL="320040" indent="-320040">
              <a:lnSpc>
                <a:spcPct val="105000"/>
              </a:lnSpc>
              <a:spcAft>
                <a:spcPts val="1200"/>
              </a:spcAft>
              <a:buClr>
                <a:srgbClr val="B4391F"/>
              </a:buClr>
              <a:buFont typeface="Arial"/>
              <a:buChar char="•"/>
            </a:pPr>
            <a:r>
              <a:rPr sz="2000">
                <a:solidFill>
                  <a:srgbClr val="1C1B1A"/>
                </a:solidFill>
                <a:latin typeface="Segoe UI"/>
              </a:rPr>
              <a:t>WebGPU lets Chrome send the work to the graphics card.</a:t>
            </a:r>
          </a:p>
          <a:p>
            <a:pPr marL="320040" indent="-320040">
              <a:lnSpc>
                <a:spcPct val="105000"/>
              </a:lnSpc>
              <a:spcAft>
                <a:spcPts val="1200"/>
              </a:spcAft>
              <a:buClr>
                <a:srgbClr val="B4391F"/>
              </a:buClr>
              <a:buFont typeface="Arial"/>
              <a:buChar char="•"/>
            </a:pPr>
            <a:r>
              <a:rPr sz="2000">
                <a:solidFill>
                  <a:srgbClr val="1C1B1A"/>
                </a:solidFill>
                <a:latin typeface="Segoe UI"/>
              </a:rPr>
              <a:t>The card must support 16-bit math (shader-f16). Without it the popup refuses to run.</a:t>
            </a:r>
          </a:p>
          <a:p>
            <a:pPr marL="320040" indent="-320040">
              <a:lnSpc>
                <a:spcPct val="105000"/>
              </a:lnSpc>
              <a:spcAft>
                <a:spcPts val="1200"/>
              </a:spcAft>
              <a:buClr>
                <a:srgbClr val="B4391F"/>
              </a:buClr>
              <a:buFont typeface="Arial"/>
              <a:buChar char="•"/>
            </a:pPr>
            <a:r>
              <a:rPr sz="2000">
                <a:solidFill>
                  <a:srgbClr val="1C1B1A"/>
                </a:solidFill>
                <a:latin typeface="Segoe UI"/>
              </a:rPr>
              <a:t>On first use the graphics programs are compiled: about 30 s of warm-up.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TextBox 1"/>
          <p:cNvSpPr txBox="1"/>
          <p:nvPr/>
        </p:nvSpPr>
        <p:spPr>
          <a:xfrm>
            <a:off x="685800" y="411480"/>
            <a:ext cx="10820095" cy="777240"/>
          </a:xfrm>
          <a:prstGeom prst="rect">
            <a:avLst/>
          </a:prstGeom>
          <a:noFill/>
        </p:spPr>
        <p:txBody>
          <a:bodyPr wrap="square" anchor="b" lIns="45720" rIns="45720" tIns="27432" bIns="27432">
            <a:spAutoFit/>
          </a:bodyPr>
          <a:lstStyle/>
          <a:p>
            <a:pPr algn="l"/>
            <a:r>
              <a:rPr sz="3000" b="1" i="0">
                <a:solidFill>
                  <a:srgbClr val="1C1B1A"/>
                </a:solidFill>
                <a:latin typeface="Georgia"/>
              </a:rPr>
              <a:t>First use and later use: the clean timings</a:t>
            </a:r>
          </a:p>
        </p:txBody>
      </p:sp>
      <p:cxnSp>
        <p:nvCxnSpPr>
          <p:cNvPr id="3" name="Connector 2"/>
          <p:cNvCxnSpPr/>
          <p:nvPr/>
        </p:nvCxnSpPr>
        <p:spPr>
          <a:xfrm>
            <a:off x="685800" y="1280160"/>
            <a:ext cx="10820095" cy="0"/>
          </a:xfrm>
          <a:prstGeom prst="line">
            <a:avLst/>
          </a:prstGeom>
          <a:ln w="9525">
            <a:solidFill>
              <a:srgbClr val="D9D2C3"/>
            </a:solidFill>
          </a:ln>
        </p:spPr>
      </p:cxnSp>
      <p:sp>
        <p:nvSpPr>
          <p:cNvPr id="4" name="Rectangle 3"/>
          <p:cNvSpPr/>
          <p:nvPr/>
        </p:nvSpPr>
        <p:spPr>
          <a:xfrm>
            <a:off x="685800" y="1252728"/>
            <a:ext cx="822960" cy="45720"/>
          </a:xfrm>
          <a:prstGeom prst="rect">
            <a:avLst/>
          </a:prstGeom>
          <a:solidFill>
            <a:srgbClr val="B43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355080"/>
            <a:ext cx="9144000" cy="365760"/>
          </a:xfrm>
          <a:prstGeom prst="rect">
            <a:avLst/>
          </a:prstGeom>
          <a:noFill/>
        </p:spPr>
        <p:txBody>
          <a:bodyPr wrap="square" anchor="t" lIns="45720" rIns="45720" tIns="27432" bIns="27432">
            <a:spAutoFit/>
          </a:bodyPr>
          <a:lstStyle/>
          <a:p>
            <a:pPr algn="l"/>
            <a:r>
              <a:rPr sz="1600" b="0" i="0">
                <a:solidFill>
                  <a:srgbClr val="6B665C"/>
                </a:solidFill>
                <a:latin typeface="Segoe UI"/>
              </a:rPr>
              <a:t>Page Summarizer  |  Final-Semester Review (Version 2)</a:t>
            </a:r>
          </a:p>
        </p:txBody>
      </p:sp>
      <p:sp>
        <p:nvSpPr>
          <p:cNvPr id="6" name="TextBox 5"/>
          <p:cNvSpPr txBox="1"/>
          <p:nvPr/>
        </p:nvSpPr>
        <p:spPr>
          <a:xfrm>
            <a:off x="10591495" y="6355080"/>
            <a:ext cx="914400" cy="365760"/>
          </a:xfrm>
          <a:prstGeom prst="rect">
            <a:avLst/>
          </a:prstGeom>
          <a:noFill/>
        </p:spPr>
        <p:txBody>
          <a:bodyPr wrap="square" anchor="t" lIns="45720" rIns="45720" tIns="27432" bIns="27432">
            <a:spAutoFit/>
          </a:bodyPr>
          <a:lstStyle/>
          <a:p>
            <a:pPr algn="r"/>
            <a:r>
              <a:rPr sz="1600" b="0" i="0">
                <a:solidFill>
                  <a:srgbClr val="6B665C"/>
                </a:solidFill>
                <a:latin typeface="Segoe UI"/>
              </a:rPr>
              <a:t>8</a:t>
            </a:r>
          </a:p>
        </p:txBody>
      </p:sp>
      <p:graphicFrame>
        <p:nvGraphicFramePr>
          <p:cNvPr id="7" name="Table 6"/>
          <p:cNvGraphicFramePr>
            <a:graphicFrameLocks noGrp="1"/>
          </p:cNvGraphicFramePr>
          <p:nvPr/>
        </p:nvGraphicFramePr>
        <p:xfrm>
          <a:off x="685800" y="1600200"/>
          <a:ext cx="10820092" cy="3401568"/>
        </p:xfrm>
        <a:graphic>
          <a:graphicData uri="http://schemas.openxmlformats.org/drawingml/2006/table">
            <a:tbl>
              <a:tblPr firstRow="1">
                <a:tableStyleId>{2D5ABB26-0587-4C30-8999-92F81FD0307C}</a:tableStyleId>
              </a:tblPr>
              <a:tblGrid>
                <a:gridCol w="2750871"/>
                <a:gridCol w="2659175"/>
                <a:gridCol w="2750871"/>
                <a:gridCol w="2659175"/>
              </a:tblGrid>
              <a:tr h="566928">
                <a:tc>
                  <a:txBody>
                    <a:bodyPr/>
                    <a:lstStyle/>
                    <a:p>
                      <a:r>
                        <a:rPr sz="1600" b="1">
                          <a:solidFill>
                            <a:srgbClr val="1C1B1A"/>
                          </a:solidFill>
                          <a:latin typeface="Segoe UI"/>
                        </a:rPr>
                        <a:t>Measure, short article</a:t>
                      </a:r>
                    </a:p>
                  </a:txBody>
                  <a:tcPr anchor="ctr" marL="91440" marR="91440" marT="27432" marB="27432">
                    <a:lnB w="12700">
                      <a:solidFill>
                        <a:srgbClr val="1C1B1A"/>
                      </a:solidFill>
                    </a:lnB>
                    <a:noFill/>
                  </a:tcPr>
                </a:tc>
                <a:tc>
                  <a:txBody>
                    <a:bodyPr/>
                    <a:lstStyle/>
                    <a:p>
                      <a:r>
                        <a:rPr sz="1600" b="1">
                          <a:solidFill>
                            <a:srgbClr val="1C1B1A"/>
                          </a:solidFill>
                          <a:latin typeface="Segoe UI"/>
                        </a:rPr>
                        <a:t>First use, clean run</a:t>
                      </a:r>
                    </a:p>
                  </a:txBody>
                  <a:tcPr anchor="ctr" marL="91440" marR="91440" marT="27432" marB="27432">
                    <a:lnB w="12700">
                      <a:solidFill>
                        <a:srgbClr val="1C1B1A"/>
                      </a:solidFill>
                    </a:lnB>
                    <a:noFill/>
                  </a:tcPr>
                </a:tc>
                <a:tc>
                  <a:txBody>
                    <a:bodyPr/>
                    <a:lstStyle/>
                    <a:p>
                      <a:r>
                        <a:rPr sz="1600" b="1">
                          <a:solidFill>
                            <a:srgbClr val="1C1B1A"/>
                          </a:solidFill>
                          <a:latin typeface="Segoe UI"/>
                        </a:rPr>
                        <a:t>Later use, offline, before label fix</a:t>
                      </a:r>
                    </a:p>
                  </a:txBody>
                  <a:tcPr anchor="ctr" marL="91440" marR="91440" marT="27432" marB="27432">
                    <a:lnB w="12700">
                      <a:solidFill>
                        <a:srgbClr val="1C1B1A"/>
                      </a:solidFill>
                    </a:lnB>
                    <a:noFill/>
                  </a:tcPr>
                </a:tc>
                <a:tc>
                  <a:txBody>
                    <a:bodyPr/>
                    <a:lstStyle/>
                    <a:p>
                      <a:r>
                        <a:rPr sz="1600" b="1">
                          <a:solidFill>
                            <a:srgbClr val="1C1B1A"/>
                          </a:solidFill>
                          <a:latin typeface="Segoe UI"/>
                        </a:rPr>
                        <a:t>Later use, offline, after label fix</a:t>
                      </a:r>
                    </a:p>
                  </a:txBody>
                  <a:tcPr anchor="ctr" marL="91440" marR="91440" marT="27432" marB="27432">
                    <a:lnB w="12700">
                      <a:solidFill>
                        <a:srgbClr val="1C1B1A"/>
                      </a:solidFill>
                    </a:lnB>
                    <a:noFill/>
                  </a:tcPr>
                </a:tc>
              </a:tr>
              <a:tr h="566928">
                <a:tc>
                  <a:txBody>
                    <a:bodyPr/>
                    <a:lstStyle/>
                    <a:p>
                      <a:r>
                        <a:rPr sz="1600" b="0">
                          <a:solidFill>
                            <a:srgbClr val="1C1B1A"/>
                          </a:solidFill>
                          <a:latin typeface="Segoe UI"/>
                        </a:rPr>
                        <a:t>Total time</a:t>
                      </a:r>
                    </a:p>
                  </a:txBody>
                  <a:tcPr anchor="ctr" marL="91440" marR="91440" marT="27432" marB="27432">
                    <a:lnB w="9525">
                      <a:solidFill>
                        <a:srgbClr val="D9D2C3"/>
                      </a:solidFill>
                    </a:lnB>
                    <a:noFill/>
                  </a:tcPr>
                </a:tc>
                <a:tc>
                  <a:txBody>
                    <a:bodyPr/>
                    <a:lstStyle/>
                    <a:p>
                      <a:r>
                        <a:rPr sz="1600" b="0">
                          <a:solidFill>
                            <a:srgbClr val="1C1B1A"/>
                          </a:solidFill>
                          <a:latin typeface="Segoe UI"/>
                        </a:rPr>
                        <a:t>196.8 s</a:t>
                      </a:r>
                    </a:p>
                  </a:txBody>
                  <a:tcPr anchor="ctr" marL="91440" marR="91440" marT="27432" marB="27432">
                    <a:lnB w="9525">
                      <a:solidFill>
                        <a:srgbClr val="D9D2C3"/>
                      </a:solidFill>
                    </a:lnB>
                    <a:noFill/>
                  </a:tcPr>
                </a:tc>
                <a:tc>
                  <a:txBody>
                    <a:bodyPr/>
                    <a:lstStyle/>
                    <a:p>
                      <a:r>
                        <a:rPr sz="1600" b="0">
                          <a:solidFill>
                            <a:srgbClr val="1C1B1A"/>
                          </a:solidFill>
                          <a:latin typeface="Segoe UI"/>
                        </a:rPr>
                        <a:t>15.3 s</a:t>
                      </a:r>
                    </a:p>
                  </a:txBody>
                  <a:tcPr anchor="ctr" marL="91440" marR="91440" marT="27432" marB="27432">
                    <a:lnB w="9525">
                      <a:solidFill>
                        <a:srgbClr val="D9D2C3"/>
                      </a:solidFill>
                    </a:lnB>
                    <a:noFill/>
                  </a:tcPr>
                </a:tc>
                <a:tc>
                  <a:txBody>
                    <a:bodyPr/>
                    <a:lstStyle/>
                    <a:p>
                      <a:r>
                        <a:rPr sz="1600" b="0">
                          <a:solidFill>
                            <a:srgbClr val="1C1B1A"/>
                          </a:solidFill>
                          <a:latin typeface="Segoe UI"/>
                        </a:rPr>
                        <a:t>17.7 s</a:t>
                      </a:r>
                    </a:p>
                  </a:txBody>
                  <a:tcPr anchor="ctr" marL="91440" marR="91440" marT="27432" marB="27432">
                    <a:lnB w="9525">
                      <a:solidFill>
                        <a:srgbClr val="D9D2C3"/>
                      </a:solidFill>
                    </a:lnB>
                    <a:noFill/>
                  </a:tcPr>
                </a:tc>
              </a:tr>
              <a:tr h="566928">
                <a:tc>
                  <a:txBody>
                    <a:bodyPr/>
                    <a:lstStyle/>
                    <a:p>
                      <a:r>
                        <a:rPr sz="1600" b="0">
                          <a:solidFill>
                            <a:srgbClr val="1C1B1A"/>
                          </a:solidFill>
                          <a:latin typeface="Segoe UI"/>
                        </a:rPr>
                        <a:t>Download</a:t>
                      </a:r>
                    </a:p>
                  </a:txBody>
                  <a:tcPr anchor="ctr" marL="91440" marR="91440" marT="27432" marB="27432">
                    <a:lnB w="9525">
                      <a:solidFill>
                        <a:srgbClr val="D9D2C3"/>
                      </a:solidFill>
                    </a:lnB>
                    <a:noFill/>
                  </a:tcPr>
                </a:tc>
                <a:tc>
                  <a:txBody>
                    <a:bodyPr/>
                    <a:lstStyle/>
                    <a:p>
                      <a:r>
                        <a:rPr sz="1600" b="0">
                          <a:solidFill>
                            <a:srgbClr val="1C1B1A"/>
                          </a:solidFill>
                          <a:latin typeface="Segoe UI"/>
                        </a:rPr>
                        <a:t>158.3 s (about 695 MB)</a:t>
                      </a:r>
                    </a:p>
                  </a:txBody>
                  <a:tcPr anchor="ctr" marL="91440" marR="91440" marT="27432" marB="27432">
                    <a:lnB w="9525">
                      <a:solidFill>
                        <a:srgbClr val="D9D2C3"/>
                      </a:solidFill>
                    </a:lnB>
                    <a:noFill/>
                  </a:tcPr>
                </a:tc>
                <a:tc>
                  <a:txBody>
                    <a:bodyPr/>
                    <a:lstStyle/>
                    <a:p>
                      <a:r>
                        <a:rPr sz="1600" b="0">
                          <a:solidFill>
                            <a:srgbClr val="1C1B1A"/>
                          </a:solidFill>
                          <a:latin typeface="Segoe UI"/>
                        </a:rPr>
                        <a:t>None: model stored</a:t>
                      </a:r>
                    </a:p>
                  </a:txBody>
                  <a:tcPr anchor="ctr" marL="91440" marR="91440" marT="27432" marB="27432">
                    <a:lnB w="9525">
                      <a:solidFill>
                        <a:srgbClr val="D9D2C3"/>
                      </a:solidFill>
                    </a:lnB>
                    <a:noFill/>
                  </a:tcPr>
                </a:tc>
                <a:tc>
                  <a:txBody>
                    <a:bodyPr/>
                    <a:lstStyle/>
                    <a:p>
                      <a:r>
                        <a:rPr sz="1600" b="0">
                          <a:solidFill>
                            <a:srgbClr val="1C1B1A"/>
                          </a:solidFill>
                          <a:latin typeface="Segoe UI"/>
                        </a:rPr>
                        <a:t>None: model stored</a:t>
                      </a:r>
                    </a:p>
                  </a:txBody>
                  <a:tcPr anchor="ctr" marL="91440" marR="91440" marT="27432" marB="27432">
                    <a:lnB w="9525">
                      <a:solidFill>
                        <a:srgbClr val="D9D2C3"/>
                      </a:solidFill>
                    </a:lnB>
                    <a:noFill/>
                  </a:tcPr>
                </a:tc>
              </a:tr>
              <a:tr h="566928">
                <a:tc>
                  <a:txBody>
                    <a:bodyPr/>
                    <a:lstStyle/>
                    <a:p>
                      <a:r>
                        <a:rPr sz="1600" b="0">
                          <a:solidFill>
                            <a:srgbClr val="1C1B1A"/>
                          </a:solidFill>
                          <a:latin typeface="Segoe UI"/>
                        </a:rPr>
                        <a:t>Load into the card</a:t>
                      </a:r>
                    </a:p>
                  </a:txBody>
                  <a:tcPr anchor="ctr" marL="91440" marR="91440" marT="27432" marB="27432">
                    <a:lnB w="9525">
                      <a:solidFill>
                        <a:srgbClr val="D9D2C3"/>
                      </a:solidFill>
                    </a:lnB>
                    <a:noFill/>
                  </a:tcPr>
                </a:tc>
                <a:tc>
                  <a:txBody>
                    <a:bodyPr/>
                    <a:lstStyle/>
                    <a:p>
                      <a:r>
                        <a:rPr sz="1600" b="0">
                          <a:solidFill>
                            <a:srgbClr val="1C1B1A"/>
                          </a:solidFill>
                          <a:latin typeface="Segoe UI"/>
                        </a:rPr>
                        <a:t>3.8 s</a:t>
                      </a:r>
                    </a:p>
                  </a:txBody>
                  <a:tcPr anchor="ctr" marL="91440" marR="91440" marT="27432" marB="27432">
                    <a:lnB w="9525">
                      <a:solidFill>
                        <a:srgbClr val="D9D2C3"/>
                      </a:solidFill>
                    </a:lnB>
                    <a:noFill/>
                  </a:tcPr>
                </a:tc>
                <a:tc>
                  <a:txBody>
                    <a:bodyPr/>
                    <a:lstStyle/>
                    <a:p>
                      <a:r>
                        <a:rPr sz="1600" b="0">
                          <a:solidFill>
                            <a:srgbClr val="1C1B1A"/>
                          </a:solidFill>
                          <a:latin typeface="Segoe UI"/>
                        </a:rPr>
                        <a:t>6.9 s</a:t>
                      </a:r>
                    </a:p>
                  </a:txBody>
                  <a:tcPr anchor="ctr" marL="91440" marR="91440" marT="27432" marB="27432">
                    <a:lnB w="9525">
                      <a:solidFill>
                        <a:srgbClr val="D9D2C3"/>
                      </a:solidFill>
                    </a:lnB>
                    <a:noFill/>
                  </a:tcPr>
                </a:tc>
                <a:tc>
                  <a:txBody>
                    <a:bodyPr/>
                    <a:lstStyle/>
                    <a:p>
                      <a:r>
                        <a:rPr sz="1600" b="0">
                          <a:solidFill>
                            <a:srgbClr val="1C1B1A"/>
                          </a:solidFill>
                          <a:latin typeface="Segoe UI"/>
                        </a:rPr>
                        <a:t>11.6 s</a:t>
                      </a:r>
                    </a:p>
                  </a:txBody>
                  <a:tcPr anchor="ctr" marL="91440" marR="91440" marT="27432" marB="27432">
                    <a:lnB w="9525">
                      <a:solidFill>
                        <a:srgbClr val="D9D2C3"/>
                      </a:solidFill>
                    </a:lnB>
                    <a:noFill/>
                  </a:tcPr>
                </a:tc>
              </a:tr>
              <a:tr h="566928">
                <a:tc>
                  <a:txBody>
                    <a:bodyPr/>
                    <a:lstStyle/>
                    <a:p>
                      <a:r>
                        <a:rPr sz="1600" b="0">
                          <a:solidFill>
                            <a:srgbClr val="1C1B1A"/>
                          </a:solidFill>
                          <a:latin typeface="Segoe UI"/>
                        </a:rPr>
                        <a:t>Warm-up</a:t>
                      </a:r>
                    </a:p>
                  </a:txBody>
                  <a:tcPr anchor="ctr" marL="91440" marR="91440" marT="27432" marB="27432">
                    <a:lnB w="9525">
                      <a:solidFill>
                        <a:srgbClr val="D9D2C3"/>
                      </a:solidFill>
                    </a:lnB>
                    <a:noFill/>
                  </a:tcPr>
                </a:tc>
                <a:tc>
                  <a:txBody>
                    <a:bodyPr/>
                    <a:lstStyle/>
                    <a:p>
                      <a:r>
                        <a:rPr sz="1600" b="0">
                          <a:solidFill>
                            <a:srgbClr val="1C1B1A"/>
                          </a:solidFill>
                          <a:latin typeface="Segoe UI"/>
                        </a:rPr>
                        <a:t>30.5 s</a:t>
                      </a:r>
                    </a:p>
                  </a:txBody>
                  <a:tcPr anchor="ctr" marL="91440" marR="91440" marT="27432" marB="27432">
                    <a:lnB w="9525">
                      <a:solidFill>
                        <a:srgbClr val="D9D2C3"/>
                      </a:solidFill>
                    </a:lnB>
                    <a:noFill/>
                  </a:tcPr>
                </a:tc>
                <a:tc>
                  <a:txBody>
                    <a:bodyPr/>
                    <a:lstStyle/>
                    <a:p>
                      <a:r>
                        <a:rPr sz="1600" b="0">
                          <a:solidFill>
                            <a:srgbClr val="1C1B1A"/>
                          </a:solidFill>
                          <a:latin typeface="Segoe UI"/>
                        </a:rPr>
                        <a:t>0.5 s</a:t>
                      </a:r>
                    </a:p>
                  </a:txBody>
                  <a:tcPr anchor="ctr" marL="91440" marR="91440" marT="27432" marB="27432">
                    <a:lnB w="9525">
                      <a:solidFill>
                        <a:srgbClr val="D9D2C3"/>
                      </a:solidFill>
                    </a:lnB>
                    <a:noFill/>
                  </a:tcPr>
                </a:tc>
                <a:tc>
                  <a:txBody>
                    <a:bodyPr/>
                    <a:lstStyle/>
                    <a:p>
                      <a:r>
                        <a:rPr sz="1600" b="0">
                          <a:solidFill>
                            <a:srgbClr val="1C1B1A"/>
                          </a:solidFill>
                          <a:latin typeface="Segoe UI"/>
                        </a:rPr>
                        <a:t>0.4 s</a:t>
                      </a:r>
                    </a:p>
                  </a:txBody>
                  <a:tcPr anchor="ctr" marL="91440" marR="91440" marT="27432" marB="27432">
                    <a:lnB w="9525">
                      <a:solidFill>
                        <a:srgbClr val="D9D2C3"/>
                      </a:solidFill>
                    </a:lnB>
                    <a:noFill/>
                  </a:tcPr>
                </a:tc>
              </a:tr>
              <a:tr h="566928">
                <a:tc>
                  <a:txBody>
                    <a:bodyPr/>
                    <a:lstStyle/>
                    <a:p>
                      <a:r>
                        <a:rPr sz="1600" b="0">
                          <a:solidFill>
                            <a:srgbClr val="1C1B1A"/>
                          </a:solidFill>
                          <a:latin typeface="Segoe UI"/>
                        </a:rPr>
                        <a:t>Writing speed</a:t>
                      </a:r>
                    </a:p>
                  </a:txBody>
                  <a:tcPr anchor="ctr" marL="91440" marR="91440" marT="27432" marB="27432">
                    <a:lnB w="9525">
                      <a:solidFill>
                        <a:srgbClr val="D9D2C3"/>
                      </a:solidFill>
                    </a:lnB>
                    <a:noFill/>
                  </a:tcPr>
                </a:tc>
                <a:tc>
                  <a:txBody>
                    <a:bodyPr/>
                    <a:lstStyle/>
                    <a:p>
                      <a:r>
                        <a:rPr sz="1600" b="0">
                          <a:solidFill>
                            <a:srgbClr val="1C1B1A"/>
                          </a:solidFill>
                          <a:latin typeface="Segoe UI"/>
                        </a:rPr>
                        <a:t>47 tokens a second</a:t>
                      </a:r>
                    </a:p>
                  </a:txBody>
                  <a:tcPr anchor="ctr" marL="91440" marR="91440" marT="27432" marB="27432">
                    <a:lnB w="9525">
                      <a:solidFill>
                        <a:srgbClr val="D9D2C3"/>
                      </a:solidFill>
                    </a:lnB>
                    <a:noFill/>
                  </a:tcPr>
                </a:tc>
                <a:tc>
                  <a:txBody>
                    <a:bodyPr/>
                    <a:lstStyle/>
                    <a:p>
                      <a:r>
                        <a:rPr sz="1600" b="0">
                          <a:solidFill>
                            <a:srgbClr val="1C1B1A"/>
                          </a:solidFill>
                          <a:latin typeface="Segoe UI"/>
                        </a:rPr>
                        <a:t>40 tokens a second</a:t>
                      </a:r>
                    </a:p>
                  </a:txBody>
                  <a:tcPr anchor="ctr" marL="91440" marR="91440" marT="27432" marB="27432">
                    <a:lnB w="9525">
                      <a:solidFill>
                        <a:srgbClr val="D9D2C3"/>
                      </a:solidFill>
                    </a:lnB>
                    <a:noFill/>
                  </a:tcPr>
                </a:tc>
                <a:tc>
                  <a:txBody>
                    <a:bodyPr/>
                    <a:lstStyle/>
                    <a:p>
                      <a:r>
                        <a:rPr sz="1600" b="0">
                          <a:solidFill>
                            <a:srgbClr val="1C1B1A"/>
                          </a:solidFill>
                          <a:latin typeface="Segoe UI"/>
                        </a:rPr>
                        <a:t>65 tokens a second</a:t>
                      </a:r>
                    </a:p>
                  </a:txBody>
                  <a:tcPr anchor="ctr" marL="91440" marR="91440" marT="27432" marB="27432">
                    <a:lnB w="9525">
                      <a:solidFill>
                        <a:srgbClr val="D9D2C3"/>
                      </a:solidFill>
                    </a:lnB>
                    <a:noFill/>
                  </a:tcPr>
                </a:tc>
              </a:tr>
            </a:tbl>
          </a:graphicData>
        </a:graphic>
      </p:graphicFrame>
      <p:sp>
        <p:nvSpPr>
          <p:cNvPr id="8" name="TextBox 7"/>
          <p:cNvSpPr txBox="1"/>
          <p:nvPr/>
        </p:nvSpPr>
        <p:spPr>
          <a:xfrm>
            <a:off x="685800" y="5138928"/>
            <a:ext cx="10820095" cy="640080"/>
          </a:xfrm>
          <a:prstGeom prst="rect">
            <a:avLst/>
          </a:prstGeom>
          <a:noFill/>
        </p:spPr>
        <p:txBody>
          <a:bodyPr wrap="square" anchor="t" lIns="45720" rIns="45720" tIns="27432" bIns="27432">
            <a:spAutoFit/>
          </a:bodyPr>
          <a:lstStyle/>
          <a:p>
            <a:pPr algn="l"/>
            <a:r>
              <a:rPr sz="1600" b="0" i="1">
                <a:solidFill>
                  <a:srgbClr val="6B665C"/>
                </a:solidFill>
                <a:latin typeface="Segoe UI"/>
              </a:rPr>
              <a:t>Clean runs only. Offline means the outside websites were blocked. Quote the after-fix column, which matches the current code.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TextBox 1"/>
          <p:cNvSpPr txBox="1"/>
          <p:nvPr/>
        </p:nvSpPr>
        <p:spPr>
          <a:xfrm>
            <a:off x="685800" y="411480"/>
            <a:ext cx="10820095" cy="777240"/>
          </a:xfrm>
          <a:prstGeom prst="rect">
            <a:avLst/>
          </a:prstGeom>
          <a:noFill/>
        </p:spPr>
        <p:txBody>
          <a:bodyPr wrap="square" anchor="b" lIns="45720" rIns="45720" tIns="27432" bIns="27432">
            <a:spAutoFit/>
          </a:bodyPr>
          <a:lstStyle/>
          <a:p>
            <a:pPr algn="l"/>
            <a:r>
              <a:rPr sz="3000" b="1" i="0">
                <a:solidFill>
                  <a:srgbClr val="1C1B1A"/>
                </a:solidFill>
                <a:latin typeface="Georgia"/>
              </a:rPr>
              <a:t>The layers, and what each one does</a:t>
            </a:r>
          </a:p>
        </p:txBody>
      </p:sp>
      <p:cxnSp>
        <p:nvCxnSpPr>
          <p:cNvPr id="3" name="Connector 2"/>
          <p:cNvCxnSpPr/>
          <p:nvPr/>
        </p:nvCxnSpPr>
        <p:spPr>
          <a:xfrm>
            <a:off x="685800" y="1280160"/>
            <a:ext cx="10820095" cy="0"/>
          </a:xfrm>
          <a:prstGeom prst="line">
            <a:avLst/>
          </a:prstGeom>
          <a:ln w="9525">
            <a:solidFill>
              <a:srgbClr val="D9D2C3"/>
            </a:solidFill>
          </a:ln>
        </p:spPr>
      </p:cxnSp>
      <p:sp>
        <p:nvSpPr>
          <p:cNvPr id="4" name="Rectangle 3"/>
          <p:cNvSpPr/>
          <p:nvPr/>
        </p:nvSpPr>
        <p:spPr>
          <a:xfrm>
            <a:off x="685800" y="1252728"/>
            <a:ext cx="822960" cy="45720"/>
          </a:xfrm>
          <a:prstGeom prst="rect">
            <a:avLst/>
          </a:prstGeom>
          <a:solidFill>
            <a:srgbClr val="B43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355080"/>
            <a:ext cx="9144000" cy="365760"/>
          </a:xfrm>
          <a:prstGeom prst="rect">
            <a:avLst/>
          </a:prstGeom>
          <a:noFill/>
        </p:spPr>
        <p:txBody>
          <a:bodyPr wrap="square" anchor="t" lIns="45720" rIns="45720" tIns="27432" bIns="27432">
            <a:spAutoFit/>
          </a:bodyPr>
          <a:lstStyle/>
          <a:p>
            <a:pPr algn="l"/>
            <a:r>
              <a:rPr sz="1600" b="0" i="0">
                <a:solidFill>
                  <a:srgbClr val="6B665C"/>
                </a:solidFill>
                <a:latin typeface="Segoe UI"/>
              </a:rPr>
              <a:t>Page Summarizer  |  Final-Semester Review (Version 2)</a:t>
            </a:r>
          </a:p>
        </p:txBody>
      </p:sp>
      <p:sp>
        <p:nvSpPr>
          <p:cNvPr id="6" name="TextBox 5"/>
          <p:cNvSpPr txBox="1"/>
          <p:nvPr/>
        </p:nvSpPr>
        <p:spPr>
          <a:xfrm>
            <a:off x="10591495" y="6355080"/>
            <a:ext cx="914400" cy="365760"/>
          </a:xfrm>
          <a:prstGeom prst="rect">
            <a:avLst/>
          </a:prstGeom>
          <a:noFill/>
        </p:spPr>
        <p:txBody>
          <a:bodyPr wrap="square" anchor="t" lIns="45720" rIns="45720" tIns="27432" bIns="27432">
            <a:spAutoFit/>
          </a:bodyPr>
          <a:lstStyle/>
          <a:p>
            <a:pPr algn="r"/>
            <a:r>
              <a:rPr sz="1600" b="0" i="0">
                <a:solidFill>
                  <a:srgbClr val="6B665C"/>
                </a:solidFill>
                <a:latin typeface="Segoe UI"/>
              </a:rPr>
              <a:t>9</a:t>
            </a:r>
          </a:p>
        </p:txBody>
      </p:sp>
      <p:graphicFrame>
        <p:nvGraphicFramePr>
          <p:cNvPr id="7" name="Table 6"/>
          <p:cNvGraphicFramePr>
            <a:graphicFrameLocks noGrp="1"/>
          </p:cNvGraphicFramePr>
          <p:nvPr/>
        </p:nvGraphicFramePr>
        <p:xfrm>
          <a:off x="685800" y="1600200"/>
          <a:ext cx="10820094" cy="3968496"/>
        </p:xfrm>
        <a:graphic>
          <a:graphicData uri="http://schemas.openxmlformats.org/drawingml/2006/table">
            <a:tbl>
              <a:tblPr firstRow="1">
                <a:tableStyleId>{2D5ABB26-0587-4C30-8999-92F81FD0307C}</a:tableStyleId>
              </a:tblPr>
              <a:tblGrid>
                <a:gridCol w="2567480"/>
                <a:gridCol w="5685134"/>
                <a:gridCol w="2567480"/>
              </a:tblGrid>
              <a:tr h="566928">
                <a:tc>
                  <a:txBody>
                    <a:bodyPr/>
                    <a:lstStyle/>
                    <a:p>
                      <a:r>
                        <a:rPr sz="1600" b="1">
                          <a:solidFill>
                            <a:srgbClr val="1C1B1A"/>
                          </a:solidFill>
                          <a:latin typeface="Segoe UI"/>
                        </a:rPr>
                        <a:t>Layer</a:t>
                      </a:r>
                    </a:p>
                  </a:txBody>
                  <a:tcPr anchor="ctr" marL="91440" marR="91440" marT="27432" marB="27432">
                    <a:lnB w="12700">
                      <a:solidFill>
                        <a:srgbClr val="1C1B1A"/>
                      </a:solidFill>
                    </a:lnB>
                    <a:noFill/>
                  </a:tcPr>
                </a:tc>
                <a:tc>
                  <a:txBody>
                    <a:bodyPr/>
                    <a:lstStyle/>
                    <a:p>
                      <a:r>
                        <a:rPr sz="1600" b="1">
                          <a:solidFill>
                            <a:srgbClr val="1C1B1A"/>
                          </a:solidFill>
                          <a:latin typeface="Segoe UI"/>
                        </a:rPr>
                        <a:t>What it does</a:t>
                      </a:r>
                    </a:p>
                  </a:txBody>
                  <a:tcPr anchor="ctr" marL="91440" marR="91440" marT="27432" marB="27432">
                    <a:lnB w="12700">
                      <a:solidFill>
                        <a:srgbClr val="1C1B1A"/>
                      </a:solidFill>
                    </a:lnB>
                    <a:noFill/>
                  </a:tcPr>
                </a:tc>
                <a:tc>
                  <a:txBody>
                    <a:bodyPr/>
                    <a:lstStyle/>
                    <a:p>
                      <a:r>
                        <a:rPr sz="1600" b="1">
                          <a:solidFill>
                            <a:srgbClr val="1C1B1A"/>
                          </a:solidFill>
                          <a:latin typeface="Segoe UI"/>
                        </a:rPr>
                        <a:t>File</a:t>
                      </a:r>
                    </a:p>
                  </a:txBody>
                  <a:tcPr anchor="ctr" marL="91440" marR="91440" marT="27432" marB="27432">
                    <a:lnB w="12700">
                      <a:solidFill>
                        <a:srgbClr val="1C1B1A"/>
                      </a:solidFill>
                    </a:lnB>
                    <a:noFill/>
                  </a:tcPr>
                </a:tc>
              </a:tr>
              <a:tr h="566928">
                <a:tc>
                  <a:txBody>
                    <a:bodyPr/>
                    <a:lstStyle/>
                    <a:p>
                      <a:r>
                        <a:rPr sz="1600" b="0">
                          <a:solidFill>
                            <a:srgbClr val="1C1B1A"/>
                          </a:solidFill>
                          <a:latin typeface="Segoe UI"/>
                        </a:rPr>
                        <a:t>Popup</a:t>
                      </a:r>
                    </a:p>
                  </a:txBody>
                  <a:tcPr anchor="ctr" marL="91440" marR="91440" marT="27432" marB="27432">
                    <a:lnB w="9525">
                      <a:solidFill>
                        <a:srgbClr val="D9D2C3"/>
                      </a:solidFill>
                    </a:lnB>
                    <a:noFill/>
                  </a:tcPr>
                </a:tc>
                <a:tc>
                  <a:txBody>
                    <a:bodyPr/>
                    <a:lstStyle/>
                    <a:p>
                      <a:r>
                        <a:rPr sz="1600" b="0">
                          <a:solidFill>
                            <a:srgbClr val="1C1B1A"/>
                          </a:solidFill>
                          <a:latin typeface="Segoe UI"/>
                        </a:rPr>
                        <a:t>Summarize button and progress lines</a:t>
                      </a:r>
                    </a:p>
                  </a:txBody>
                  <a:tcPr anchor="ctr" marL="91440" marR="91440" marT="27432" marB="27432">
                    <a:lnB w="9525">
                      <a:solidFill>
                        <a:srgbClr val="D9D2C3"/>
                      </a:solidFill>
                    </a:lnB>
                    <a:noFill/>
                  </a:tcPr>
                </a:tc>
                <a:tc>
                  <a:txBody>
                    <a:bodyPr/>
                    <a:lstStyle/>
                    <a:p>
                      <a:r>
                        <a:rPr sz="1600" b="0">
                          <a:solidFill>
                            <a:srgbClr val="1C1B1A"/>
                          </a:solidFill>
                          <a:latin typeface="Segoe UI"/>
                        </a:rPr>
                        <a:t>popup.js</a:t>
                      </a:r>
                    </a:p>
                  </a:txBody>
                  <a:tcPr anchor="ctr" marL="91440" marR="91440" marT="27432" marB="27432">
                    <a:lnB w="9525">
                      <a:solidFill>
                        <a:srgbClr val="D9D2C3"/>
                      </a:solidFill>
                    </a:lnB>
                    <a:noFill/>
                  </a:tcPr>
                </a:tc>
              </a:tr>
              <a:tr h="566928">
                <a:tc>
                  <a:txBody>
                    <a:bodyPr/>
                    <a:lstStyle/>
                    <a:p>
                      <a:r>
                        <a:rPr sz="1600" b="0">
                          <a:solidFill>
                            <a:srgbClr val="1C1B1A"/>
                          </a:solidFill>
                          <a:latin typeface="Segoe UI"/>
                        </a:rPr>
                        <a:t>Service worker</a:t>
                      </a:r>
                    </a:p>
                  </a:txBody>
                  <a:tcPr anchor="ctr" marL="91440" marR="91440" marT="27432" marB="27432">
                    <a:lnB w="9525">
                      <a:solidFill>
                        <a:srgbClr val="D9D2C3"/>
                      </a:solidFill>
                    </a:lnB>
                    <a:noFill/>
                  </a:tcPr>
                </a:tc>
                <a:tc>
                  <a:txBody>
                    <a:bodyPr/>
                    <a:lstStyle/>
                    <a:p>
                      <a:r>
                        <a:rPr sz="1600" b="0">
                          <a:solidFill>
                            <a:srgbClr val="1C1B1A"/>
                          </a:solidFill>
                          <a:latin typeface="Segoe UI"/>
                        </a:rPr>
                        <a:t>Owns the job, the parts and the merge</a:t>
                      </a:r>
                    </a:p>
                  </a:txBody>
                  <a:tcPr anchor="ctr" marL="91440" marR="91440" marT="27432" marB="27432">
                    <a:lnB w="9525">
                      <a:solidFill>
                        <a:srgbClr val="D9D2C3"/>
                      </a:solidFill>
                    </a:lnB>
                    <a:noFill/>
                  </a:tcPr>
                </a:tc>
                <a:tc>
                  <a:txBody>
                    <a:bodyPr/>
                    <a:lstStyle/>
                    <a:p>
                      <a:r>
                        <a:rPr sz="1600" b="0">
                          <a:solidFill>
                            <a:srgbClr val="1C1B1A"/>
                          </a:solidFill>
                          <a:latin typeface="Segoe UI"/>
                        </a:rPr>
                        <a:t>service-worker.js</a:t>
                      </a:r>
                    </a:p>
                  </a:txBody>
                  <a:tcPr anchor="ctr" marL="91440" marR="91440" marT="27432" marB="27432">
                    <a:lnB w="9525">
                      <a:solidFill>
                        <a:srgbClr val="D9D2C3"/>
                      </a:solidFill>
                    </a:lnB>
                    <a:noFill/>
                  </a:tcPr>
                </a:tc>
              </a:tr>
              <a:tr h="566928">
                <a:tc>
                  <a:txBody>
                    <a:bodyPr/>
                    <a:lstStyle/>
                    <a:p>
                      <a:r>
                        <a:rPr sz="1600" b="0">
                          <a:solidFill>
                            <a:srgbClr val="1C1B1A"/>
                          </a:solidFill>
                          <a:latin typeface="Segoe UI"/>
                        </a:rPr>
                        <a:t>Offscreen page</a:t>
                      </a:r>
                    </a:p>
                  </a:txBody>
                  <a:tcPr anchor="ctr" marL="91440" marR="91440" marT="27432" marB="27432">
                    <a:lnB w="9525">
                      <a:solidFill>
                        <a:srgbClr val="D9D2C3"/>
                      </a:solidFill>
                    </a:lnB>
                    <a:noFill/>
                  </a:tcPr>
                </a:tc>
                <a:tc>
                  <a:txBody>
                    <a:bodyPr/>
                    <a:lstStyle/>
                    <a:p>
                      <a:r>
                        <a:rPr sz="1600" b="0">
                          <a:solidFill>
                            <a:srgbClr val="1C1B1A"/>
                          </a:solidFill>
                          <a:latin typeface="Segoe UI"/>
                        </a:rPr>
                        <a:t>Keeps the model loaded; closes after 5 minutes idle</a:t>
                      </a:r>
                    </a:p>
                  </a:txBody>
                  <a:tcPr anchor="ctr" marL="91440" marR="91440" marT="27432" marB="27432">
                    <a:lnB w="9525">
                      <a:solidFill>
                        <a:srgbClr val="D9D2C3"/>
                      </a:solidFill>
                    </a:lnB>
                    <a:noFill/>
                  </a:tcPr>
                </a:tc>
                <a:tc>
                  <a:txBody>
                    <a:bodyPr/>
                    <a:lstStyle/>
                    <a:p>
                      <a:r>
                        <a:rPr sz="1600" b="0">
                          <a:solidFill>
                            <a:srgbClr val="1C1B1A"/>
                          </a:solidFill>
                          <a:latin typeface="Segoe UI"/>
                        </a:rPr>
                        <a:t>offscreen.js</a:t>
                      </a:r>
                    </a:p>
                  </a:txBody>
                  <a:tcPr anchor="ctr" marL="91440" marR="91440" marT="27432" marB="27432">
                    <a:lnB w="9525">
                      <a:solidFill>
                        <a:srgbClr val="D9D2C3"/>
                      </a:solidFill>
                    </a:lnB>
                    <a:noFill/>
                  </a:tcPr>
                </a:tc>
              </a:tr>
              <a:tr h="566928">
                <a:tc>
                  <a:txBody>
                    <a:bodyPr/>
                    <a:lstStyle/>
                    <a:p>
                      <a:r>
                        <a:rPr sz="1600" b="0">
                          <a:solidFill>
                            <a:srgbClr val="1C1B1A"/>
                          </a:solidFill>
                          <a:latin typeface="Segoe UI"/>
                        </a:rPr>
                        <a:t>Web worker</a:t>
                      </a:r>
                    </a:p>
                  </a:txBody>
                  <a:tcPr anchor="ctr" marL="91440" marR="91440" marT="27432" marB="27432">
                    <a:lnB w="9525">
                      <a:solidFill>
                        <a:srgbClr val="D9D2C3"/>
                      </a:solidFill>
                    </a:lnB>
                    <a:noFill/>
                  </a:tcPr>
                </a:tc>
                <a:tc>
                  <a:txBody>
                    <a:bodyPr/>
                    <a:lstStyle/>
                    <a:p>
                      <a:r>
                        <a:rPr sz="1600" b="0">
                          <a:solidFill>
                            <a:srgbClr val="1C1B1A"/>
                          </a:solidFill>
                          <a:latin typeface="Segoe UI"/>
                        </a:rPr>
                        <a:t>Runs WebLLM's handler, so the page stays responsive</a:t>
                      </a:r>
                    </a:p>
                  </a:txBody>
                  <a:tcPr anchor="ctr" marL="91440" marR="91440" marT="27432" marB="27432">
                    <a:lnB w="9525">
                      <a:solidFill>
                        <a:srgbClr val="D9D2C3"/>
                      </a:solidFill>
                    </a:lnB>
                    <a:noFill/>
                  </a:tcPr>
                </a:tc>
                <a:tc>
                  <a:txBody>
                    <a:bodyPr/>
                    <a:lstStyle/>
                    <a:p>
                      <a:r>
                        <a:rPr sz="1600" b="0">
                          <a:solidFill>
                            <a:srgbClr val="1C1B1A"/>
                          </a:solidFill>
                          <a:latin typeface="Segoe UI"/>
                        </a:rPr>
                        <a:t>engine-worker.js</a:t>
                      </a:r>
                    </a:p>
                  </a:txBody>
                  <a:tcPr anchor="ctr" marL="91440" marR="91440" marT="27432" marB="27432">
                    <a:lnB w="9525">
                      <a:solidFill>
                        <a:srgbClr val="D9D2C3"/>
                      </a:solidFill>
                    </a:lnB>
                    <a:noFill/>
                  </a:tcPr>
                </a:tc>
              </a:tr>
              <a:tr h="566928">
                <a:tc>
                  <a:txBody>
                    <a:bodyPr/>
                    <a:lstStyle/>
                    <a:p>
                      <a:r>
                        <a:rPr sz="1600" b="0">
                          <a:solidFill>
                            <a:srgbClr val="1C1B1A"/>
                          </a:solidFill>
                          <a:latin typeface="Segoe UI"/>
                        </a:rPr>
                        <a:t>WebLLM</a:t>
                      </a:r>
                    </a:p>
                  </a:txBody>
                  <a:tcPr anchor="ctr" marL="91440" marR="91440" marT="27432" marB="27432">
                    <a:lnB w="9525">
                      <a:solidFill>
                        <a:srgbClr val="D9D2C3"/>
                      </a:solidFill>
                    </a:lnB>
                    <a:noFill/>
                  </a:tcPr>
                </a:tc>
                <a:tc>
                  <a:txBody>
                    <a:bodyPr/>
                    <a:lstStyle/>
                    <a:p>
                      <a:r>
                        <a:rPr sz="1600" b="0">
                          <a:solidFill>
                            <a:srgbClr val="1C1B1A"/>
                          </a:solidFill>
                          <a:latin typeface="Segoe UI"/>
                        </a:rPr>
                        <a:t>Reads the model, splits text into tokens, runs each answer</a:t>
                      </a:r>
                    </a:p>
                  </a:txBody>
                  <a:tcPr anchor="ctr" marL="91440" marR="91440" marT="27432" marB="27432">
                    <a:lnB w="9525">
                      <a:solidFill>
                        <a:srgbClr val="D9D2C3"/>
                      </a:solidFill>
                    </a:lnB>
                    <a:noFill/>
                  </a:tcPr>
                </a:tc>
                <a:tc>
                  <a:txBody>
                    <a:bodyPr/>
                    <a:lstStyle/>
                    <a:p>
                      <a:r>
                        <a:rPr sz="1600" b="0">
                          <a:solidFill>
                            <a:srgbClr val="1C1B1A"/>
                          </a:solidFill>
                          <a:latin typeface="Segoe UI"/>
                        </a:rPr>
                        <a:t>lib/web-llm.js</a:t>
                      </a:r>
                    </a:p>
                  </a:txBody>
                  <a:tcPr anchor="ctr" marL="91440" marR="91440" marT="27432" marB="27432">
                    <a:lnB w="9525">
                      <a:solidFill>
                        <a:srgbClr val="D9D2C3"/>
                      </a:solidFill>
                    </a:lnB>
                    <a:noFill/>
                  </a:tcPr>
                </a:tc>
              </a:tr>
              <a:tr h="566928">
                <a:tc>
                  <a:txBody>
                    <a:bodyPr/>
                    <a:lstStyle/>
                    <a:p>
                      <a:r>
                        <a:rPr sz="1600" b="0">
                          <a:solidFill>
                            <a:srgbClr val="1C1B1A"/>
                          </a:solidFill>
                          <a:latin typeface="Segoe UI"/>
                        </a:rPr>
                        <a:t>WebGPU</a:t>
                      </a:r>
                    </a:p>
                  </a:txBody>
                  <a:tcPr anchor="ctr" marL="91440" marR="91440" marT="27432" marB="27432">
                    <a:lnB w="9525">
                      <a:solidFill>
                        <a:srgbClr val="D9D2C3"/>
                      </a:solidFill>
                    </a:lnB>
                    <a:noFill/>
                  </a:tcPr>
                </a:tc>
                <a:tc>
                  <a:txBody>
                    <a:bodyPr/>
                    <a:lstStyle/>
                    <a:p>
                      <a:r>
                        <a:rPr sz="1600" b="0">
                          <a:solidFill>
                            <a:srgbClr val="1C1B1A"/>
                          </a:solidFill>
                          <a:latin typeface="Segoe UI"/>
                        </a:rPr>
                        <a:t>Does the calculations on the graphics card</a:t>
                      </a:r>
                    </a:p>
                  </a:txBody>
                  <a:tcPr anchor="ctr" marL="91440" marR="91440" marT="27432" marB="27432">
                    <a:lnB w="9525">
                      <a:solidFill>
                        <a:srgbClr val="D9D2C3"/>
                      </a:solidFill>
                    </a:lnB>
                    <a:noFill/>
                  </a:tcPr>
                </a:tc>
                <a:tc>
                  <a:txBody>
                    <a:bodyPr/>
                    <a:lstStyle/>
                    <a:p>
                      <a:r>
                        <a:rPr sz="1600" b="0">
                          <a:solidFill>
                            <a:srgbClr val="1C1B1A"/>
                          </a:solidFill>
                          <a:latin typeface="Segoe UI"/>
                        </a:rPr>
                        <a:t>Chrome feature</a:t>
                      </a:r>
                    </a:p>
                  </a:txBody>
                  <a:tcPr anchor="ctr" marL="91440" marR="91440" marT="27432" marB="27432">
                    <a:lnB w="9525">
                      <a:solidFill>
                        <a:srgbClr val="D9D2C3"/>
                      </a:solidFill>
                    </a:lnB>
                    <a:noFill/>
                  </a:tcPr>
                </a:tc>
              </a:tr>
            </a:tbl>
          </a:graphicData>
        </a:graphic>
      </p:graphicFrame>
      <p:sp>
        <p:nvSpPr>
          <p:cNvPr id="8" name="TextBox 7"/>
          <p:cNvSpPr txBox="1"/>
          <p:nvPr/>
        </p:nvSpPr>
        <p:spPr>
          <a:xfrm>
            <a:off x="685800" y="5705856"/>
            <a:ext cx="10820095" cy="640080"/>
          </a:xfrm>
          <a:prstGeom prst="rect">
            <a:avLst/>
          </a:prstGeom>
          <a:noFill/>
        </p:spPr>
        <p:txBody>
          <a:bodyPr wrap="square" anchor="t" lIns="45720" rIns="45720" tIns="27432" bIns="27432">
            <a:spAutoFit/>
          </a:bodyPr>
          <a:lstStyle/>
          <a:p>
            <a:pPr algn="l"/>
            <a:r>
              <a:rPr sz="1600" b="0" i="1">
                <a:solidFill>
                  <a:srgbClr val="6B665C"/>
                </a:solidFill>
                <a:latin typeface="Segoe UI"/>
              </a:rPr>
              <a:t>The popup only shows progress. Closing it does not stop the job.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TextBox 1"/>
          <p:cNvSpPr txBox="1"/>
          <p:nvPr/>
        </p:nvSpPr>
        <p:spPr>
          <a:xfrm>
            <a:off x="685800" y="411480"/>
            <a:ext cx="10820095" cy="777240"/>
          </a:xfrm>
          <a:prstGeom prst="rect">
            <a:avLst/>
          </a:prstGeom>
          <a:noFill/>
        </p:spPr>
        <p:txBody>
          <a:bodyPr wrap="square" anchor="b" lIns="45720" rIns="45720" tIns="27432" bIns="27432">
            <a:spAutoFit/>
          </a:bodyPr>
          <a:lstStyle/>
          <a:p>
            <a:pPr algn="l"/>
            <a:r>
              <a:rPr sz="3000" b="1" i="0">
                <a:solidFill>
                  <a:srgbClr val="1C1B1A"/>
                </a:solidFill>
                <a:latin typeface="Georgia"/>
              </a:rPr>
              <a:t>Where the model files live, and the offline proof</a:t>
            </a:r>
          </a:p>
        </p:txBody>
      </p:sp>
      <p:cxnSp>
        <p:nvCxnSpPr>
          <p:cNvPr id="3" name="Connector 2"/>
          <p:cNvCxnSpPr/>
          <p:nvPr/>
        </p:nvCxnSpPr>
        <p:spPr>
          <a:xfrm>
            <a:off x="685800" y="1280160"/>
            <a:ext cx="10820095" cy="0"/>
          </a:xfrm>
          <a:prstGeom prst="line">
            <a:avLst/>
          </a:prstGeom>
          <a:ln w="9525">
            <a:solidFill>
              <a:srgbClr val="D9D2C3"/>
            </a:solidFill>
          </a:ln>
        </p:spPr>
      </p:cxnSp>
      <p:sp>
        <p:nvSpPr>
          <p:cNvPr id="4" name="Rectangle 3"/>
          <p:cNvSpPr/>
          <p:nvPr/>
        </p:nvSpPr>
        <p:spPr>
          <a:xfrm>
            <a:off x="685800" y="1252728"/>
            <a:ext cx="822960" cy="45720"/>
          </a:xfrm>
          <a:prstGeom prst="rect">
            <a:avLst/>
          </a:prstGeom>
          <a:solidFill>
            <a:srgbClr val="B43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355080"/>
            <a:ext cx="9144000" cy="365760"/>
          </a:xfrm>
          <a:prstGeom prst="rect">
            <a:avLst/>
          </a:prstGeom>
          <a:noFill/>
        </p:spPr>
        <p:txBody>
          <a:bodyPr wrap="square" anchor="t" lIns="45720" rIns="45720" tIns="27432" bIns="27432">
            <a:spAutoFit/>
          </a:bodyPr>
          <a:lstStyle/>
          <a:p>
            <a:pPr algn="l"/>
            <a:r>
              <a:rPr sz="1600" b="0" i="0">
                <a:solidFill>
                  <a:srgbClr val="6B665C"/>
                </a:solidFill>
                <a:latin typeface="Segoe UI"/>
              </a:rPr>
              <a:t>Page Summarizer  |  Final-Semester Review (Version 2)</a:t>
            </a:r>
          </a:p>
        </p:txBody>
      </p:sp>
      <p:sp>
        <p:nvSpPr>
          <p:cNvPr id="6" name="TextBox 5"/>
          <p:cNvSpPr txBox="1"/>
          <p:nvPr/>
        </p:nvSpPr>
        <p:spPr>
          <a:xfrm>
            <a:off x="10591495" y="6355080"/>
            <a:ext cx="914400" cy="365760"/>
          </a:xfrm>
          <a:prstGeom prst="rect">
            <a:avLst/>
          </a:prstGeom>
          <a:noFill/>
        </p:spPr>
        <p:txBody>
          <a:bodyPr wrap="square" anchor="t" lIns="45720" rIns="45720" tIns="27432" bIns="27432">
            <a:spAutoFit/>
          </a:bodyPr>
          <a:lstStyle/>
          <a:p>
            <a:pPr algn="r"/>
            <a:r>
              <a:rPr sz="1600" b="0" i="0">
                <a:solidFill>
                  <a:srgbClr val="6B665C"/>
                </a:solidFill>
                <a:latin typeface="Segoe UI"/>
              </a:rPr>
              <a:t>10</a:t>
            </a:r>
          </a:p>
        </p:txBody>
      </p:sp>
      <p:graphicFrame>
        <p:nvGraphicFramePr>
          <p:cNvPr id="7" name="Table 6"/>
          <p:cNvGraphicFramePr>
            <a:graphicFrameLocks noGrp="1"/>
          </p:cNvGraphicFramePr>
          <p:nvPr/>
        </p:nvGraphicFramePr>
        <p:xfrm>
          <a:off x="685800" y="1600200"/>
          <a:ext cx="10820094" cy="2834640"/>
        </p:xfrm>
        <a:graphic>
          <a:graphicData uri="http://schemas.openxmlformats.org/drawingml/2006/table">
            <a:tbl>
              <a:tblPr firstRow="1">
                <a:tableStyleId>{2D5ABB26-0587-4C30-8999-92F81FD0307C}</a:tableStyleId>
              </a:tblPr>
              <a:tblGrid>
                <a:gridCol w="2073851"/>
                <a:gridCol w="2975526"/>
                <a:gridCol w="3155861"/>
                <a:gridCol w="2614856"/>
              </a:tblGrid>
              <a:tr h="566928">
                <a:tc>
                  <a:txBody>
                    <a:bodyPr/>
                    <a:lstStyle/>
                    <a:p>
                      <a:r>
                        <a:rPr sz="1600" b="1">
                          <a:solidFill>
                            <a:srgbClr val="1C1B1A"/>
                          </a:solidFill>
                          <a:latin typeface="Segoe UI"/>
                        </a:rPr>
                        <a:t>Store</a:t>
                      </a:r>
                    </a:p>
                  </a:txBody>
                  <a:tcPr anchor="ctr" marL="91440" marR="91440" marT="27432" marB="27432">
                    <a:lnB w="12700">
                      <a:solidFill>
                        <a:srgbClr val="1C1B1A"/>
                      </a:solidFill>
                    </a:lnB>
                    <a:noFill/>
                  </a:tcPr>
                </a:tc>
                <a:tc>
                  <a:txBody>
                    <a:bodyPr/>
                    <a:lstStyle/>
                    <a:p>
                      <a:r>
                        <a:rPr sz="1600" b="1">
                          <a:solidFill>
                            <a:srgbClr val="1C1B1A"/>
                          </a:solidFill>
                          <a:latin typeface="Segoe UI"/>
                        </a:rPr>
                        <a:t>Where</a:t>
                      </a:r>
                    </a:p>
                  </a:txBody>
                  <a:tcPr anchor="ctr" marL="91440" marR="91440" marT="27432" marB="27432">
                    <a:lnB w="12700">
                      <a:solidFill>
                        <a:srgbClr val="1C1B1A"/>
                      </a:solidFill>
                    </a:lnB>
                    <a:noFill/>
                  </a:tcPr>
                </a:tc>
                <a:tc>
                  <a:txBody>
                    <a:bodyPr/>
                    <a:lstStyle/>
                    <a:p>
                      <a:r>
                        <a:rPr sz="1600" b="1">
                          <a:solidFill>
                            <a:srgbClr val="1C1B1A"/>
                          </a:solidFill>
                          <a:latin typeface="Segoe UI"/>
                        </a:rPr>
                        <a:t>How long it lasts</a:t>
                      </a:r>
                    </a:p>
                  </a:txBody>
                  <a:tcPr anchor="ctr" marL="91440" marR="91440" marT="27432" marB="27432">
                    <a:lnB w="12700">
                      <a:solidFill>
                        <a:srgbClr val="1C1B1A"/>
                      </a:solidFill>
                    </a:lnB>
                    <a:noFill/>
                  </a:tcPr>
                </a:tc>
                <a:tc>
                  <a:txBody>
                    <a:bodyPr/>
                    <a:lstStyle/>
                    <a:p>
                      <a:r>
                        <a:rPr sz="1600" b="1">
                          <a:solidFill>
                            <a:srgbClr val="1C1B1A"/>
                          </a:solidFill>
                          <a:latin typeface="Segoe UI"/>
                        </a:rPr>
                        <a:t>Who writes and reads it</a:t>
                      </a:r>
                    </a:p>
                  </a:txBody>
                  <a:tcPr anchor="ctr" marL="91440" marR="91440" marT="27432" marB="27432">
                    <a:lnB w="12700">
                      <a:solidFill>
                        <a:srgbClr val="1C1B1A"/>
                      </a:solidFill>
                    </a:lnB>
                    <a:noFill/>
                  </a:tcPr>
                </a:tc>
              </a:tr>
              <a:tr h="566928">
                <a:tc>
                  <a:txBody>
                    <a:bodyPr/>
                    <a:lstStyle/>
                    <a:p>
                      <a:r>
                        <a:rPr sz="1600" b="0">
                          <a:solidFill>
                            <a:srgbClr val="1C1B1A"/>
                          </a:solidFill>
                          <a:latin typeface="Segoe UI"/>
                        </a:rPr>
                        <a:t>Model files</a:t>
                      </a:r>
                    </a:p>
                  </a:txBody>
                  <a:tcPr anchor="ctr" marL="91440" marR="91440" marT="27432" marB="27432">
                    <a:lnB w="9525">
                      <a:solidFill>
                        <a:srgbClr val="D9D2C3"/>
                      </a:solidFill>
                    </a:lnB>
                    <a:noFill/>
                  </a:tcPr>
                </a:tc>
                <a:tc>
                  <a:txBody>
                    <a:bodyPr/>
                    <a:lstStyle/>
                    <a:p>
                      <a:r>
                        <a:rPr sz="1600" b="0">
                          <a:solidFill>
                            <a:srgbClr val="1C1B1A"/>
                          </a:solidFill>
                          <a:latin typeface="Segoe UI"/>
                        </a:rPr>
                        <a:t>IndexedDB, about 695 MB</a:t>
                      </a:r>
                    </a:p>
                  </a:txBody>
                  <a:tcPr anchor="ctr" marL="91440" marR="91440" marT="27432" marB="27432">
                    <a:lnB w="9525">
                      <a:solidFill>
                        <a:srgbClr val="D9D2C3"/>
                      </a:solidFill>
                    </a:lnB>
                    <a:noFill/>
                  </a:tcPr>
                </a:tc>
                <a:tc>
                  <a:txBody>
                    <a:bodyPr/>
                    <a:lstStyle/>
                    <a:p>
                      <a:r>
                        <a:rPr sz="1600" b="0">
                          <a:solidFill>
                            <a:srgbClr val="1C1B1A"/>
                          </a:solidFill>
                          <a:latin typeface="Segoe UI"/>
                        </a:rPr>
                        <a:t>Kept between runs; no code deletes them</a:t>
                      </a:r>
                    </a:p>
                  </a:txBody>
                  <a:tcPr anchor="ctr" marL="91440" marR="91440" marT="27432" marB="27432">
                    <a:lnB w="9525">
                      <a:solidFill>
                        <a:srgbClr val="D9D2C3"/>
                      </a:solidFill>
                    </a:lnB>
                    <a:noFill/>
                  </a:tcPr>
                </a:tc>
                <a:tc>
                  <a:txBody>
                    <a:bodyPr/>
                    <a:lstStyle/>
                    <a:p>
                      <a:r>
                        <a:rPr sz="1600" b="0">
                          <a:solidFill>
                            <a:srgbClr val="1C1B1A"/>
                          </a:solidFill>
                          <a:latin typeface="Segoe UI"/>
                        </a:rPr>
                        <a:t>Offscreen page writes on first use</a:t>
                      </a:r>
                    </a:p>
                  </a:txBody>
                  <a:tcPr anchor="ctr" marL="91440" marR="91440" marT="27432" marB="27432">
                    <a:lnB w="9525">
                      <a:solidFill>
                        <a:srgbClr val="D9D2C3"/>
                      </a:solidFill>
                    </a:lnB>
                    <a:noFill/>
                  </a:tcPr>
                </a:tc>
              </a:tr>
              <a:tr h="566928">
                <a:tc>
                  <a:txBody>
                    <a:bodyPr/>
                    <a:lstStyle/>
                    <a:p>
                      <a:r>
                        <a:rPr sz="1600" b="0">
                          <a:solidFill>
                            <a:srgbClr val="1C1B1A"/>
                          </a:solidFill>
                          <a:latin typeface="Segoe UI"/>
                        </a:rPr>
                        <a:t>Job record</a:t>
                      </a:r>
                    </a:p>
                  </a:txBody>
                  <a:tcPr anchor="ctr" marL="91440" marR="91440" marT="27432" marB="27432">
                    <a:lnB w="9525">
                      <a:solidFill>
                        <a:srgbClr val="D9D2C3"/>
                      </a:solidFill>
                    </a:lnB>
                    <a:noFill/>
                  </a:tcPr>
                </a:tc>
                <a:tc>
                  <a:txBody>
                    <a:bodyPr/>
                    <a:lstStyle/>
                    <a:p>
                      <a:r>
                        <a:rPr sz="1600" b="0">
                          <a:solidFill>
                            <a:srgbClr val="1C1B1A"/>
                          </a:solidFill>
                          <a:latin typeface="Segoe UI"/>
                        </a:rPr>
                        <a:t>chrome.storage.session</a:t>
                      </a:r>
                    </a:p>
                  </a:txBody>
                  <a:tcPr anchor="ctr" marL="91440" marR="91440" marT="27432" marB="27432">
                    <a:lnB w="9525">
                      <a:solidFill>
                        <a:srgbClr val="D9D2C3"/>
                      </a:solidFill>
                    </a:lnB>
                    <a:noFill/>
                  </a:tcPr>
                </a:tc>
                <a:tc>
                  <a:txBody>
                    <a:bodyPr/>
                    <a:lstStyle/>
                    <a:p>
                      <a:r>
                        <a:rPr sz="1600" b="0">
                          <a:solidFill>
                            <a:srgbClr val="1C1B1A"/>
                          </a:solidFill>
                          <a:latin typeface="Segoe UI"/>
                        </a:rPr>
                        <a:t>Until the browser closes; removed when its tab closes</a:t>
                      </a:r>
                    </a:p>
                  </a:txBody>
                  <a:tcPr anchor="ctr" marL="91440" marR="91440" marT="27432" marB="27432">
                    <a:lnB w="9525">
                      <a:solidFill>
                        <a:srgbClr val="D9D2C3"/>
                      </a:solidFill>
                    </a:lnB>
                    <a:noFill/>
                  </a:tcPr>
                </a:tc>
                <a:tc>
                  <a:txBody>
                    <a:bodyPr/>
                    <a:lstStyle/>
                    <a:p>
                      <a:r>
                        <a:rPr sz="1600" b="0">
                          <a:solidFill>
                            <a:srgbClr val="1C1B1A"/>
                          </a:solidFill>
                          <a:latin typeface="Segoe UI"/>
                        </a:rPr>
                        <a:t>Service worker writes; popup reads</a:t>
                      </a:r>
                    </a:p>
                  </a:txBody>
                  <a:tcPr anchor="ctr" marL="91440" marR="91440" marT="27432" marB="27432">
                    <a:lnB w="9525">
                      <a:solidFill>
                        <a:srgbClr val="D9D2C3"/>
                      </a:solidFill>
                    </a:lnB>
                    <a:noFill/>
                  </a:tcPr>
                </a:tc>
              </a:tr>
              <a:tr h="566928">
                <a:tc>
                  <a:txBody>
                    <a:bodyPr/>
                    <a:lstStyle/>
                    <a:p>
                      <a:r>
                        <a:rPr sz="1600" b="0">
                          <a:solidFill>
                            <a:srgbClr val="1C1B1A"/>
                          </a:solidFill>
                          <a:latin typeface="Segoe UI"/>
                        </a:rPr>
                        <a:t>Settings</a:t>
                      </a:r>
                    </a:p>
                  </a:txBody>
                  <a:tcPr anchor="ctr" marL="91440" marR="91440" marT="27432" marB="27432">
                    <a:lnB w="9525">
                      <a:solidFill>
                        <a:srgbClr val="D9D2C3"/>
                      </a:solidFill>
                    </a:lnB>
                    <a:noFill/>
                  </a:tcPr>
                </a:tc>
                <a:tc>
                  <a:txBody>
                    <a:bodyPr/>
                    <a:lstStyle/>
                    <a:p>
                      <a:r>
                        <a:rPr sz="1600" b="0">
                          <a:solidFill>
                            <a:srgbClr val="1C1B1A"/>
                          </a:solidFill>
                          <a:latin typeface="Segoe UI"/>
                        </a:rPr>
                        <a:t>chrome.storage.local</a:t>
                      </a:r>
                    </a:p>
                  </a:txBody>
                  <a:tcPr anchor="ctr" marL="91440" marR="91440" marT="27432" marB="27432">
                    <a:lnB w="9525">
                      <a:solidFill>
                        <a:srgbClr val="D9D2C3"/>
                      </a:solidFill>
                    </a:lnB>
                    <a:noFill/>
                  </a:tcPr>
                </a:tc>
                <a:tc>
                  <a:txBody>
                    <a:bodyPr/>
                    <a:lstStyle/>
                    <a:p>
                      <a:r>
                        <a:rPr sz="1600" b="0">
                          <a:solidFill>
                            <a:srgbClr val="1C1B1A"/>
                          </a:solidFill>
                          <a:latin typeface="Segoe UI"/>
                        </a:rPr>
                        <a:t>Kept across restarts</a:t>
                      </a:r>
                    </a:p>
                  </a:txBody>
                  <a:tcPr anchor="ctr" marL="91440" marR="91440" marT="27432" marB="27432">
                    <a:lnB w="9525">
                      <a:solidFill>
                        <a:srgbClr val="D9D2C3"/>
                      </a:solidFill>
                    </a:lnB>
                    <a:noFill/>
                  </a:tcPr>
                </a:tc>
                <a:tc>
                  <a:txBody>
                    <a:bodyPr/>
                    <a:lstStyle/>
                    <a:p>
                      <a:r>
                        <a:rPr sz="1600" b="0">
                          <a:solidFill>
                            <a:srgbClr val="1C1B1A"/>
                          </a:solidFill>
                          <a:latin typeface="Segoe UI"/>
                        </a:rPr>
                        <a:t>Service worker reads</a:t>
                      </a:r>
                    </a:p>
                  </a:txBody>
                  <a:tcPr anchor="ctr" marL="91440" marR="91440" marT="27432" marB="27432">
                    <a:lnB w="9525">
                      <a:solidFill>
                        <a:srgbClr val="D9D2C3"/>
                      </a:solidFill>
                    </a:lnB>
                    <a:noFill/>
                  </a:tcPr>
                </a:tc>
              </a:tr>
              <a:tr h="566928">
                <a:tc>
                  <a:txBody>
                    <a:bodyPr/>
                    <a:lstStyle/>
                    <a:p>
                      <a:r>
                        <a:rPr sz="1600" b="0">
                          <a:solidFill>
                            <a:srgbClr val="1C1B1A"/>
                          </a:solidFill>
                          <a:latin typeface="Segoe UI"/>
                        </a:rPr>
                        <a:t>Loaded model</a:t>
                      </a:r>
                    </a:p>
                  </a:txBody>
                  <a:tcPr anchor="ctr" marL="91440" marR="91440" marT="27432" marB="27432">
                    <a:lnB w="9525">
                      <a:solidFill>
                        <a:srgbClr val="D9D2C3"/>
                      </a:solidFill>
                    </a:lnB>
                    <a:noFill/>
                  </a:tcPr>
                </a:tc>
                <a:tc>
                  <a:txBody>
                    <a:bodyPr/>
                    <a:lstStyle/>
                    <a:p>
                      <a:r>
                        <a:rPr sz="1600" b="0">
                          <a:solidFill>
                            <a:srgbClr val="1C1B1A"/>
                          </a:solidFill>
                          <a:latin typeface="Segoe UI"/>
                        </a:rPr>
                        <a:t>Graphics memory, offscreen page</a:t>
                      </a:r>
                    </a:p>
                  </a:txBody>
                  <a:tcPr anchor="ctr" marL="91440" marR="91440" marT="27432" marB="27432">
                    <a:lnB w="9525">
                      <a:solidFill>
                        <a:srgbClr val="D9D2C3"/>
                      </a:solidFill>
                    </a:lnB>
                    <a:noFill/>
                  </a:tcPr>
                </a:tc>
                <a:tc>
                  <a:txBody>
                    <a:bodyPr/>
                    <a:lstStyle/>
                    <a:p>
                      <a:r>
                        <a:rPr sz="1600" b="0">
                          <a:solidFill>
                            <a:srgbClr val="1C1B1A"/>
                          </a:solidFill>
                          <a:latin typeface="Segoe UI"/>
                        </a:rPr>
                        <a:t>Until the page closes, 5 minutes after the last message</a:t>
                      </a:r>
                    </a:p>
                  </a:txBody>
                  <a:tcPr anchor="ctr" marL="91440" marR="91440" marT="27432" marB="27432">
                    <a:lnB w="9525">
                      <a:solidFill>
                        <a:srgbClr val="D9D2C3"/>
                      </a:solidFill>
                    </a:lnB>
                    <a:noFill/>
                  </a:tcPr>
                </a:tc>
                <a:tc>
                  <a:txBody>
                    <a:bodyPr/>
                    <a:lstStyle/>
                    <a:p>
                      <a:r>
                        <a:rPr sz="1600" b="0">
                          <a:solidFill>
                            <a:srgbClr val="1C1B1A"/>
                          </a:solidFill>
                          <a:latin typeface="Segoe UI"/>
                        </a:rPr>
                        <a:t>Offscreen page only</a:t>
                      </a:r>
                    </a:p>
                  </a:txBody>
                  <a:tcPr anchor="ctr" marL="91440" marR="91440" marT="27432" marB="27432">
                    <a:lnB w="9525">
                      <a:solidFill>
                        <a:srgbClr val="D9D2C3"/>
                      </a:solidFill>
                    </a:lnB>
                    <a:noFill/>
                  </a:tcPr>
                </a:tc>
              </a:tr>
            </a:tbl>
          </a:graphicData>
        </a:graphic>
      </p:graphicFrame>
      <p:sp>
        <p:nvSpPr>
          <p:cNvPr id="8" name="TextBox 7"/>
          <p:cNvSpPr txBox="1"/>
          <p:nvPr/>
        </p:nvSpPr>
        <p:spPr>
          <a:xfrm>
            <a:off x="685800" y="4572000"/>
            <a:ext cx="10820095" cy="640080"/>
          </a:xfrm>
          <a:prstGeom prst="rect">
            <a:avLst/>
          </a:prstGeom>
          <a:noFill/>
        </p:spPr>
        <p:txBody>
          <a:bodyPr wrap="square" anchor="t" lIns="45720" rIns="45720" tIns="27432" bIns="27432">
            <a:spAutoFit/>
          </a:bodyPr>
          <a:lstStyle/>
          <a:p>
            <a:pPr algn="l"/>
            <a:r>
              <a:rPr sz="1600" b="0" i="1">
                <a:solidFill>
                  <a:srgbClr val="6B665C"/>
                </a:solidFill>
                <a:latin typeface="Segoe UI"/>
              </a:rPr>
              <a:t>Offline proof: with the outside websites blocked, the short article took 17.7 s after the label fix (15.3 s before it). No API key is stored.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TextBox 1"/>
          <p:cNvSpPr txBox="1"/>
          <p:nvPr/>
        </p:nvSpPr>
        <p:spPr>
          <a:xfrm>
            <a:off x="685800" y="411480"/>
            <a:ext cx="10820095" cy="777240"/>
          </a:xfrm>
          <a:prstGeom prst="rect">
            <a:avLst/>
          </a:prstGeom>
          <a:noFill/>
        </p:spPr>
        <p:txBody>
          <a:bodyPr wrap="square" anchor="b" lIns="45720" rIns="45720" tIns="27432" bIns="27432">
            <a:spAutoFit/>
          </a:bodyPr>
          <a:lstStyle/>
          <a:p>
            <a:pPr algn="l"/>
            <a:r>
              <a:rPr sz="3000" b="1" i="0">
                <a:solidFill>
                  <a:srgbClr val="1C1B1A"/>
                </a:solidFill>
                <a:latin typeface="Georgia"/>
              </a:rPr>
              <a:t>The hidden offscreen page and its messages</a:t>
            </a:r>
          </a:p>
        </p:txBody>
      </p:sp>
      <p:cxnSp>
        <p:nvCxnSpPr>
          <p:cNvPr id="3" name="Connector 2"/>
          <p:cNvCxnSpPr/>
          <p:nvPr/>
        </p:nvCxnSpPr>
        <p:spPr>
          <a:xfrm>
            <a:off x="685800" y="1280160"/>
            <a:ext cx="10820095" cy="0"/>
          </a:xfrm>
          <a:prstGeom prst="line">
            <a:avLst/>
          </a:prstGeom>
          <a:ln w="9525">
            <a:solidFill>
              <a:srgbClr val="D9D2C3"/>
            </a:solidFill>
          </a:ln>
        </p:spPr>
      </p:cxnSp>
      <p:sp>
        <p:nvSpPr>
          <p:cNvPr id="4" name="Rectangle 3"/>
          <p:cNvSpPr/>
          <p:nvPr/>
        </p:nvSpPr>
        <p:spPr>
          <a:xfrm>
            <a:off x="685800" y="1252728"/>
            <a:ext cx="822960" cy="45720"/>
          </a:xfrm>
          <a:prstGeom prst="rect">
            <a:avLst/>
          </a:prstGeom>
          <a:solidFill>
            <a:srgbClr val="B43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355080"/>
            <a:ext cx="9144000" cy="365760"/>
          </a:xfrm>
          <a:prstGeom prst="rect">
            <a:avLst/>
          </a:prstGeom>
          <a:noFill/>
        </p:spPr>
        <p:txBody>
          <a:bodyPr wrap="square" anchor="t" lIns="45720" rIns="45720" tIns="27432" bIns="27432">
            <a:spAutoFit/>
          </a:bodyPr>
          <a:lstStyle/>
          <a:p>
            <a:pPr algn="l"/>
            <a:r>
              <a:rPr sz="1600" b="0" i="0">
                <a:solidFill>
                  <a:srgbClr val="6B665C"/>
                </a:solidFill>
                <a:latin typeface="Segoe UI"/>
              </a:rPr>
              <a:t>Page Summarizer  |  Final-Semester Review (Version 2)</a:t>
            </a:r>
          </a:p>
        </p:txBody>
      </p:sp>
      <p:sp>
        <p:nvSpPr>
          <p:cNvPr id="6" name="TextBox 5"/>
          <p:cNvSpPr txBox="1"/>
          <p:nvPr/>
        </p:nvSpPr>
        <p:spPr>
          <a:xfrm>
            <a:off x="10591495" y="6355080"/>
            <a:ext cx="914400" cy="365760"/>
          </a:xfrm>
          <a:prstGeom prst="rect">
            <a:avLst/>
          </a:prstGeom>
          <a:noFill/>
        </p:spPr>
        <p:txBody>
          <a:bodyPr wrap="square" anchor="t" lIns="45720" rIns="45720" tIns="27432" bIns="27432">
            <a:spAutoFit/>
          </a:bodyPr>
          <a:lstStyle/>
          <a:p>
            <a:pPr algn="r"/>
            <a:r>
              <a:rPr sz="1600" b="0" i="0">
                <a:solidFill>
                  <a:srgbClr val="6B665C"/>
                </a:solidFill>
                <a:latin typeface="Segoe UI"/>
              </a:rPr>
              <a:t>11</a:t>
            </a:r>
          </a:p>
        </p:txBody>
      </p:sp>
      <p:graphicFrame>
        <p:nvGraphicFramePr>
          <p:cNvPr id="7" name="Table 6"/>
          <p:cNvGraphicFramePr>
            <a:graphicFrameLocks noGrp="1"/>
          </p:cNvGraphicFramePr>
          <p:nvPr/>
        </p:nvGraphicFramePr>
        <p:xfrm>
          <a:off x="685800" y="1600200"/>
          <a:ext cx="10820093" cy="3401568"/>
        </p:xfrm>
        <a:graphic>
          <a:graphicData uri="http://schemas.openxmlformats.org/drawingml/2006/table">
            <a:tbl>
              <a:tblPr firstRow="1">
                <a:tableStyleId>{2D5ABB26-0587-4C30-8999-92F81FD0307C}</a:tableStyleId>
              </a:tblPr>
              <a:tblGrid>
                <a:gridCol w="2795191"/>
                <a:gridCol w="3516530"/>
                <a:gridCol w="4508372"/>
              </a:tblGrid>
              <a:tr h="566928">
                <a:tc>
                  <a:txBody>
                    <a:bodyPr/>
                    <a:lstStyle/>
                    <a:p>
                      <a:r>
                        <a:rPr sz="1600" b="1">
                          <a:solidFill>
                            <a:srgbClr val="1C1B1A"/>
                          </a:solidFill>
                          <a:latin typeface="Segoe UI"/>
                        </a:rPr>
                        <a:t>Message</a:t>
                      </a:r>
                    </a:p>
                  </a:txBody>
                  <a:tcPr anchor="ctr" marL="91440" marR="91440" marT="27432" marB="27432">
                    <a:lnB w="12700">
                      <a:solidFill>
                        <a:srgbClr val="1C1B1A"/>
                      </a:solidFill>
                    </a:lnB>
                    <a:noFill/>
                  </a:tcPr>
                </a:tc>
                <a:tc>
                  <a:txBody>
                    <a:bodyPr/>
                    <a:lstStyle/>
                    <a:p>
                      <a:r>
                        <a:rPr sz="1600" b="1">
                          <a:solidFill>
                            <a:srgbClr val="1C1B1A"/>
                          </a:solidFill>
                          <a:latin typeface="Segoe UI"/>
                        </a:rPr>
                        <a:t>Direction</a:t>
                      </a:r>
                    </a:p>
                  </a:txBody>
                  <a:tcPr anchor="ctr" marL="91440" marR="91440" marT="27432" marB="27432">
                    <a:lnB w="12700">
                      <a:solidFill>
                        <a:srgbClr val="1C1B1A"/>
                      </a:solidFill>
                    </a:lnB>
                    <a:noFill/>
                  </a:tcPr>
                </a:tc>
                <a:tc>
                  <a:txBody>
                    <a:bodyPr/>
                    <a:lstStyle/>
                    <a:p>
                      <a:r>
                        <a:rPr sz="1600" b="1">
                          <a:solidFill>
                            <a:srgbClr val="1C1B1A"/>
                          </a:solidFill>
                          <a:latin typeface="Segoe UI"/>
                        </a:rPr>
                        <a:t>What it does</a:t>
                      </a:r>
                    </a:p>
                  </a:txBody>
                  <a:tcPr anchor="ctr" marL="91440" marR="91440" marT="27432" marB="27432">
                    <a:lnB w="12700">
                      <a:solidFill>
                        <a:srgbClr val="1C1B1A"/>
                      </a:solidFill>
                    </a:lnB>
                    <a:noFill/>
                  </a:tcPr>
                </a:tc>
              </a:tr>
              <a:tr h="566928">
                <a:tc>
                  <a:txBody>
                    <a:bodyPr/>
                    <a:lstStyle/>
                    <a:p>
                      <a:r>
                        <a:rPr sz="1600" b="0">
                          <a:solidFill>
                            <a:srgbClr val="1C1B1A"/>
                          </a:solidFill>
                          <a:latin typeface="Segoe UI"/>
                        </a:rPr>
                        <a:t>LOCAL_STATUS</a:t>
                      </a:r>
                    </a:p>
                  </a:txBody>
                  <a:tcPr anchor="ctr" marL="91440" marR="91440" marT="27432" marB="27432">
                    <a:lnB w="9525">
                      <a:solidFill>
                        <a:srgbClr val="D9D2C3"/>
                      </a:solidFill>
                    </a:lnB>
                    <a:noFill/>
                  </a:tcPr>
                </a:tc>
                <a:tc>
                  <a:txBody>
                    <a:bodyPr/>
                    <a:lstStyle/>
                    <a:p>
                      <a:r>
                        <a:rPr sz="1600" b="0">
                          <a:solidFill>
                            <a:srgbClr val="1C1B1A"/>
                          </a:solidFill>
                          <a:latin typeface="Segoe UI"/>
                        </a:rPr>
                        <a:t>Service worker to offscreen page</a:t>
                      </a:r>
                    </a:p>
                  </a:txBody>
                  <a:tcPr anchor="ctr" marL="91440" marR="91440" marT="27432" marB="27432">
                    <a:lnB w="9525">
                      <a:solidFill>
                        <a:srgbClr val="D9D2C3"/>
                      </a:solidFill>
                    </a:lnB>
                    <a:noFill/>
                  </a:tcPr>
                </a:tc>
                <a:tc>
                  <a:txBody>
                    <a:bodyPr/>
                    <a:lstStyle/>
                    <a:p>
                      <a:r>
                        <a:rPr sz="1600" b="0">
                          <a:solidFill>
                            <a:srgbClr val="1C1B1A"/>
                          </a:solidFill>
                          <a:latin typeface="Segoe UI"/>
                        </a:rPr>
                        <a:t>Asks for the graphics card, whether the model is stored, and its size</a:t>
                      </a:r>
                    </a:p>
                  </a:txBody>
                  <a:tcPr anchor="ctr" marL="91440" marR="91440" marT="27432" marB="27432">
                    <a:lnB w="9525">
                      <a:solidFill>
                        <a:srgbClr val="D9D2C3"/>
                      </a:solidFill>
                    </a:lnB>
                    <a:noFill/>
                  </a:tcPr>
                </a:tc>
              </a:tr>
              <a:tr h="566928">
                <a:tc>
                  <a:txBody>
                    <a:bodyPr/>
                    <a:lstStyle/>
                    <a:p>
                      <a:r>
                        <a:rPr sz="1600" b="0">
                          <a:solidFill>
                            <a:srgbClr val="1C1B1A"/>
                          </a:solidFill>
                          <a:latin typeface="Segoe UI"/>
                        </a:rPr>
                        <a:t>LOCAL_LOAD</a:t>
                      </a:r>
                    </a:p>
                  </a:txBody>
                  <a:tcPr anchor="ctr" marL="91440" marR="91440" marT="27432" marB="27432">
                    <a:lnB w="9525">
                      <a:solidFill>
                        <a:srgbClr val="D9D2C3"/>
                      </a:solidFill>
                    </a:lnB>
                    <a:noFill/>
                  </a:tcPr>
                </a:tc>
                <a:tc>
                  <a:txBody>
                    <a:bodyPr/>
                    <a:lstStyle/>
                    <a:p>
                      <a:r>
                        <a:rPr sz="1600" b="0">
                          <a:solidFill>
                            <a:srgbClr val="1C1B1A"/>
                          </a:solidFill>
                          <a:latin typeface="Segoe UI"/>
                        </a:rPr>
                        <a:t>Service worker to offscreen page</a:t>
                      </a:r>
                    </a:p>
                  </a:txBody>
                  <a:tcPr anchor="ctr" marL="91440" marR="91440" marT="27432" marB="27432">
                    <a:lnB w="9525">
                      <a:solidFill>
                        <a:srgbClr val="D9D2C3"/>
                      </a:solidFill>
                    </a:lnB>
                    <a:noFill/>
                  </a:tcPr>
                </a:tc>
                <a:tc>
                  <a:txBody>
                    <a:bodyPr/>
                    <a:lstStyle/>
                    <a:p>
                      <a:r>
                        <a:rPr sz="1600" b="0">
                          <a:solidFill>
                            <a:srgbClr val="1C1B1A"/>
                          </a:solidFill>
                          <a:latin typeface="Segoe UI"/>
                        </a:rPr>
                        <a:t>Loads the model into the graphics card</a:t>
                      </a:r>
                    </a:p>
                  </a:txBody>
                  <a:tcPr anchor="ctr" marL="91440" marR="91440" marT="27432" marB="27432">
                    <a:lnB w="9525">
                      <a:solidFill>
                        <a:srgbClr val="D9D2C3"/>
                      </a:solidFill>
                    </a:lnB>
                    <a:noFill/>
                  </a:tcPr>
                </a:tc>
              </a:tr>
              <a:tr h="566928">
                <a:tc>
                  <a:txBody>
                    <a:bodyPr/>
                    <a:lstStyle/>
                    <a:p>
                      <a:r>
                        <a:rPr sz="1600" b="0">
                          <a:solidFill>
                            <a:srgbClr val="1C1B1A"/>
                          </a:solidFill>
                          <a:latin typeface="Segoe UI"/>
                        </a:rPr>
                        <a:t>MODEL_PROGRESS</a:t>
                      </a:r>
                    </a:p>
                  </a:txBody>
                  <a:tcPr anchor="ctr" marL="91440" marR="91440" marT="27432" marB="27432">
                    <a:lnB w="9525">
                      <a:solidFill>
                        <a:srgbClr val="D9D2C3"/>
                      </a:solidFill>
                    </a:lnB>
                    <a:noFill/>
                  </a:tcPr>
                </a:tc>
                <a:tc>
                  <a:txBody>
                    <a:bodyPr/>
                    <a:lstStyle/>
                    <a:p>
                      <a:r>
                        <a:rPr sz="1600" b="0">
                          <a:solidFill>
                            <a:srgbClr val="1C1B1A"/>
                          </a:solidFill>
                          <a:latin typeface="Segoe UI"/>
                        </a:rPr>
                        <a:t>Offscreen page to service worker</a:t>
                      </a:r>
                    </a:p>
                  </a:txBody>
                  <a:tcPr anchor="ctr" marL="91440" marR="91440" marT="27432" marB="27432">
                    <a:lnB w="9525">
                      <a:solidFill>
                        <a:srgbClr val="D9D2C3"/>
                      </a:solidFill>
                    </a:lnB>
                    <a:noFill/>
                  </a:tcPr>
                </a:tc>
                <a:tc>
                  <a:txBody>
                    <a:bodyPr/>
                    <a:lstStyle/>
                    <a:p>
                      <a:r>
                        <a:rPr sz="1600" b="0">
                          <a:solidFill>
                            <a:srgbClr val="1C1B1A"/>
                          </a:solidFill>
                          <a:latin typeface="Segoe UI"/>
                        </a:rPr>
                        <a:t>Sends the phase, the percentage and the text, many times</a:t>
                      </a:r>
                    </a:p>
                  </a:txBody>
                  <a:tcPr anchor="ctr" marL="91440" marR="91440" marT="27432" marB="27432">
                    <a:lnB w="9525">
                      <a:solidFill>
                        <a:srgbClr val="D9D2C3"/>
                      </a:solidFill>
                    </a:lnB>
                    <a:noFill/>
                  </a:tcPr>
                </a:tc>
              </a:tr>
              <a:tr h="566928">
                <a:tc>
                  <a:txBody>
                    <a:bodyPr/>
                    <a:lstStyle/>
                    <a:p>
                      <a:r>
                        <a:rPr sz="1600" b="0">
                          <a:solidFill>
                            <a:srgbClr val="1C1B1A"/>
                          </a:solidFill>
                          <a:latin typeface="Segoe UI"/>
                        </a:rPr>
                        <a:t>LOCAL_GENERATE</a:t>
                      </a:r>
                    </a:p>
                  </a:txBody>
                  <a:tcPr anchor="ctr" marL="91440" marR="91440" marT="27432" marB="27432">
                    <a:lnB w="9525">
                      <a:solidFill>
                        <a:srgbClr val="D9D2C3"/>
                      </a:solidFill>
                    </a:lnB>
                    <a:noFill/>
                  </a:tcPr>
                </a:tc>
                <a:tc>
                  <a:txBody>
                    <a:bodyPr/>
                    <a:lstStyle/>
                    <a:p>
                      <a:r>
                        <a:rPr sz="1600" b="0">
                          <a:solidFill>
                            <a:srgbClr val="1C1B1A"/>
                          </a:solidFill>
                          <a:latin typeface="Segoe UI"/>
                        </a:rPr>
                        <a:t>Service worker to offscreen page</a:t>
                      </a:r>
                    </a:p>
                  </a:txBody>
                  <a:tcPr anchor="ctr" marL="91440" marR="91440" marT="27432" marB="27432">
                    <a:lnB w="9525">
                      <a:solidFill>
                        <a:srgbClr val="D9D2C3"/>
                      </a:solidFill>
                    </a:lnB>
                    <a:noFill/>
                  </a:tcPr>
                </a:tc>
                <a:tc>
                  <a:txBody>
                    <a:bodyPr/>
                    <a:lstStyle/>
                    <a:p>
                      <a:r>
                        <a:rPr sz="1600" b="0">
                          <a:solidFill>
                            <a:srgbClr val="1C1B1A"/>
                          </a:solidFill>
                          <a:latin typeface="Segoe UI"/>
                        </a:rPr>
                        <a:t>Asks for one summary; the reply has the text and the stats</a:t>
                      </a:r>
                    </a:p>
                  </a:txBody>
                  <a:tcPr anchor="ctr" marL="91440" marR="91440" marT="27432" marB="27432">
                    <a:lnB w="9525">
                      <a:solidFill>
                        <a:srgbClr val="D9D2C3"/>
                      </a:solidFill>
                    </a:lnB>
                    <a:noFill/>
                  </a:tcPr>
                </a:tc>
              </a:tr>
              <a:tr h="566928">
                <a:tc>
                  <a:txBody>
                    <a:bodyPr/>
                    <a:lstStyle/>
                    <a:p>
                      <a:r>
                        <a:rPr sz="1600" b="0">
                          <a:solidFill>
                            <a:srgbClr val="1C1B1A"/>
                          </a:solidFill>
                          <a:latin typeface="Segoe UI"/>
                        </a:rPr>
                        <a:t>KEEPALIVE</a:t>
                      </a:r>
                    </a:p>
                  </a:txBody>
                  <a:tcPr anchor="ctr" marL="91440" marR="91440" marT="27432" marB="27432">
                    <a:lnB w="9525">
                      <a:solidFill>
                        <a:srgbClr val="D9D2C3"/>
                      </a:solidFill>
                    </a:lnB>
                    <a:noFill/>
                  </a:tcPr>
                </a:tc>
                <a:tc>
                  <a:txBody>
                    <a:bodyPr/>
                    <a:lstStyle/>
                    <a:p>
                      <a:r>
                        <a:rPr sz="1600" b="0">
                          <a:solidFill>
                            <a:srgbClr val="1C1B1A"/>
                          </a:solidFill>
                          <a:latin typeface="Segoe UI"/>
                        </a:rPr>
                        <a:t>Offscreen page to service worker</a:t>
                      </a:r>
                    </a:p>
                  </a:txBody>
                  <a:tcPr anchor="ctr" marL="91440" marR="91440" marT="27432" marB="27432">
                    <a:lnB w="9525">
                      <a:solidFill>
                        <a:srgbClr val="D9D2C3"/>
                      </a:solidFill>
                    </a:lnB>
                    <a:noFill/>
                  </a:tcPr>
                </a:tc>
                <a:tc>
                  <a:txBody>
                    <a:bodyPr/>
                    <a:lstStyle/>
                    <a:p>
                      <a:r>
                        <a:rPr sz="1600" b="0">
                          <a:solidFill>
                            <a:srgbClr val="1C1B1A"/>
                          </a:solidFill>
                          <a:latin typeface="Segoe UI"/>
                        </a:rPr>
                        <a:t>Sent every 10 s while work runs, so the worker stays awake</a:t>
                      </a:r>
                    </a:p>
                  </a:txBody>
                  <a:tcPr anchor="ctr" marL="91440" marR="91440" marT="27432" marB="27432">
                    <a:lnB w="9525">
                      <a:solidFill>
                        <a:srgbClr val="D9D2C3"/>
                      </a:solidFill>
                    </a:lnB>
                    <a:noFill/>
                  </a:tcPr>
                </a:tc>
              </a:tr>
            </a:tbl>
          </a:graphicData>
        </a:graphic>
      </p:graphicFrame>
      <p:sp>
        <p:nvSpPr>
          <p:cNvPr id="8" name="TextBox 7"/>
          <p:cNvSpPr txBox="1"/>
          <p:nvPr/>
        </p:nvSpPr>
        <p:spPr>
          <a:xfrm>
            <a:off x="685800" y="5138928"/>
            <a:ext cx="10820095" cy="640080"/>
          </a:xfrm>
          <a:prstGeom prst="rect">
            <a:avLst/>
          </a:prstGeom>
          <a:noFill/>
        </p:spPr>
        <p:txBody>
          <a:bodyPr wrap="square" anchor="t" lIns="45720" rIns="45720" tIns="27432" bIns="27432">
            <a:spAutoFit/>
          </a:bodyPr>
          <a:lstStyle/>
          <a:p>
            <a:pPr algn="l"/>
            <a:r>
              <a:rPr sz="1600" b="0" i="1">
                <a:solidFill>
                  <a:srgbClr val="6B665C"/>
                </a:solidFill>
                <a:latin typeface="Segoe UI"/>
              </a:rPr>
              <a:t>The page has no tabs and no chrome.storage access, so it works by messages only. It closes 5 minutes after its last running message ends.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TextBox 1"/>
          <p:cNvSpPr txBox="1"/>
          <p:nvPr/>
        </p:nvSpPr>
        <p:spPr>
          <a:xfrm>
            <a:off x="685800" y="411480"/>
            <a:ext cx="10820095" cy="777240"/>
          </a:xfrm>
          <a:prstGeom prst="rect">
            <a:avLst/>
          </a:prstGeom>
          <a:noFill/>
        </p:spPr>
        <p:txBody>
          <a:bodyPr wrap="square" anchor="b" lIns="45720" rIns="45720" tIns="27432" bIns="27432">
            <a:spAutoFit/>
          </a:bodyPr>
          <a:lstStyle/>
          <a:p>
            <a:pPr algn="l"/>
            <a:r>
              <a:rPr sz="3000" b="1" i="0">
                <a:solidFill>
                  <a:srgbClr val="1C1B1A"/>
                </a:solidFill>
                <a:latin typeface="Georgia"/>
              </a:rPr>
              <a:t>Graphics card check and choice of model</a:t>
            </a:r>
          </a:p>
        </p:txBody>
      </p:sp>
      <p:cxnSp>
        <p:nvCxnSpPr>
          <p:cNvPr id="3" name="Connector 2"/>
          <p:cNvCxnSpPr/>
          <p:nvPr/>
        </p:nvCxnSpPr>
        <p:spPr>
          <a:xfrm>
            <a:off x="685800" y="1280160"/>
            <a:ext cx="10820095" cy="0"/>
          </a:xfrm>
          <a:prstGeom prst="line">
            <a:avLst/>
          </a:prstGeom>
          <a:ln w="9525">
            <a:solidFill>
              <a:srgbClr val="D9D2C3"/>
            </a:solidFill>
          </a:ln>
        </p:spPr>
      </p:cxnSp>
      <p:sp>
        <p:nvSpPr>
          <p:cNvPr id="4" name="Rectangle 3"/>
          <p:cNvSpPr/>
          <p:nvPr/>
        </p:nvSpPr>
        <p:spPr>
          <a:xfrm>
            <a:off x="685800" y="1252728"/>
            <a:ext cx="822960" cy="45720"/>
          </a:xfrm>
          <a:prstGeom prst="rect">
            <a:avLst/>
          </a:prstGeom>
          <a:solidFill>
            <a:srgbClr val="B43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355080"/>
            <a:ext cx="9144000" cy="365760"/>
          </a:xfrm>
          <a:prstGeom prst="rect">
            <a:avLst/>
          </a:prstGeom>
          <a:noFill/>
        </p:spPr>
        <p:txBody>
          <a:bodyPr wrap="square" anchor="t" lIns="45720" rIns="45720" tIns="27432" bIns="27432">
            <a:spAutoFit/>
          </a:bodyPr>
          <a:lstStyle/>
          <a:p>
            <a:pPr algn="l"/>
            <a:r>
              <a:rPr sz="1600" b="0" i="0">
                <a:solidFill>
                  <a:srgbClr val="6B665C"/>
                </a:solidFill>
                <a:latin typeface="Segoe UI"/>
              </a:rPr>
              <a:t>Page Summarizer  |  Final-Semester Review (Version 2)</a:t>
            </a:r>
          </a:p>
        </p:txBody>
      </p:sp>
      <p:sp>
        <p:nvSpPr>
          <p:cNvPr id="6" name="TextBox 5"/>
          <p:cNvSpPr txBox="1"/>
          <p:nvPr/>
        </p:nvSpPr>
        <p:spPr>
          <a:xfrm>
            <a:off x="10591495" y="6355080"/>
            <a:ext cx="914400" cy="365760"/>
          </a:xfrm>
          <a:prstGeom prst="rect">
            <a:avLst/>
          </a:prstGeom>
          <a:noFill/>
        </p:spPr>
        <p:txBody>
          <a:bodyPr wrap="square" anchor="t" lIns="45720" rIns="45720" tIns="27432" bIns="27432">
            <a:spAutoFit/>
          </a:bodyPr>
          <a:lstStyle/>
          <a:p>
            <a:pPr algn="r"/>
            <a:r>
              <a:rPr sz="1600" b="0" i="0">
                <a:solidFill>
                  <a:srgbClr val="6B665C"/>
                </a:solidFill>
                <a:latin typeface="Segoe UI"/>
              </a:rPr>
              <a:t>12</a:t>
            </a:r>
          </a:p>
        </p:txBody>
      </p:sp>
      <p:graphicFrame>
        <p:nvGraphicFramePr>
          <p:cNvPr id="7" name="Table 6"/>
          <p:cNvGraphicFramePr>
            <a:graphicFrameLocks noGrp="1"/>
          </p:cNvGraphicFramePr>
          <p:nvPr/>
        </p:nvGraphicFramePr>
        <p:xfrm>
          <a:off x="685800" y="1600200"/>
          <a:ext cx="10820094" cy="3401568"/>
        </p:xfrm>
        <a:graphic>
          <a:graphicData uri="http://schemas.openxmlformats.org/drawingml/2006/table">
            <a:tbl>
              <a:tblPr firstRow="1">
                <a:tableStyleId>{2D5ABB26-0587-4C30-8999-92F81FD0307C}</a:tableStyleId>
              </a:tblPr>
              <a:tblGrid>
                <a:gridCol w="4401394"/>
                <a:gridCol w="6418700"/>
              </a:tblGrid>
              <a:tr h="566928">
                <a:tc>
                  <a:txBody>
                    <a:bodyPr/>
                    <a:lstStyle/>
                    <a:p>
                      <a:r>
                        <a:rPr sz="1600" b="1">
                          <a:solidFill>
                            <a:srgbClr val="1C1B1A"/>
                          </a:solidFill>
                          <a:latin typeface="Segoe UI"/>
                        </a:rPr>
                        <a:t>Situation</a:t>
                      </a:r>
                    </a:p>
                  </a:txBody>
                  <a:tcPr anchor="ctr" marL="91440" marR="91440" marT="27432" marB="27432">
                    <a:lnB w="12700">
                      <a:solidFill>
                        <a:srgbClr val="1C1B1A"/>
                      </a:solidFill>
                    </a:lnB>
                    <a:noFill/>
                  </a:tcPr>
                </a:tc>
                <a:tc>
                  <a:txBody>
                    <a:bodyPr/>
                    <a:lstStyle/>
                    <a:p>
                      <a:r>
                        <a:rPr sz="1600" b="1">
                          <a:solidFill>
                            <a:srgbClr val="1C1B1A"/>
                          </a:solidFill>
                          <a:latin typeface="Segoe UI"/>
                        </a:rPr>
                        <a:t>What the extension does, and what the reader sees</a:t>
                      </a:r>
                    </a:p>
                  </a:txBody>
                  <a:tcPr anchor="ctr" marL="91440" marR="91440" marT="27432" marB="27432">
                    <a:lnB w="12700">
                      <a:solidFill>
                        <a:srgbClr val="1C1B1A"/>
                      </a:solidFill>
                    </a:lnB>
                    <a:noFill/>
                  </a:tcPr>
                </a:tc>
              </a:tr>
              <a:tr h="566928">
                <a:tc>
                  <a:txBody>
                    <a:bodyPr/>
                    <a:lstStyle/>
                    <a:p>
                      <a:r>
                        <a:rPr sz="1600" b="0">
                          <a:solidFill>
                            <a:srgbClr val="1C1B1A"/>
                          </a:solidFill>
                          <a:latin typeface="Segoe UI"/>
                        </a:rPr>
                        <a:t>No WebGPU, or no 16-bit math (shader-f16)</a:t>
                      </a:r>
                    </a:p>
                  </a:txBody>
                  <a:tcPr anchor="ctr" marL="91440" marR="91440" marT="27432" marB="27432">
                    <a:lnB w="9525">
                      <a:solidFill>
                        <a:srgbClr val="D9D2C3"/>
                      </a:solidFill>
                    </a:lnB>
                    <a:noFill/>
                  </a:tcPr>
                </a:tc>
                <a:tc>
                  <a:txBody>
                    <a:bodyPr/>
                    <a:lstStyle/>
                    <a:p>
                      <a:r>
                        <a:rPr sz="1600" b="0">
                          <a:solidFill>
                            <a:srgbClr val="1C1B1A"/>
                          </a:solidFill>
                          <a:latin typeface="Segoe UI"/>
                        </a:rPr>
                        <a:t>Refuses before any job. A red line explains why, and the button is disabled.</a:t>
                      </a:r>
                    </a:p>
                  </a:txBody>
                  <a:tcPr anchor="ctr" marL="91440" marR="91440" marT="27432" marB="27432">
                    <a:lnB w="9525">
                      <a:solidFill>
                        <a:srgbClr val="D9D2C3"/>
                      </a:solidFill>
                    </a:lnB>
                    <a:noFill/>
                  </a:tcPr>
                </a:tc>
              </a:tr>
              <a:tr h="566928">
                <a:tc>
                  <a:txBody>
                    <a:bodyPr/>
                    <a:lstStyle/>
                    <a:p>
                      <a:r>
                        <a:rPr sz="1600" b="0">
                          <a:solidFill>
                            <a:srgbClr val="1C1B1A"/>
                          </a:solidFill>
                          <a:latin typeface="Segoe UI"/>
                        </a:rPr>
                        <a:t>Integrated (Intel) graphics</a:t>
                      </a:r>
                    </a:p>
                  </a:txBody>
                  <a:tcPr anchor="ctr" marL="91440" marR="91440" marT="27432" marB="27432">
                    <a:lnB w="9525">
                      <a:solidFill>
                        <a:srgbClr val="D9D2C3"/>
                      </a:solidFill>
                    </a:lnB>
                    <a:noFill/>
                  </a:tcPr>
                </a:tc>
                <a:tc>
                  <a:txBody>
                    <a:bodyPr/>
                    <a:lstStyle/>
                    <a:p>
                      <a:r>
                        <a:rPr sz="1600" b="0">
                          <a:solidFill>
                            <a:srgbClr val="1C1B1A"/>
                          </a:solidFill>
                          <a:latin typeface="Segoe UI"/>
                        </a:rPr>
                        <a:t>Picks SmolLM2 360M by itself and shows a note: answers can be slow.</a:t>
                      </a:r>
                    </a:p>
                  </a:txBody>
                  <a:tcPr anchor="ctr" marL="91440" marR="91440" marT="27432" marB="27432">
                    <a:lnB w="9525">
                      <a:solidFill>
                        <a:srgbClr val="D9D2C3"/>
                      </a:solidFill>
                    </a:lnB>
                    <a:noFill/>
                  </a:tcPr>
                </a:tc>
              </a:tr>
              <a:tr h="566928">
                <a:tc>
                  <a:txBody>
                    <a:bodyPr/>
                    <a:lstStyle/>
                    <a:p>
                      <a:r>
                        <a:rPr sz="1600" b="0">
                          <a:solidFill>
                            <a:srgbClr val="1C1B1A"/>
                          </a:solidFill>
                          <a:latin typeface="Segoe UI"/>
                        </a:rPr>
                        <a:t>Under 8 GB of memory (rule)</a:t>
                      </a:r>
                    </a:p>
                  </a:txBody>
                  <a:tcPr anchor="ctr" marL="91440" marR="91440" marT="27432" marB="27432">
                    <a:lnB w="9525">
                      <a:solidFill>
                        <a:srgbClr val="D9D2C3"/>
                      </a:solidFill>
                    </a:lnB>
                    <a:noFill/>
                  </a:tcPr>
                </a:tc>
                <a:tc>
                  <a:txBody>
                    <a:bodyPr/>
                    <a:lstStyle/>
                    <a:p>
                      <a:r>
                        <a:rPr sz="1600" b="0">
                          <a:solidFill>
                            <a:srgbClr val="1C1B1A"/>
                          </a:solidFill>
                          <a:latin typeface="Segoe UI"/>
                        </a:rPr>
                        <a:t>Picks SmolLM2 360M. The rule has not been seen on real low-memory hardware.</a:t>
                      </a:r>
                    </a:p>
                  </a:txBody>
                  <a:tcPr anchor="ctr" marL="91440" marR="91440" marT="27432" marB="27432">
                    <a:lnB w="9525">
                      <a:solidFill>
                        <a:srgbClr val="D9D2C3"/>
                      </a:solidFill>
                    </a:lnB>
                    <a:noFill/>
                  </a:tcPr>
                </a:tc>
              </a:tr>
              <a:tr h="566928">
                <a:tc>
                  <a:txBody>
                    <a:bodyPr/>
                    <a:lstStyle/>
                    <a:p>
                      <a:r>
                        <a:rPr sz="1600" b="0">
                          <a:solidFill>
                            <a:srgbClr val="1C1B1A"/>
                          </a:solidFill>
                          <a:latin typeface="Segoe UI"/>
                        </a:rPr>
                        <a:t>Main model runs out of graphics memory</a:t>
                      </a:r>
                    </a:p>
                  </a:txBody>
                  <a:tcPr anchor="ctr" marL="91440" marR="91440" marT="27432" marB="27432">
                    <a:lnB w="9525">
                      <a:solidFill>
                        <a:srgbClr val="D9D2C3"/>
                      </a:solidFill>
                    </a:lnB>
                    <a:noFill/>
                  </a:tcPr>
                </a:tc>
                <a:tc>
                  <a:txBody>
                    <a:bodyPr/>
                    <a:lstStyle/>
                    <a:p>
                      <a:r>
                        <a:rPr sz="1600" b="0">
                          <a:solidFill>
                            <a:srgbClr val="1C1B1A"/>
                          </a:solidFill>
                          <a:latin typeface="Segoe UI"/>
                        </a:rPr>
                        <a:t>Tries SmolLM2 360M once. The summary carries a notice that it may be less detailed.</a:t>
                      </a:r>
                    </a:p>
                  </a:txBody>
                  <a:tcPr anchor="ctr" marL="91440" marR="91440" marT="27432" marB="27432">
                    <a:lnB w="9525">
                      <a:solidFill>
                        <a:srgbClr val="D9D2C3"/>
                      </a:solidFill>
                    </a:lnB>
                    <a:noFill/>
                  </a:tcPr>
                </a:tc>
              </a:tr>
              <a:tr h="566928">
                <a:tc>
                  <a:txBody>
                    <a:bodyPr/>
                    <a:lstStyle/>
                    <a:p>
                      <a:r>
                        <a:rPr sz="1600" b="0">
                          <a:solidFill>
                            <a:srgbClr val="1C1B1A"/>
                          </a:solidFill>
                          <a:latin typeface="Segoe UI"/>
                        </a:rPr>
                        <a:t>A fallback choice is made</a:t>
                      </a:r>
                    </a:p>
                  </a:txBody>
                  <a:tcPr anchor="ctr" marL="91440" marR="91440" marT="27432" marB="27432">
                    <a:lnB w="9525">
                      <a:solidFill>
                        <a:srgbClr val="D9D2C3"/>
                      </a:solidFill>
                    </a:lnB>
                    <a:noFill/>
                  </a:tcPr>
                </a:tc>
                <a:tc>
                  <a:txBody>
                    <a:bodyPr/>
                    <a:lstStyle/>
                    <a:p>
                      <a:r>
                        <a:rPr sz="1600" b="0">
                          <a:solidFill>
                            <a:srgbClr val="1C1B1A"/>
                          </a:solidFill>
                          <a:latin typeface="Segoe UI"/>
                        </a:rPr>
                        <a:t>It stays on SmolLM2 360M until the stored settings are cleared.</a:t>
                      </a:r>
                    </a:p>
                  </a:txBody>
                  <a:tcPr anchor="ctr" marL="91440" marR="91440" marT="27432" marB="27432">
                    <a:lnB w="9525">
                      <a:solidFill>
                        <a:srgbClr val="D9D2C3"/>
                      </a:solidFill>
                    </a:lnB>
                    <a:noFill/>
                  </a:tcPr>
                </a:tc>
              </a:tr>
            </a:tbl>
          </a:graphicData>
        </a:graphic>
      </p:graphicFrame>
      <p:sp>
        <p:nvSpPr>
          <p:cNvPr id="8" name="TextBox 7"/>
          <p:cNvSpPr txBox="1"/>
          <p:nvPr/>
        </p:nvSpPr>
        <p:spPr>
          <a:xfrm>
            <a:off x="685800" y="5138928"/>
            <a:ext cx="10820095" cy="640080"/>
          </a:xfrm>
          <a:prstGeom prst="rect">
            <a:avLst/>
          </a:prstGeom>
          <a:noFill/>
        </p:spPr>
        <p:txBody>
          <a:bodyPr wrap="square" anchor="t" lIns="45720" rIns="45720" tIns="27432" bIns="27432">
            <a:spAutoFit/>
          </a:bodyPr>
          <a:lstStyle/>
          <a:p>
            <a:pPr algn="l"/>
            <a:r>
              <a:rPr sz="1600" b="0" i="1">
                <a:solidFill>
                  <a:srgbClr val="6B665C"/>
                </a:solidFill>
                <a:latin typeface="Segoe UI"/>
              </a:rPr>
              <a:t>The extension makes these choices, not the reader. The main model is about 695 MB; SmolLM2 360M is about 204 MB.</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TextBox 1"/>
          <p:cNvSpPr txBox="1"/>
          <p:nvPr/>
        </p:nvSpPr>
        <p:spPr>
          <a:xfrm>
            <a:off x="685800" y="411480"/>
            <a:ext cx="10820095" cy="777240"/>
          </a:xfrm>
          <a:prstGeom prst="rect">
            <a:avLst/>
          </a:prstGeom>
          <a:noFill/>
        </p:spPr>
        <p:txBody>
          <a:bodyPr wrap="square" anchor="b" lIns="45720" rIns="45720" tIns="27432" bIns="27432">
            <a:spAutoFit/>
          </a:bodyPr>
          <a:lstStyle/>
          <a:p>
            <a:pPr algn="l"/>
            <a:r>
              <a:rPr sz="3000" b="1" i="0">
                <a:solidFill>
                  <a:srgbClr val="1C1B1A"/>
                </a:solidFill>
                <a:latin typeface="Georgia"/>
              </a:rPr>
              <a:t>Two graphics chips: the default is slow</a:t>
            </a:r>
          </a:p>
        </p:txBody>
      </p:sp>
      <p:cxnSp>
        <p:nvCxnSpPr>
          <p:cNvPr id="3" name="Connector 2"/>
          <p:cNvCxnSpPr/>
          <p:nvPr/>
        </p:nvCxnSpPr>
        <p:spPr>
          <a:xfrm>
            <a:off x="685800" y="1280160"/>
            <a:ext cx="10820095" cy="0"/>
          </a:xfrm>
          <a:prstGeom prst="line">
            <a:avLst/>
          </a:prstGeom>
          <a:ln w="9525">
            <a:solidFill>
              <a:srgbClr val="D9D2C3"/>
            </a:solidFill>
          </a:ln>
        </p:spPr>
      </p:cxnSp>
      <p:sp>
        <p:nvSpPr>
          <p:cNvPr id="4" name="Rectangle 3"/>
          <p:cNvSpPr/>
          <p:nvPr/>
        </p:nvSpPr>
        <p:spPr>
          <a:xfrm>
            <a:off x="685800" y="1252728"/>
            <a:ext cx="822960" cy="45720"/>
          </a:xfrm>
          <a:prstGeom prst="rect">
            <a:avLst/>
          </a:prstGeom>
          <a:solidFill>
            <a:srgbClr val="B43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355080"/>
            <a:ext cx="9144000" cy="365760"/>
          </a:xfrm>
          <a:prstGeom prst="rect">
            <a:avLst/>
          </a:prstGeom>
          <a:noFill/>
        </p:spPr>
        <p:txBody>
          <a:bodyPr wrap="square" anchor="t" lIns="45720" rIns="45720" tIns="27432" bIns="27432">
            <a:spAutoFit/>
          </a:bodyPr>
          <a:lstStyle/>
          <a:p>
            <a:pPr algn="l"/>
            <a:r>
              <a:rPr sz="1600" b="0" i="0">
                <a:solidFill>
                  <a:srgbClr val="6B665C"/>
                </a:solidFill>
                <a:latin typeface="Segoe UI"/>
              </a:rPr>
              <a:t>Page Summarizer  |  Final-Semester Review (Version 2)</a:t>
            </a:r>
          </a:p>
        </p:txBody>
      </p:sp>
      <p:sp>
        <p:nvSpPr>
          <p:cNvPr id="6" name="TextBox 5"/>
          <p:cNvSpPr txBox="1"/>
          <p:nvPr/>
        </p:nvSpPr>
        <p:spPr>
          <a:xfrm>
            <a:off x="10591495" y="6355080"/>
            <a:ext cx="914400" cy="365760"/>
          </a:xfrm>
          <a:prstGeom prst="rect">
            <a:avLst/>
          </a:prstGeom>
          <a:noFill/>
        </p:spPr>
        <p:txBody>
          <a:bodyPr wrap="square" anchor="t" lIns="45720" rIns="45720" tIns="27432" bIns="27432">
            <a:spAutoFit/>
          </a:bodyPr>
          <a:lstStyle/>
          <a:p>
            <a:pPr algn="r"/>
            <a:r>
              <a:rPr sz="1600" b="0" i="0">
                <a:solidFill>
                  <a:srgbClr val="6B665C"/>
                </a:solidFill>
                <a:latin typeface="Segoe UI"/>
              </a:rPr>
              <a:t>13</a:t>
            </a:r>
          </a:p>
        </p:txBody>
      </p:sp>
      <p:sp>
        <p:nvSpPr>
          <p:cNvPr id="7" name="TextBox 6"/>
          <p:cNvSpPr txBox="1"/>
          <p:nvPr/>
        </p:nvSpPr>
        <p:spPr>
          <a:xfrm>
            <a:off x="685800" y="1600200"/>
            <a:ext cx="5135727" cy="457200"/>
          </a:xfrm>
          <a:prstGeom prst="rect">
            <a:avLst/>
          </a:prstGeom>
          <a:noFill/>
        </p:spPr>
        <p:txBody>
          <a:bodyPr wrap="square" anchor="b" lIns="45720" rIns="45720" tIns="27432" bIns="27432">
            <a:spAutoFit/>
          </a:bodyPr>
          <a:lstStyle/>
          <a:p>
            <a:pPr algn="l"/>
            <a:r>
              <a:rPr sz="2000" b="1" i="0">
                <a:solidFill>
                  <a:srgbClr val="1C1B1A"/>
                </a:solidFill>
                <a:latin typeface="Georgia"/>
              </a:rPr>
              <a:t>Intel built-in graphics</a:t>
            </a:r>
          </a:p>
        </p:txBody>
      </p:sp>
      <p:cxnSp>
        <p:nvCxnSpPr>
          <p:cNvPr id="8" name="Connector 7"/>
          <p:cNvCxnSpPr/>
          <p:nvPr/>
        </p:nvCxnSpPr>
        <p:spPr>
          <a:xfrm>
            <a:off x="685800" y="2148840"/>
            <a:ext cx="5135727" cy="0"/>
          </a:xfrm>
          <a:prstGeom prst="line">
            <a:avLst/>
          </a:prstGeom>
          <a:ln w="9525">
            <a:solidFill>
              <a:srgbClr val="D9D2C3"/>
            </a:solidFill>
          </a:ln>
        </p:spPr>
      </p:cxnSp>
      <p:sp>
        <p:nvSpPr>
          <p:cNvPr id="9" name="TextBox 8"/>
          <p:cNvSpPr txBox="1"/>
          <p:nvPr/>
        </p:nvSpPr>
        <p:spPr>
          <a:xfrm>
            <a:off x="685800" y="2286000"/>
            <a:ext cx="5135727" cy="3840480"/>
          </a:xfrm>
          <a:prstGeom prst="rect">
            <a:avLst/>
          </a:prstGeom>
          <a:noFill/>
        </p:spPr>
        <p:txBody>
          <a:bodyPr wrap="square" lIns="45720" rIns="45720">
            <a:spAutoFit/>
          </a:bodyPr>
          <a:lstStyle/>
          <a:p>
            <a:pPr marL="320040" indent="-320040">
              <a:lnSpc>
                <a:spcPct val="105000"/>
              </a:lnSpc>
              <a:spcAft>
                <a:spcPts val="1200"/>
              </a:spcAft>
              <a:buClr>
                <a:srgbClr val="B4391F"/>
              </a:buClr>
              <a:buFont typeface="Arial"/>
              <a:buChar char="•"/>
            </a:pPr>
            <a:r>
              <a:rPr sz="2000">
                <a:solidFill>
                  <a:srgbClr val="1C1B1A"/>
                </a:solidFill>
                <a:latin typeface="Segoe UI"/>
              </a:rPr>
              <a:t>SmolLM2 360M: 4 to 5 tokens a second in a saved clean run.</a:t>
            </a:r>
          </a:p>
          <a:p>
            <a:pPr marL="320040" indent="-320040">
              <a:lnSpc>
                <a:spcPct val="105000"/>
              </a:lnSpc>
              <a:spcAft>
                <a:spcPts val="1200"/>
              </a:spcAft>
              <a:buClr>
                <a:srgbClr val="B4391F"/>
              </a:buClr>
              <a:buFont typeface="Arial"/>
              <a:buChar char="•"/>
            </a:pPr>
            <a:r>
              <a:rPr sz="2000">
                <a:solidFill>
                  <a:srgbClr val="1C1B1A"/>
                </a:solidFill>
                <a:latin typeface="Segoe UI"/>
              </a:rPr>
              <a:t>The 1B model wrote about 2 tokens a second in a speed test.</a:t>
            </a:r>
          </a:p>
          <a:p>
            <a:pPr marL="320040" indent="-320040">
              <a:lnSpc>
                <a:spcPct val="105000"/>
              </a:lnSpc>
              <a:spcAft>
                <a:spcPts val="1200"/>
              </a:spcAft>
              <a:buClr>
                <a:srgbClr val="B4391F"/>
              </a:buClr>
              <a:buFont typeface="Arial"/>
              <a:buChar char="•"/>
            </a:pPr>
            <a:r>
              <a:rPr sz="2000">
                <a:solidFill>
                  <a:srgbClr val="1C1B1A"/>
                </a:solidFill>
                <a:latin typeface="Segoe UI"/>
              </a:rPr>
              <a:t>Short article, first use: 199.2 s, including an 81 s download.</a:t>
            </a:r>
          </a:p>
          <a:p>
            <a:pPr marL="320040" indent="-320040">
              <a:lnSpc>
                <a:spcPct val="105000"/>
              </a:lnSpc>
              <a:spcAft>
                <a:spcPts val="1200"/>
              </a:spcAft>
              <a:buClr>
                <a:srgbClr val="B4391F"/>
              </a:buClr>
              <a:buFont typeface="Arial"/>
              <a:buChar char="•"/>
            </a:pPr>
            <a:r>
              <a:rPr sz="2000">
                <a:solidFill>
                  <a:srgbClr val="1C1B1A"/>
                </a:solidFill>
                <a:latin typeface="Segoe UI"/>
              </a:rPr>
              <a:t>Chrome used this chip by default on this laptop.</a:t>
            </a:r>
          </a:p>
        </p:txBody>
      </p:sp>
      <p:sp>
        <p:nvSpPr>
          <p:cNvPr id="10" name="TextBox 9"/>
          <p:cNvSpPr txBox="1"/>
          <p:nvPr/>
        </p:nvSpPr>
        <p:spPr>
          <a:xfrm>
            <a:off x="6370167" y="1600200"/>
            <a:ext cx="5135727" cy="457200"/>
          </a:xfrm>
          <a:prstGeom prst="rect">
            <a:avLst/>
          </a:prstGeom>
          <a:noFill/>
        </p:spPr>
        <p:txBody>
          <a:bodyPr wrap="square" anchor="b" lIns="45720" rIns="45720" tIns="27432" bIns="27432">
            <a:spAutoFit/>
          </a:bodyPr>
          <a:lstStyle/>
          <a:p>
            <a:pPr algn="l"/>
            <a:r>
              <a:rPr sz="2000" b="1" i="0">
                <a:solidFill>
                  <a:srgbClr val="1C1B1A"/>
                </a:solidFill>
                <a:latin typeface="Georgia"/>
              </a:rPr>
              <a:t>NVIDIA RTX 3050, 6 GB</a:t>
            </a:r>
          </a:p>
        </p:txBody>
      </p:sp>
      <p:cxnSp>
        <p:nvCxnSpPr>
          <p:cNvPr id="11" name="Connector 10"/>
          <p:cNvCxnSpPr/>
          <p:nvPr/>
        </p:nvCxnSpPr>
        <p:spPr>
          <a:xfrm>
            <a:off x="6370167" y="2148840"/>
            <a:ext cx="5135727" cy="0"/>
          </a:xfrm>
          <a:prstGeom prst="line">
            <a:avLst/>
          </a:prstGeom>
          <a:ln w="9525">
            <a:solidFill>
              <a:srgbClr val="D9D2C3"/>
            </a:solidFill>
          </a:ln>
        </p:spPr>
      </p:cxnSp>
      <p:sp>
        <p:nvSpPr>
          <p:cNvPr id="12" name="TextBox 11"/>
          <p:cNvSpPr txBox="1"/>
          <p:nvPr/>
        </p:nvSpPr>
        <p:spPr>
          <a:xfrm>
            <a:off x="6370167" y="2286000"/>
            <a:ext cx="5135727" cy="3840480"/>
          </a:xfrm>
          <a:prstGeom prst="rect">
            <a:avLst/>
          </a:prstGeom>
          <a:noFill/>
        </p:spPr>
        <p:txBody>
          <a:bodyPr wrap="square" lIns="45720" rIns="45720">
            <a:spAutoFit/>
          </a:bodyPr>
          <a:lstStyle/>
          <a:p>
            <a:pPr marL="320040" indent="-320040">
              <a:lnSpc>
                <a:spcPct val="105000"/>
              </a:lnSpc>
              <a:spcAft>
                <a:spcPts val="1200"/>
              </a:spcAft>
              <a:buClr>
                <a:srgbClr val="B4391F"/>
              </a:buClr>
              <a:buFont typeface="Arial"/>
              <a:buChar char="•"/>
            </a:pPr>
            <a:r>
              <a:rPr sz="2000">
                <a:solidFill>
                  <a:srgbClr val="1C1B1A"/>
                </a:solidFill>
                <a:latin typeface="Segoe UI"/>
              </a:rPr>
              <a:t>Llama 3.2 1B: 34 to 53 tokens a second in clean runs.</a:t>
            </a:r>
          </a:p>
          <a:p>
            <a:pPr marL="320040" indent="-320040">
              <a:lnSpc>
                <a:spcPct val="105000"/>
              </a:lnSpc>
              <a:spcAft>
                <a:spcPts val="1200"/>
              </a:spcAft>
              <a:buClr>
                <a:srgbClr val="B4391F"/>
              </a:buClr>
              <a:buFont typeface="Arial"/>
              <a:buChar char="•"/>
            </a:pPr>
            <a:r>
              <a:rPr sz="2000">
                <a:solidFill>
                  <a:srgbClr val="1C1B1A"/>
                </a:solidFill>
                <a:latin typeface="Segoe UI"/>
              </a:rPr>
              <a:t>Short article, model stored: 15.3 s before the label fix, 17.7 s after it.</a:t>
            </a:r>
          </a:p>
          <a:p>
            <a:pPr marL="320040" indent="-320040">
              <a:lnSpc>
                <a:spcPct val="105000"/>
              </a:lnSpc>
              <a:spcAft>
                <a:spcPts val="1200"/>
              </a:spcAft>
              <a:buClr>
                <a:srgbClr val="B4391F"/>
              </a:buClr>
              <a:buFont typeface="Arial"/>
              <a:buChar char="•"/>
            </a:pPr>
            <a:r>
              <a:rPr sz="2000">
                <a:solidFill>
                  <a:srgbClr val="1C1B1A"/>
                </a:solidFill>
                <a:latin typeface="Segoe UI"/>
              </a:rPr>
              <a:t>The Windows Graphics setting or setup.bat --gpu (opt-in) moves Chrome to it.</a:t>
            </a:r>
          </a:p>
          <a:p>
            <a:pPr marL="320040" indent="-320040">
              <a:lnSpc>
                <a:spcPct val="105000"/>
              </a:lnSpc>
              <a:spcAft>
                <a:spcPts val="1200"/>
              </a:spcAft>
              <a:buClr>
                <a:srgbClr val="B4391F"/>
              </a:buClr>
              <a:buFont typeface="Arial"/>
              <a:buChar char="•"/>
            </a:pPr>
            <a:r>
              <a:rPr sz="2000">
                <a:solidFill>
                  <a:srgbClr val="1C1B1A"/>
                </a:solidFill>
                <a:latin typeface="Segoe UI"/>
              </a:rPr>
              <a:t>setup.bat --gpu was tested only against a throw-away registry key.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TextBox 1"/>
          <p:cNvSpPr txBox="1"/>
          <p:nvPr/>
        </p:nvSpPr>
        <p:spPr>
          <a:xfrm>
            <a:off x="685800" y="411480"/>
            <a:ext cx="10820095" cy="777240"/>
          </a:xfrm>
          <a:prstGeom prst="rect">
            <a:avLst/>
          </a:prstGeom>
          <a:noFill/>
        </p:spPr>
        <p:txBody>
          <a:bodyPr wrap="square" anchor="b" lIns="45720" rIns="45720" tIns="27432" bIns="27432">
            <a:spAutoFit/>
          </a:bodyPr>
          <a:lstStyle/>
          <a:p>
            <a:pPr algn="l"/>
            <a:r>
              <a:rPr sz="3000" b="1" i="0">
                <a:solidFill>
                  <a:srgbClr val="1C1B1A"/>
                </a:solidFill>
                <a:latin typeface="Georgia"/>
              </a:rPr>
              <a:t>Long pages are cut into parts</a:t>
            </a:r>
          </a:p>
        </p:txBody>
      </p:sp>
      <p:cxnSp>
        <p:nvCxnSpPr>
          <p:cNvPr id="3" name="Connector 2"/>
          <p:cNvCxnSpPr/>
          <p:nvPr/>
        </p:nvCxnSpPr>
        <p:spPr>
          <a:xfrm>
            <a:off x="685800" y="1280160"/>
            <a:ext cx="10820095" cy="0"/>
          </a:xfrm>
          <a:prstGeom prst="line">
            <a:avLst/>
          </a:prstGeom>
          <a:ln w="9525">
            <a:solidFill>
              <a:srgbClr val="D9D2C3"/>
            </a:solidFill>
          </a:ln>
        </p:spPr>
      </p:cxnSp>
      <p:sp>
        <p:nvSpPr>
          <p:cNvPr id="4" name="Rectangle 3"/>
          <p:cNvSpPr/>
          <p:nvPr/>
        </p:nvSpPr>
        <p:spPr>
          <a:xfrm>
            <a:off x="685800" y="1252728"/>
            <a:ext cx="822960" cy="45720"/>
          </a:xfrm>
          <a:prstGeom prst="rect">
            <a:avLst/>
          </a:prstGeom>
          <a:solidFill>
            <a:srgbClr val="B43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355080"/>
            <a:ext cx="9144000" cy="365760"/>
          </a:xfrm>
          <a:prstGeom prst="rect">
            <a:avLst/>
          </a:prstGeom>
          <a:noFill/>
        </p:spPr>
        <p:txBody>
          <a:bodyPr wrap="square" anchor="t" lIns="45720" rIns="45720" tIns="27432" bIns="27432">
            <a:spAutoFit/>
          </a:bodyPr>
          <a:lstStyle/>
          <a:p>
            <a:pPr algn="l"/>
            <a:r>
              <a:rPr sz="1600" b="0" i="0">
                <a:solidFill>
                  <a:srgbClr val="6B665C"/>
                </a:solidFill>
                <a:latin typeface="Segoe UI"/>
              </a:rPr>
              <a:t>Page Summarizer  |  Final-Semester Review (Version 2)</a:t>
            </a:r>
          </a:p>
        </p:txBody>
      </p:sp>
      <p:sp>
        <p:nvSpPr>
          <p:cNvPr id="6" name="TextBox 5"/>
          <p:cNvSpPr txBox="1"/>
          <p:nvPr/>
        </p:nvSpPr>
        <p:spPr>
          <a:xfrm>
            <a:off x="10591495" y="6355080"/>
            <a:ext cx="914400" cy="365760"/>
          </a:xfrm>
          <a:prstGeom prst="rect">
            <a:avLst/>
          </a:prstGeom>
          <a:noFill/>
        </p:spPr>
        <p:txBody>
          <a:bodyPr wrap="square" anchor="t" lIns="45720" rIns="45720" tIns="27432" bIns="27432">
            <a:spAutoFit/>
          </a:bodyPr>
          <a:lstStyle/>
          <a:p>
            <a:pPr algn="r"/>
            <a:r>
              <a:rPr sz="1600" b="0" i="0">
                <a:solidFill>
                  <a:srgbClr val="6B665C"/>
                </a:solidFill>
                <a:latin typeface="Segoe UI"/>
              </a:rPr>
              <a:t>14</a:t>
            </a:r>
          </a:p>
        </p:txBody>
      </p:sp>
      <p:graphicFrame>
        <p:nvGraphicFramePr>
          <p:cNvPr id="7" name="Table 6"/>
          <p:cNvGraphicFramePr>
            <a:graphicFrameLocks noGrp="1"/>
          </p:cNvGraphicFramePr>
          <p:nvPr/>
        </p:nvGraphicFramePr>
        <p:xfrm>
          <a:off x="685800" y="1600200"/>
          <a:ext cx="10820094" cy="4069080"/>
        </p:xfrm>
        <a:graphic>
          <a:graphicData uri="http://schemas.openxmlformats.org/drawingml/2006/table">
            <a:tbl>
              <a:tblPr firstRow="1">
                <a:tableStyleId>{2D5ABB26-0587-4C30-8999-92F81FD0307C}</a:tableStyleId>
              </a:tblPr>
              <a:tblGrid>
                <a:gridCol w="8802789"/>
                <a:gridCol w="2017305"/>
              </a:tblGrid>
              <a:tr h="452120">
                <a:tc>
                  <a:txBody>
                    <a:bodyPr/>
                    <a:lstStyle/>
                    <a:p>
                      <a:r>
                        <a:rPr sz="1600" b="1">
                          <a:solidFill>
                            <a:srgbClr val="1C1B1A"/>
                          </a:solidFill>
                          <a:latin typeface="Segoe UI"/>
                        </a:rPr>
                        <a:t>Popup line, Lighthouse article (clean run)</a:t>
                      </a:r>
                    </a:p>
                  </a:txBody>
                  <a:tcPr anchor="ctr" marL="91440" marR="91440" marT="27432" marB="27432">
                    <a:lnB w="12700">
                      <a:solidFill>
                        <a:srgbClr val="1C1B1A"/>
                      </a:solidFill>
                    </a:lnB>
                    <a:noFill/>
                  </a:tcPr>
                </a:tc>
                <a:tc>
                  <a:txBody>
                    <a:bodyPr/>
                    <a:lstStyle/>
                    <a:p>
                      <a:r>
                        <a:rPr sz="1600" b="1">
                          <a:solidFill>
                            <a:srgbClr val="1C1B1A"/>
                          </a:solidFill>
                          <a:latin typeface="Segoe UI"/>
                        </a:rPr>
                        <a:t>At (s)</a:t>
                      </a:r>
                    </a:p>
                  </a:txBody>
                  <a:tcPr anchor="ctr" marL="91440" marR="91440" marT="27432" marB="27432">
                    <a:lnB w="12700">
                      <a:solidFill>
                        <a:srgbClr val="1C1B1A"/>
                      </a:solidFill>
                    </a:lnB>
                    <a:noFill/>
                  </a:tcPr>
                </a:tc>
              </a:tr>
              <a:tr h="452120">
                <a:tc>
                  <a:txBody>
                    <a:bodyPr/>
                    <a:lstStyle/>
                    <a:p>
                      <a:r>
                        <a:rPr sz="1600" b="0">
                          <a:solidFill>
                            <a:srgbClr val="1C1B1A"/>
                          </a:solidFill>
                          <a:latin typeface="Segoe UI"/>
                        </a:rPr>
                        <a:t>Summarizing part 1 of 7...</a:t>
                      </a:r>
                    </a:p>
                  </a:txBody>
                  <a:tcPr anchor="ctr" marL="91440" marR="91440" marT="27432" marB="27432">
                    <a:lnB w="9525">
                      <a:solidFill>
                        <a:srgbClr val="D9D2C3"/>
                      </a:solidFill>
                    </a:lnB>
                    <a:noFill/>
                  </a:tcPr>
                </a:tc>
                <a:tc>
                  <a:txBody>
                    <a:bodyPr/>
                    <a:lstStyle/>
                    <a:p>
                      <a:r>
                        <a:rPr sz="1600" b="0">
                          <a:solidFill>
                            <a:srgbClr val="1C1B1A"/>
                          </a:solidFill>
                          <a:latin typeface="Segoe UI"/>
                        </a:rPr>
                        <a:t>3.2</a:t>
                      </a:r>
                    </a:p>
                  </a:txBody>
                  <a:tcPr anchor="ctr" marL="91440" marR="91440" marT="27432" marB="27432">
                    <a:lnB w="9525">
                      <a:solidFill>
                        <a:srgbClr val="D9D2C3"/>
                      </a:solidFill>
                    </a:lnB>
                    <a:noFill/>
                  </a:tcPr>
                </a:tc>
              </a:tr>
              <a:tr h="452120">
                <a:tc>
                  <a:txBody>
                    <a:bodyPr/>
                    <a:lstStyle/>
                    <a:p>
                      <a:r>
                        <a:rPr sz="1600" b="0">
                          <a:solidFill>
                            <a:srgbClr val="1C1B1A"/>
                          </a:solidFill>
                          <a:latin typeface="Segoe UI"/>
                        </a:rPr>
                        <a:t>Summarizing part 2 of 7...</a:t>
                      </a:r>
                    </a:p>
                  </a:txBody>
                  <a:tcPr anchor="ctr" marL="91440" marR="91440" marT="27432" marB="27432">
                    <a:lnB w="9525">
                      <a:solidFill>
                        <a:srgbClr val="D9D2C3"/>
                      </a:solidFill>
                    </a:lnB>
                    <a:noFill/>
                  </a:tcPr>
                </a:tc>
                <a:tc>
                  <a:txBody>
                    <a:bodyPr/>
                    <a:lstStyle/>
                    <a:p>
                      <a:r>
                        <a:rPr sz="1600" b="0">
                          <a:solidFill>
                            <a:srgbClr val="1C1B1A"/>
                          </a:solidFill>
                          <a:latin typeface="Segoe UI"/>
                        </a:rPr>
                        <a:t>7.8</a:t>
                      </a:r>
                    </a:p>
                  </a:txBody>
                  <a:tcPr anchor="ctr" marL="91440" marR="91440" marT="27432" marB="27432">
                    <a:lnB w="9525">
                      <a:solidFill>
                        <a:srgbClr val="D9D2C3"/>
                      </a:solidFill>
                    </a:lnB>
                    <a:noFill/>
                  </a:tcPr>
                </a:tc>
              </a:tr>
              <a:tr h="452120">
                <a:tc>
                  <a:txBody>
                    <a:bodyPr/>
                    <a:lstStyle/>
                    <a:p>
                      <a:r>
                        <a:rPr sz="1600" b="0">
                          <a:solidFill>
                            <a:srgbClr val="1C1B1A"/>
                          </a:solidFill>
                          <a:latin typeface="Segoe UI"/>
                        </a:rPr>
                        <a:t>Summarizing part 3 of 7...</a:t>
                      </a:r>
                    </a:p>
                  </a:txBody>
                  <a:tcPr anchor="ctr" marL="91440" marR="91440" marT="27432" marB="27432">
                    <a:lnB w="9525">
                      <a:solidFill>
                        <a:srgbClr val="D9D2C3"/>
                      </a:solidFill>
                    </a:lnB>
                    <a:noFill/>
                  </a:tcPr>
                </a:tc>
                <a:tc>
                  <a:txBody>
                    <a:bodyPr/>
                    <a:lstStyle/>
                    <a:p>
                      <a:r>
                        <a:rPr sz="1600" b="0">
                          <a:solidFill>
                            <a:srgbClr val="1C1B1A"/>
                          </a:solidFill>
                          <a:latin typeface="Segoe UI"/>
                        </a:rPr>
                        <a:t>17.0</a:t>
                      </a:r>
                    </a:p>
                  </a:txBody>
                  <a:tcPr anchor="ctr" marL="91440" marR="91440" marT="27432" marB="27432">
                    <a:lnB w="9525">
                      <a:solidFill>
                        <a:srgbClr val="D9D2C3"/>
                      </a:solidFill>
                    </a:lnB>
                    <a:noFill/>
                  </a:tcPr>
                </a:tc>
              </a:tr>
              <a:tr h="452120">
                <a:tc>
                  <a:txBody>
                    <a:bodyPr/>
                    <a:lstStyle/>
                    <a:p>
                      <a:r>
                        <a:rPr sz="1600" b="0">
                          <a:solidFill>
                            <a:srgbClr val="1C1B1A"/>
                          </a:solidFill>
                          <a:latin typeface="Segoe UI"/>
                        </a:rPr>
                        <a:t>Summarizing part 4 of 7...</a:t>
                      </a:r>
                    </a:p>
                  </a:txBody>
                  <a:tcPr anchor="ctr" marL="91440" marR="91440" marT="27432" marB="27432">
                    <a:lnB w="9525">
                      <a:solidFill>
                        <a:srgbClr val="D9D2C3"/>
                      </a:solidFill>
                    </a:lnB>
                    <a:noFill/>
                  </a:tcPr>
                </a:tc>
                <a:tc>
                  <a:txBody>
                    <a:bodyPr/>
                    <a:lstStyle/>
                    <a:p>
                      <a:r>
                        <a:rPr sz="1600" b="0">
                          <a:solidFill>
                            <a:srgbClr val="1C1B1A"/>
                          </a:solidFill>
                          <a:latin typeface="Segoe UI"/>
                        </a:rPr>
                        <a:t>22.5</a:t>
                      </a:r>
                    </a:p>
                  </a:txBody>
                  <a:tcPr anchor="ctr" marL="91440" marR="91440" marT="27432" marB="27432">
                    <a:lnB w="9525">
                      <a:solidFill>
                        <a:srgbClr val="D9D2C3"/>
                      </a:solidFill>
                    </a:lnB>
                    <a:noFill/>
                  </a:tcPr>
                </a:tc>
              </a:tr>
              <a:tr h="452120">
                <a:tc>
                  <a:txBody>
                    <a:bodyPr/>
                    <a:lstStyle/>
                    <a:p>
                      <a:r>
                        <a:rPr sz="1600" b="0">
                          <a:solidFill>
                            <a:srgbClr val="1C1B1A"/>
                          </a:solidFill>
                          <a:latin typeface="Segoe UI"/>
                        </a:rPr>
                        <a:t>Summarizing part 5 of 7...</a:t>
                      </a:r>
                    </a:p>
                  </a:txBody>
                  <a:tcPr anchor="ctr" marL="91440" marR="91440" marT="27432" marB="27432">
                    <a:lnB w="9525">
                      <a:solidFill>
                        <a:srgbClr val="D9D2C3"/>
                      </a:solidFill>
                    </a:lnB>
                    <a:noFill/>
                  </a:tcPr>
                </a:tc>
                <a:tc>
                  <a:txBody>
                    <a:bodyPr/>
                    <a:lstStyle/>
                    <a:p>
                      <a:r>
                        <a:rPr sz="1600" b="0">
                          <a:solidFill>
                            <a:srgbClr val="1C1B1A"/>
                          </a:solidFill>
                          <a:latin typeface="Segoe UI"/>
                        </a:rPr>
                        <a:t>30.1</a:t>
                      </a:r>
                    </a:p>
                  </a:txBody>
                  <a:tcPr anchor="ctr" marL="91440" marR="91440" marT="27432" marB="27432">
                    <a:lnB w="9525">
                      <a:solidFill>
                        <a:srgbClr val="D9D2C3"/>
                      </a:solidFill>
                    </a:lnB>
                    <a:noFill/>
                  </a:tcPr>
                </a:tc>
              </a:tr>
              <a:tr h="452120">
                <a:tc>
                  <a:txBody>
                    <a:bodyPr/>
                    <a:lstStyle/>
                    <a:p>
                      <a:r>
                        <a:rPr sz="1600" b="0">
                          <a:solidFill>
                            <a:srgbClr val="1C1B1A"/>
                          </a:solidFill>
                          <a:latin typeface="Segoe UI"/>
                        </a:rPr>
                        <a:t>Summarizing part 6 of 7...</a:t>
                      </a:r>
                    </a:p>
                  </a:txBody>
                  <a:tcPr anchor="ctr" marL="91440" marR="91440" marT="27432" marB="27432">
                    <a:lnB w="9525">
                      <a:solidFill>
                        <a:srgbClr val="D9D2C3"/>
                      </a:solidFill>
                    </a:lnB>
                    <a:noFill/>
                  </a:tcPr>
                </a:tc>
                <a:tc>
                  <a:txBody>
                    <a:bodyPr/>
                    <a:lstStyle/>
                    <a:p>
                      <a:r>
                        <a:rPr sz="1600" b="0">
                          <a:solidFill>
                            <a:srgbClr val="1C1B1A"/>
                          </a:solidFill>
                          <a:latin typeface="Segoe UI"/>
                        </a:rPr>
                        <a:t>38.1</a:t>
                      </a:r>
                    </a:p>
                  </a:txBody>
                  <a:tcPr anchor="ctr" marL="91440" marR="91440" marT="27432" marB="27432">
                    <a:lnB w="9525">
                      <a:solidFill>
                        <a:srgbClr val="D9D2C3"/>
                      </a:solidFill>
                    </a:lnB>
                    <a:noFill/>
                  </a:tcPr>
                </a:tc>
              </a:tr>
              <a:tr h="452120">
                <a:tc>
                  <a:txBody>
                    <a:bodyPr/>
                    <a:lstStyle/>
                    <a:p>
                      <a:r>
                        <a:rPr sz="1600" b="0">
                          <a:solidFill>
                            <a:srgbClr val="1C1B1A"/>
                          </a:solidFill>
                          <a:latin typeface="Segoe UI"/>
                        </a:rPr>
                        <a:t>Summarizing part 7 of 7...</a:t>
                      </a:r>
                    </a:p>
                  </a:txBody>
                  <a:tcPr anchor="ctr" marL="91440" marR="91440" marT="27432" marB="27432">
                    <a:lnB w="9525">
                      <a:solidFill>
                        <a:srgbClr val="D9D2C3"/>
                      </a:solidFill>
                    </a:lnB>
                    <a:noFill/>
                  </a:tcPr>
                </a:tc>
                <a:tc>
                  <a:txBody>
                    <a:bodyPr/>
                    <a:lstStyle/>
                    <a:p>
                      <a:r>
                        <a:rPr sz="1600" b="0">
                          <a:solidFill>
                            <a:srgbClr val="1C1B1A"/>
                          </a:solidFill>
                          <a:latin typeface="Segoe UI"/>
                        </a:rPr>
                        <a:t>54.7</a:t>
                      </a:r>
                    </a:p>
                  </a:txBody>
                  <a:tcPr anchor="ctr" marL="91440" marR="91440" marT="27432" marB="27432">
                    <a:lnB w="9525">
                      <a:solidFill>
                        <a:srgbClr val="D9D2C3"/>
                      </a:solidFill>
                    </a:lnB>
                    <a:noFill/>
                  </a:tcPr>
                </a:tc>
              </a:tr>
              <a:tr h="452120">
                <a:tc>
                  <a:txBody>
                    <a:bodyPr/>
                    <a:lstStyle/>
                    <a:p>
                      <a:r>
                        <a:rPr sz="1600" b="0">
                          <a:solidFill>
                            <a:srgbClr val="1C1B1A"/>
                          </a:solidFill>
                          <a:latin typeface="Segoe UI"/>
                        </a:rPr>
                        <a:t>Combining 7 summaries...</a:t>
                      </a:r>
                    </a:p>
                  </a:txBody>
                  <a:tcPr anchor="ctr" marL="91440" marR="91440" marT="27432" marB="27432">
                    <a:lnB w="9525">
                      <a:solidFill>
                        <a:srgbClr val="D9D2C3"/>
                      </a:solidFill>
                    </a:lnB>
                    <a:noFill/>
                  </a:tcPr>
                </a:tc>
                <a:tc>
                  <a:txBody>
                    <a:bodyPr/>
                    <a:lstStyle/>
                    <a:p>
                      <a:r>
                        <a:rPr sz="1600" b="0">
                          <a:solidFill>
                            <a:srgbClr val="1C1B1A"/>
                          </a:solidFill>
                          <a:latin typeface="Segoe UI"/>
                        </a:rPr>
                        <a:t>60.2</a:t>
                      </a:r>
                    </a:p>
                  </a:txBody>
                  <a:tcPr anchor="ctr" marL="91440" marR="91440" marT="27432" marB="27432">
                    <a:lnB w="9525">
                      <a:solidFill>
                        <a:srgbClr val="D9D2C3"/>
                      </a:solidFill>
                    </a:lnB>
                    <a:noFill/>
                  </a:tcPr>
                </a:tc>
              </a:tr>
            </a:tbl>
          </a:graphicData>
        </a:graphic>
      </p:graphicFrame>
      <p:sp>
        <p:nvSpPr>
          <p:cNvPr id="8" name="TextBox 7"/>
          <p:cNvSpPr txBox="1"/>
          <p:nvPr/>
        </p:nvSpPr>
        <p:spPr>
          <a:xfrm>
            <a:off x="685800" y="5806440"/>
            <a:ext cx="10820095" cy="640080"/>
          </a:xfrm>
          <a:prstGeom prst="rect">
            <a:avLst/>
          </a:prstGeom>
          <a:noFill/>
        </p:spPr>
        <p:txBody>
          <a:bodyPr wrap="square" anchor="t" lIns="45720" rIns="45720" tIns="27432" bIns="27432">
            <a:spAutoFit/>
          </a:bodyPr>
          <a:lstStyle/>
          <a:p>
            <a:pPr algn="l"/>
            <a:r>
              <a:rPr sz="1600" b="0" i="1">
                <a:solidFill>
                  <a:srgbClr val="6B665C"/>
                </a:solidFill>
                <a:latin typeface="Segoe UI"/>
              </a:rPr>
              <a:t>Finished at 74.1 s with the model stored. Parts up to 6,000 characters; a page over 12 parts is refused.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TextBox 1"/>
          <p:cNvSpPr txBox="1"/>
          <p:nvPr/>
        </p:nvSpPr>
        <p:spPr>
          <a:xfrm>
            <a:off x="685800" y="411480"/>
            <a:ext cx="10820095" cy="777240"/>
          </a:xfrm>
          <a:prstGeom prst="rect">
            <a:avLst/>
          </a:prstGeom>
          <a:noFill/>
        </p:spPr>
        <p:txBody>
          <a:bodyPr wrap="square" anchor="b" lIns="45720" rIns="45720" tIns="27432" bIns="27432">
            <a:spAutoFit/>
          </a:bodyPr>
          <a:lstStyle/>
          <a:p>
            <a:pPr algn="l"/>
            <a:r>
              <a:rPr sz="3000" b="1" i="0">
                <a:solidFill>
                  <a:srgbClr val="1C1B1A"/>
                </a:solidFill>
                <a:latin typeface="Georgia"/>
              </a:rPr>
              <a:t>The popup on first use: download, then warm-up</a:t>
            </a:r>
          </a:p>
        </p:txBody>
      </p:sp>
      <p:cxnSp>
        <p:nvCxnSpPr>
          <p:cNvPr id="3" name="Connector 2"/>
          <p:cNvCxnSpPr/>
          <p:nvPr/>
        </p:nvCxnSpPr>
        <p:spPr>
          <a:xfrm>
            <a:off x="685800" y="1280160"/>
            <a:ext cx="10820095" cy="0"/>
          </a:xfrm>
          <a:prstGeom prst="line">
            <a:avLst/>
          </a:prstGeom>
          <a:ln w="9525">
            <a:solidFill>
              <a:srgbClr val="D9D2C3"/>
            </a:solidFill>
          </a:ln>
        </p:spPr>
      </p:cxnSp>
      <p:sp>
        <p:nvSpPr>
          <p:cNvPr id="4" name="Rectangle 3"/>
          <p:cNvSpPr/>
          <p:nvPr/>
        </p:nvSpPr>
        <p:spPr>
          <a:xfrm>
            <a:off x="685800" y="1252728"/>
            <a:ext cx="822960" cy="45720"/>
          </a:xfrm>
          <a:prstGeom prst="rect">
            <a:avLst/>
          </a:prstGeom>
          <a:solidFill>
            <a:srgbClr val="B43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355080"/>
            <a:ext cx="9144000" cy="365760"/>
          </a:xfrm>
          <a:prstGeom prst="rect">
            <a:avLst/>
          </a:prstGeom>
          <a:noFill/>
        </p:spPr>
        <p:txBody>
          <a:bodyPr wrap="square" anchor="t" lIns="45720" rIns="45720" tIns="27432" bIns="27432">
            <a:spAutoFit/>
          </a:bodyPr>
          <a:lstStyle/>
          <a:p>
            <a:pPr algn="l"/>
            <a:r>
              <a:rPr sz="1600" b="0" i="0">
                <a:solidFill>
                  <a:srgbClr val="6B665C"/>
                </a:solidFill>
                <a:latin typeface="Segoe UI"/>
              </a:rPr>
              <a:t>Page Summarizer  |  Final-Semester Review (Version 2)</a:t>
            </a:r>
          </a:p>
        </p:txBody>
      </p:sp>
      <p:sp>
        <p:nvSpPr>
          <p:cNvPr id="6" name="TextBox 5"/>
          <p:cNvSpPr txBox="1"/>
          <p:nvPr/>
        </p:nvSpPr>
        <p:spPr>
          <a:xfrm>
            <a:off x="10591495" y="6355080"/>
            <a:ext cx="914400" cy="365760"/>
          </a:xfrm>
          <a:prstGeom prst="rect">
            <a:avLst/>
          </a:prstGeom>
          <a:noFill/>
        </p:spPr>
        <p:txBody>
          <a:bodyPr wrap="square" anchor="t" lIns="45720" rIns="45720" tIns="27432" bIns="27432">
            <a:spAutoFit/>
          </a:bodyPr>
          <a:lstStyle/>
          <a:p>
            <a:pPr algn="r"/>
            <a:r>
              <a:rPr sz="1600" b="0" i="0">
                <a:solidFill>
                  <a:srgbClr val="6B665C"/>
                </a:solidFill>
                <a:latin typeface="Segoe UI"/>
              </a:rPr>
              <a:t>15</a:t>
            </a:r>
          </a:p>
        </p:txBody>
      </p:sp>
      <p:pic>
        <p:nvPicPr>
          <p:cNvPr id="7" name="Picture 6" descr="Popup before the first download. The button reads Download model and summarize."/>
          <p:cNvPicPr>
            <a:picLocks noChangeAspect="1"/>
          </p:cNvPicPr>
          <p:nvPr/>
        </p:nvPicPr>
        <p:blipFill>
          <a:blip r:embed="rId2"/>
          <a:stretch>
            <a:fillRect/>
          </a:stretch>
        </p:blipFill>
        <p:spPr>
          <a:xfrm>
            <a:off x="685800" y="2378237"/>
            <a:ext cx="5135727" cy="2513803"/>
          </a:xfrm>
          <a:prstGeom prst="rect">
            <a:avLst/>
          </a:prstGeom>
        </p:spPr>
      </p:pic>
      <p:sp>
        <p:nvSpPr>
          <p:cNvPr id="8" name="TextBox 7"/>
          <p:cNvSpPr txBox="1"/>
          <p:nvPr/>
        </p:nvSpPr>
        <p:spPr>
          <a:xfrm>
            <a:off x="685800" y="5029200"/>
            <a:ext cx="5135727" cy="1097280"/>
          </a:xfrm>
          <a:prstGeom prst="rect">
            <a:avLst/>
          </a:prstGeom>
          <a:noFill/>
        </p:spPr>
        <p:txBody>
          <a:bodyPr wrap="square" anchor="t" lIns="45720" rIns="45720" tIns="27432" bIns="27432">
            <a:spAutoFit/>
          </a:bodyPr>
          <a:lstStyle/>
          <a:p>
            <a:pPr algn="l"/>
            <a:r>
              <a:rPr sz="1600" b="0" i="1">
                <a:solidFill>
                  <a:srgbClr val="6B665C"/>
                </a:solidFill>
                <a:latin typeface="Segoe UI"/>
              </a:rPr>
              <a:t>Before the first use, the button asks for the download. Pretend model: the 664 MB size is its fixed number.</a:t>
            </a:r>
          </a:p>
        </p:txBody>
      </p:sp>
      <p:pic>
        <p:nvPicPr>
          <p:cNvPr id="9" name="Picture 8" descr="Popup during the warm-up. The text reads Warming up the model."/>
          <p:cNvPicPr>
            <a:picLocks noChangeAspect="1"/>
          </p:cNvPicPr>
          <p:nvPr/>
        </p:nvPicPr>
        <p:blipFill>
          <a:blip r:embed="rId3"/>
          <a:stretch>
            <a:fillRect/>
          </a:stretch>
        </p:blipFill>
        <p:spPr>
          <a:xfrm>
            <a:off x="6370167" y="1621393"/>
            <a:ext cx="5135727" cy="3270647"/>
          </a:xfrm>
          <a:prstGeom prst="rect">
            <a:avLst/>
          </a:prstGeom>
        </p:spPr>
      </p:pic>
      <p:sp>
        <p:nvSpPr>
          <p:cNvPr id="10" name="TextBox 9"/>
          <p:cNvSpPr txBox="1"/>
          <p:nvPr/>
        </p:nvSpPr>
        <p:spPr>
          <a:xfrm>
            <a:off x="6370167" y="5029200"/>
            <a:ext cx="5135727" cy="1097280"/>
          </a:xfrm>
          <a:prstGeom prst="rect">
            <a:avLst/>
          </a:prstGeom>
          <a:noFill/>
        </p:spPr>
        <p:txBody>
          <a:bodyPr wrap="square" anchor="t" lIns="45720" rIns="45720" tIns="27432" bIns="27432">
            <a:spAutoFit/>
          </a:bodyPr>
          <a:lstStyle/>
          <a:p>
            <a:pPr algn="l"/>
            <a:r>
              <a:rPr sz="1600" b="0" i="1">
                <a:solidFill>
                  <a:srgbClr val="6B665C"/>
                </a:solidFill>
                <a:latin typeface="Segoe UI"/>
              </a:rPr>
              <a:t>The warm-up line, after the download and the load. Real first-use warm-up: about 30 s (30.5 s in the clean run).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TextBox 1"/>
          <p:cNvSpPr txBox="1"/>
          <p:nvPr/>
        </p:nvSpPr>
        <p:spPr>
          <a:xfrm>
            <a:off x="685800" y="411480"/>
            <a:ext cx="10820095" cy="777240"/>
          </a:xfrm>
          <a:prstGeom prst="rect">
            <a:avLst/>
          </a:prstGeom>
          <a:noFill/>
        </p:spPr>
        <p:txBody>
          <a:bodyPr wrap="square" anchor="b" lIns="45720" rIns="45720" tIns="27432" bIns="27432">
            <a:spAutoFit/>
          </a:bodyPr>
          <a:lstStyle/>
          <a:p>
            <a:pPr algn="l"/>
            <a:r>
              <a:rPr sz="3000" b="1" i="0">
                <a:solidFill>
                  <a:srgbClr val="1C1B1A"/>
                </a:solidFill>
                <a:latin typeface="Georgia"/>
              </a:rPr>
              <a:t>The popup: a finished summary, and the notice</a:t>
            </a:r>
          </a:p>
        </p:txBody>
      </p:sp>
      <p:cxnSp>
        <p:nvCxnSpPr>
          <p:cNvPr id="3" name="Connector 2"/>
          <p:cNvCxnSpPr/>
          <p:nvPr/>
        </p:nvCxnSpPr>
        <p:spPr>
          <a:xfrm>
            <a:off x="685800" y="1280160"/>
            <a:ext cx="10820095" cy="0"/>
          </a:xfrm>
          <a:prstGeom prst="line">
            <a:avLst/>
          </a:prstGeom>
          <a:ln w="9525">
            <a:solidFill>
              <a:srgbClr val="D9D2C3"/>
            </a:solidFill>
          </a:ln>
        </p:spPr>
      </p:cxnSp>
      <p:sp>
        <p:nvSpPr>
          <p:cNvPr id="4" name="Rectangle 3"/>
          <p:cNvSpPr/>
          <p:nvPr/>
        </p:nvSpPr>
        <p:spPr>
          <a:xfrm>
            <a:off x="685800" y="1252728"/>
            <a:ext cx="822960" cy="45720"/>
          </a:xfrm>
          <a:prstGeom prst="rect">
            <a:avLst/>
          </a:prstGeom>
          <a:solidFill>
            <a:srgbClr val="B43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355080"/>
            <a:ext cx="9144000" cy="365760"/>
          </a:xfrm>
          <a:prstGeom prst="rect">
            <a:avLst/>
          </a:prstGeom>
          <a:noFill/>
        </p:spPr>
        <p:txBody>
          <a:bodyPr wrap="square" anchor="t" lIns="45720" rIns="45720" tIns="27432" bIns="27432">
            <a:spAutoFit/>
          </a:bodyPr>
          <a:lstStyle/>
          <a:p>
            <a:pPr algn="l"/>
            <a:r>
              <a:rPr sz="1600" b="0" i="0">
                <a:solidFill>
                  <a:srgbClr val="6B665C"/>
                </a:solidFill>
                <a:latin typeface="Segoe UI"/>
              </a:rPr>
              <a:t>Page Summarizer  |  Final-Semester Review (Version 2)</a:t>
            </a:r>
          </a:p>
        </p:txBody>
      </p:sp>
      <p:sp>
        <p:nvSpPr>
          <p:cNvPr id="6" name="TextBox 5"/>
          <p:cNvSpPr txBox="1"/>
          <p:nvPr/>
        </p:nvSpPr>
        <p:spPr>
          <a:xfrm>
            <a:off x="10591495" y="6355080"/>
            <a:ext cx="914400" cy="365760"/>
          </a:xfrm>
          <a:prstGeom prst="rect">
            <a:avLst/>
          </a:prstGeom>
          <a:noFill/>
        </p:spPr>
        <p:txBody>
          <a:bodyPr wrap="square" anchor="t" lIns="45720" rIns="45720" tIns="27432" bIns="27432">
            <a:spAutoFit/>
          </a:bodyPr>
          <a:lstStyle/>
          <a:p>
            <a:pPr algn="r"/>
            <a:r>
              <a:rPr sz="1600" b="0" i="0">
                <a:solidFill>
                  <a:srgbClr val="6B665C"/>
                </a:solidFill>
                <a:latin typeface="Segoe UI"/>
              </a:rPr>
              <a:t>16</a:t>
            </a:r>
          </a:p>
        </p:txBody>
      </p:sp>
      <p:pic>
        <p:nvPicPr>
          <p:cNvPr id="7" name="Picture 6" descr="Popup with a finished summary and its stats line: 1 part, 1 request, 0.2 s, Llama 3.2 1B."/>
          <p:cNvPicPr>
            <a:picLocks noChangeAspect="1"/>
          </p:cNvPicPr>
          <p:nvPr/>
        </p:nvPicPr>
        <p:blipFill>
          <a:blip r:embed="rId2"/>
          <a:stretch>
            <a:fillRect/>
          </a:stretch>
        </p:blipFill>
        <p:spPr>
          <a:xfrm>
            <a:off x="685800" y="1600200"/>
            <a:ext cx="3686705" cy="3657600"/>
          </a:xfrm>
          <a:prstGeom prst="rect">
            <a:avLst/>
          </a:prstGeom>
        </p:spPr>
      </p:pic>
      <p:sp>
        <p:nvSpPr>
          <p:cNvPr id="8" name="TextBox 7"/>
          <p:cNvSpPr txBox="1"/>
          <p:nvPr/>
        </p:nvSpPr>
        <p:spPr>
          <a:xfrm>
            <a:off x="685800" y="5394960"/>
            <a:ext cx="5135727" cy="1097280"/>
          </a:xfrm>
          <a:prstGeom prst="rect">
            <a:avLst/>
          </a:prstGeom>
          <a:noFill/>
        </p:spPr>
        <p:txBody>
          <a:bodyPr wrap="square" anchor="t" lIns="45720" rIns="45720" tIns="27432" bIns="27432">
            <a:spAutoFit/>
          </a:bodyPr>
          <a:lstStyle/>
          <a:p>
            <a:pPr algn="l"/>
            <a:r>
              <a:rPr sz="1600" b="0" i="1">
                <a:solidFill>
                  <a:srgbClr val="6B665C"/>
                </a:solidFill>
                <a:latin typeface="Segoe UI"/>
              </a:rPr>
              <a:t>A finished summary with its stats line. Pretend model: the 0.2 s is its fixed timing.</a:t>
            </a:r>
          </a:p>
        </p:txBody>
      </p:sp>
      <p:pic>
        <p:nvPicPr>
          <p:cNvPr id="9" name="Picture 8" descr="Popup with a notice above the summary saying the smaller model wrote it."/>
          <p:cNvPicPr>
            <a:picLocks noChangeAspect="1"/>
          </p:cNvPicPr>
          <p:nvPr/>
        </p:nvPicPr>
        <p:blipFill>
          <a:blip r:embed="rId3"/>
          <a:stretch>
            <a:fillRect/>
          </a:stretch>
        </p:blipFill>
        <p:spPr>
          <a:xfrm>
            <a:off x="6370167" y="1600200"/>
            <a:ext cx="3088640" cy="3657600"/>
          </a:xfrm>
          <a:prstGeom prst="rect">
            <a:avLst/>
          </a:prstGeom>
        </p:spPr>
      </p:pic>
      <p:sp>
        <p:nvSpPr>
          <p:cNvPr id="10" name="TextBox 9"/>
          <p:cNvSpPr txBox="1"/>
          <p:nvPr/>
        </p:nvSpPr>
        <p:spPr>
          <a:xfrm>
            <a:off x="6370167" y="5394960"/>
            <a:ext cx="5135727" cy="1097280"/>
          </a:xfrm>
          <a:prstGeom prst="rect">
            <a:avLst/>
          </a:prstGeom>
          <a:noFill/>
        </p:spPr>
        <p:txBody>
          <a:bodyPr wrap="square" anchor="t" lIns="45720" rIns="45720" tIns="27432" bIns="27432">
            <a:spAutoFit/>
          </a:bodyPr>
          <a:lstStyle/>
          <a:p>
            <a:pPr algn="l"/>
            <a:r>
              <a:rPr sz="1600" b="0" i="1">
                <a:solidFill>
                  <a:srgbClr val="6B665C"/>
                </a:solidFill>
                <a:latin typeface="Segoe UI"/>
              </a:rPr>
              <a:t>The main model ran out of graphics memory, so the small model wrote this summary. The notice sits above 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TextBox 1"/>
          <p:cNvSpPr txBox="1"/>
          <p:nvPr/>
        </p:nvSpPr>
        <p:spPr>
          <a:xfrm>
            <a:off x="685800" y="411480"/>
            <a:ext cx="10820095" cy="777240"/>
          </a:xfrm>
          <a:prstGeom prst="rect">
            <a:avLst/>
          </a:prstGeom>
          <a:noFill/>
        </p:spPr>
        <p:txBody>
          <a:bodyPr wrap="square" anchor="b" lIns="45720" rIns="45720" tIns="27432" bIns="27432">
            <a:spAutoFit/>
          </a:bodyPr>
          <a:lstStyle/>
          <a:p>
            <a:pPr algn="l"/>
            <a:r>
              <a:rPr sz="3000" b="1" i="0">
                <a:solidFill>
                  <a:srgbClr val="1C1B1A"/>
                </a:solidFill>
                <a:latin typeface="Georgia"/>
              </a:rPr>
              <a:t>Errors and fallbacks: the main messages</a:t>
            </a:r>
          </a:p>
        </p:txBody>
      </p:sp>
      <p:cxnSp>
        <p:nvCxnSpPr>
          <p:cNvPr id="3" name="Connector 2"/>
          <p:cNvCxnSpPr/>
          <p:nvPr/>
        </p:nvCxnSpPr>
        <p:spPr>
          <a:xfrm>
            <a:off x="685800" y="1280160"/>
            <a:ext cx="10820095" cy="0"/>
          </a:xfrm>
          <a:prstGeom prst="line">
            <a:avLst/>
          </a:prstGeom>
          <a:ln w="9525">
            <a:solidFill>
              <a:srgbClr val="D9D2C3"/>
            </a:solidFill>
          </a:ln>
        </p:spPr>
      </p:cxnSp>
      <p:sp>
        <p:nvSpPr>
          <p:cNvPr id="4" name="Rectangle 3"/>
          <p:cNvSpPr/>
          <p:nvPr/>
        </p:nvSpPr>
        <p:spPr>
          <a:xfrm>
            <a:off x="685800" y="1252728"/>
            <a:ext cx="822960" cy="45720"/>
          </a:xfrm>
          <a:prstGeom prst="rect">
            <a:avLst/>
          </a:prstGeom>
          <a:solidFill>
            <a:srgbClr val="B43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355080"/>
            <a:ext cx="9144000" cy="365760"/>
          </a:xfrm>
          <a:prstGeom prst="rect">
            <a:avLst/>
          </a:prstGeom>
          <a:noFill/>
        </p:spPr>
        <p:txBody>
          <a:bodyPr wrap="square" anchor="t" lIns="45720" rIns="45720" tIns="27432" bIns="27432">
            <a:spAutoFit/>
          </a:bodyPr>
          <a:lstStyle/>
          <a:p>
            <a:pPr algn="l"/>
            <a:r>
              <a:rPr sz="1600" b="0" i="0">
                <a:solidFill>
                  <a:srgbClr val="6B665C"/>
                </a:solidFill>
                <a:latin typeface="Segoe UI"/>
              </a:rPr>
              <a:t>Page Summarizer  |  Final-Semester Review (Version 2)</a:t>
            </a:r>
          </a:p>
        </p:txBody>
      </p:sp>
      <p:sp>
        <p:nvSpPr>
          <p:cNvPr id="6" name="TextBox 5"/>
          <p:cNvSpPr txBox="1"/>
          <p:nvPr/>
        </p:nvSpPr>
        <p:spPr>
          <a:xfrm>
            <a:off x="10591495" y="6355080"/>
            <a:ext cx="914400" cy="365760"/>
          </a:xfrm>
          <a:prstGeom prst="rect">
            <a:avLst/>
          </a:prstGeom>
          <a:noFill/>
        </p:spPr>
        <p:txBody>
          <a:bodyPr wrap="square" anchor="t" lIns="45720" rIns="45720" tIns="27432" bIns="27432">
            <a:spAutoFit/>
          </a:bodyPr>
          <a:lstStyle/>
          <a:p>
            <a:pPr algn="r"/>
            <a:r>
              <a:rPr sz="1600" b="0" i="0">
                <a:solidFill>
                  <a:srgbClr val="6B665C"/>
                </a:solidFill>
                <a:latin typeface="Segoe UI"/>
              </a:rPr>
              <a:t>17</a:t>
            </a:r>
          </a:p>
        </p:txBody>
      </p:sp>
      <p:graphicFrame>
        <p:nvGraphicFramePr>
          <p:cNvPr id="7" name="Table 6"/>
          <p:cNvGraphicFramePr>
            <a:graphicFrameLocks noGrp="1"/>
          </p:cNvGraphicFramePr>
          <p:nvPr/>
        </p:nvGraphicFramePr>
        <p:xfrm>
          <a:off x="685800" y="1600200"/>
          <a:ext cx="10820094" cy="3968496"/>
        </p:xfrm>
        <a:graphic>
          <a:graphicData uri="http://schemas.openxmlformats.org/drawingml/2006/table">
            <a:tbl>
              <a:tblPr firstRow="1">
                <a:tableStyleId>{2D5ABB26-0587-4C30-8999-92F81FD0307C}</a:tableStyleId>
              </a:tblPr>
              <a:tblGrid>
                <a:gridCol w="3301045"/>
                <a:gridCol w="7519049"/>
              </a:tblGrid>
              <a:tr h="566928">
                <a:tc>
                  <a:txBody>
                    <a:bodyPr/>
                    <a:lstStyle/>
                    <a:p>
                      <a:r>
                        <a:rPr sz="1600" b="1">
                          <a:solidFill>
                            <a:srgbClr val="1C1B1A"/>
                          </a:solidFill>
                          <a:latin typeface="Segoe UI"/>
                        </a:rPr>
                        <a:t>Code</a:t>
                      </a:r>
                    </a:p>
                  </a:txBody>
                  <a:tcPr anchor="ctr" marL="91440" marR="91440" marT="27432" marB="27432">
                    <a:lnB w="12700">
                      <a:solidFill>
                        <a:srgbClr val="1C1B1A"/>
                      </a:solidFill>
                    </a:lnB>
                    <a:noFill/>
                  </a:tcPr>
                </a:tc>
                <a:tc>
                  <a:txBody>
                    <a:bodyPr/>
                    <a:lstStyle/>
                    <a:p>
                      <a:r>
                        <a:rPr sz="1600" b="1">
                          <a:solidFill>
                            <a:srgbClr val="1C1B1A"/>
                          </a:solidFill>
                          <a:latin typeface="Segoe UI"/>
                        </a:rPr>
                        <a:t>Exact message the reader sees</a:t>
                      </a:r>
                    </a:p>
                  </a:txBody>
                  <a:tcPr anchor="ctr" marL="91440" marR="91440" marT="27432" marB="27432">
                    <a:lnB w="12700">
                      <a:solidFill>
                        <a:srgbClr val="1C1B1A"/>
                      </a:solidFill>
                    </a:lnB>
                    <a:noFill/>
                  </a:tcPr>
                </a:tc>
              </a:tr>
              <a:tr h="566928">
                <a:tc>
                  <a:txBody>
                    <a:bodyPr/>
                    <a:lstStyle/>
                    <a:p>
                      <a:r>
                        <a:rPr sz="1600" b="0">
                          <a:solidFill>
                            <a:srgbClr val="1C1B1A"/>
                          </a:solidFill>
                          <a:latin typeface="Segoe UI"/>
                        </a:rPr>
                        <a:t>NO_WEBGPU</a:t>
                      </a:r>
                    </a:p>
                  </a:txBody>
                  <a:tcPr anchor="ctr" marL="91440" marR="91440" marT="27432" marB="27432">
                    <a:lnB w="9525">
                      <a:solidFill>
                        <a:srgbClr val="D9D2C3"/>
                      </a:solidFill>
                    </a:lnB>
                    <a:noFill/>
                  </a:tcPr>
                </a:tc>
                <a:tc>
                  <a:txBody>
                    <a:bodyPr/>
                    <a:lstStyle/>
                    <a:p>
                      <a:r>
                        <a:rPr sz="1600" b="0">
                          <a:solidFill>
                            <a:srgbClr val="1C1B1A"/>
                          </a:solidFill>
                          <a:latin typeface="Segoe UI"/>
                        </a:rPr>
                        <a:t>Chrome cannot use your graphics card for the model (WebGPU is not available). Open chrome://gpu to check.</a:t>
                      </a:r>
                    </a:p>
                  </a:txBody>
                  <a:tcPr anchor="ctr" marL="91440" marR="91440" marT="27432" marB="27432">
                    <a:lnB w="9525">
                      <a:solidFill>
                        <a:srgbClr val="D9D2C3"/>
                      </a:solidFill>
                    </a:lnB>
                    <a:noFill/>
                  </a:tcPr>
                </a:tc>
              </a:tr>
              <a:tr h="566928">
                <a:tc>
                  <a:txBody>
                    <a:bodyPr/>
                    <a:lstStyle/>
                    <a:p>
                      <a:r>
                        <a:rPr sz="1600" b="0">
                          <a:solidFill>
                            <a:srgbClr val="1C1B1A"/>
                          </a:solidFill>
                          <a:latin typeface="Segoe UI"/>
                        </a:rPr>
                        <a:t>NO_SHADER_F16</a:t>
                      </a:r>
                    </a:p>
                  </a:txBody>
                  <a:tcPr anchor="ctr" marL="91440" marR="91440" marT="27432" marB="27432">
                    <a:lnB w="9525">
                      <a:solidFill>
                        <a:srgbClr val="D9D2C3"/>
                      </a:solidFill>
                    </a:lnB>
                    <a:noFill/>
                  </a:tcPr>
                </a:tc>
                <a:tc>
                  <a:txBody>
                    <a:bodyPr/>
                    <a:lstStyle/>
                    <a:p>
                      <a:r>
                        <a:rPr sz="1600" b="0">
                          <a:solidFill>
                            <a:srgbClr val="1C1B1A"/>
                          </a:solidFill>
                          <a:latin typeface="Segoe UI"/>
                        </a:rPr>
                        <a:t>Your graphics card does not support the 16-bit math this model needs, so this computer cannot run Version 2.</a:t>
                      </a:r>
                    </a:p>
                  </a:txBody>
                  <a:tcPr anchor="ctr" marL="91440" marR="91440" marT="27432" marB="27432">
                    <a:lnB w="9525">
                      <a:solidFill>
                        <a:srgbClr val="D9D2C3"/>
                      </a:solidFill>
                    </a:lnB>
                    <a:noFill/>
                  </a:tcPr>
                </a:tc>
              </a:tr>
              <a:tr h="566928">
                <a:tc>
                  <a:txBody>
                    <a:bodyPr/>
                    <a:lstStyle/>
                    <a:p>
                      <a:r>
                        <a:rPr sz="1600" b="0">
                          <a:solidFill>
                            <a:srgbClr val="1C1B1A"/>
                          </a:solidFill>
                          <a:latin typeface="Segoe UI"/>
                        </a:rPr>
                        <a:t>GPU_MEMORY</a:t>
                      </a:r>
                    </a:p>
                  </a:txBody>
                  <a:tcPr anchor="ctr" marL="91440" marR="91440" marT="27432" marB="27432">
                    <a:lnB w="9525">
                      <a:solidFill>
                        <a:srgbClr val="D9D2C3"/>
                      </a:solidFill>
                    </a:lnB>
                    <a:noFill/>
                  </a:tcPr>
                </a:tc>
                <a:tc>
                  <a:txBody>
                    <a:bodyPr/>
                    <a:lstStyle/>
                    <a:p>
                      <a:r>
                        <a:rPr sz="1600" b="0">
                          <a:solidFill>
                            <a:srgbClr val="1C1B1A"/>
                          </a:solidFill>
                          <a:latin typeface="Segoe UI"/>
                        </a:rPr>
                        <a:t>The graphics card ran out of memory. Close other heavy tabs or programs and try again.</a:t>
                      </a:r>
                    </a:p>
                  </a:txBody>
                  <a:tcPr anchor="ctr" marL="91440" marR="91440" marT="27432" marB="27432">
                    <a:lnB w="9525">
                      <a:solidFill>
                        <a:srgbClr val="D9D2C3"/>
                      </a:solidFill>
                    </a:lnB>
                    <a:noFill/>
                  </a:tcPr>
                </a:tc>
              </a:tr>
              <a:tr h="566928">
                <a:tc>
                  <a:txBody>
                    <a:bodyPr/>
                    <a:lstStyle/>
                    <a:p>
                      <a:r>
                        <a:rPr sz="1600" b="0">
                          <a:solidFill>
                            <a:srgbClr val="1C1B1A"/>
                          </a:solidFill>
                          <a:latin typeface="Segoe UI"/>
                        </a:rPr>
                        <a:t>MODEL_DOWNLOAD_FAILED</a:t>
                      </a:r>
                    </a:p>
                  </a:txBody>
                  <a:tcPr anchor="ctr" marL="91440" marR="91440" marT="27432" marB="27432">
                    <a:lnB w="9525">
                      <a:solidFill>
                        <a:srgbClr val="D9D2C3"/>
                      </a:solidFill>
                    </a:lnB>
                    <a:noFill/>
                  </a:tcPr>
                </a:tc>
                <a:tc>
                  <a:txBody>
                    <a:bodyPr/>
                    <a:lstStyle/>
                    <a:p>
                      <a:r>
                        <a:rPr sz="1600" b="0">
                          <a:solidFill>
                            <a:srgbClr val="1C1B1A"/>
                          </a:solidFill>
                          <a:latin typeface="Segoe UI"/>
                        </a:rPr>
                        <a:t>The model download stopped. Check your internet connection and press the button again. What was already downloaded is kept.</a:t>
                      </a:r>
                    </a:p>
                  </a:txBody>
                  <a:tcPr anchor="ctr" marL="91440" marR="91440" marT="27432" marB="27432">
                    <a:lnB w="9525">
                      <a:solidFill>
                        <a:srgbClr val="D9D2C3"/>
                      </a:solidFill>
                    </a:lnB>
                    <a:noFill/>
                  </a:tcPr>
                </a:tc>
              </a:tr>
              <a:tr h="566928">
                <a:tc>
                  <a:txBody>
                    <a:bodyPr/>
                    <a:lstStyle/>
                    <a:p>
                      <a:r>
                        <a:rPr sz="1600" b="0">
                          <a:solidFill>
                            <a:srgbClr val="1C1B1A"/>
                          </a:solidFill>
                          <a:latin typeface="Segoe UI"/>
                        </a:rPr>
                        <a:t>TOO_LONG</a:t>
                      </a:r>
                    </a:p>
                  </a:txBody>
                  <a:tcPr anchor="ctr" marL="91440" marR="91440" marT="27432" marB="27432">
                    <a:lnB w="9525">
                      <a:solidFill>
                        <a:srgbClr val="D9D2C3"/>
                      </a:solidFill>
                    </a:lnB>
                    <a:noFill/>
                  </a:tcPr>
                </a:tc>
                <a:tc>
                  <a:txBody>
                    <a:bodyPr/>
                    <a:lstStyle/>
                    <a:p>
                      <a:r>
                        <a:rPr sz="1600" b="0">
                          <a:solidFill>
                            <a:srgbClr val="1C1B1A"/>
                          </a:solidFill>
                          <a:latin typeface="Segoe UI"/>
                        </a:rPr>
                        <a:t>This page is too long for the local model on this computer. Try a shorter page.</a:t>
                      </a:r>
                    </a:p>
                  </a:txBody>
                  <a:tcPr anchor="ctr" marL="91440" marR="91440" marT="27432" marB="27432">
                    <a:lnB w="9525">
                      <a:solidFill>
                        <a:srgbClr val="D9D2C3"/>
                      </a:solidFill>
                    </a:lnB>
                    <a:noFill/>
                  </a:tcPr>
                </a:tc>
              </a:tr>
              <a:tr h="566928">
                <a:tc>
                  <a:txBody>
                    <a:bodyPr/>
                    <a:lstStyle/>
                    <a:p>
                      <a:r>
                        <a:rPr sz="1600" b="0">
                          <a:solidFill>
                            <a:srgbClr val="1C1B1A"/>
                          </a:solidFill>
                          <a:latin typeface="Segoe UI"/>
                        </a:rPr>
                        <a:t>TIMEOUT</a:t>
                      </a:r>
                    </a:p>
                  </a:txBody>
                  <a:tcPr anchor="ctr" marL="91440" marR="91440" marT="27432" marB="27432">
                    <a:lnB w="9525">
                      <a:solidFill>
                        <a:srgbClr val="D9D2C3"/>
                      </a:solidFill>
                    </a:lnB>
                    <a:noFill/>
                  </a:tcPr>
                </a:tc>
                <a:tc>
                  <a:txBody>
                    <a:bodyPr/>
                    <a:lstStyle/>
                    <a:p>
                      <a:r>
                        <a:rPr sz="1600" b="0">
                          <a:solidFill>
                            <a:srgbClr val="1C1B1A"/>
                          </a:solidFill>
                          <a:latin typeface="Segoe UI"/>
                        </a:rPr>
                        <a:t>The model took too long to answer. Try again, or use a shorter page.</a:t>
                      </a:r>
                    </a:p>
                  </a:txBody>
                  <a:tcPr anchor="ctr" marL="91440" marR="91440" marT="27432" marB="27432">
                    <a:lnB w="9525">
                      <a:solidFill>
                        <a:srgbClr val="D9D2C3"/>
                      </a:solidFill>
                    </a:lnB>
                    <a:noFill/>
                  </a:tcPr>
                </a:tc>
              </a:tr>
            </a:tbl>
          </a:graphicData>
        </a:graphic>
      </p:graphicFrame>
      <p:sp>
        <p:nvSpPr>
          <p:cNvPr id="8" name="TextBox 7"/>
          <p:cNvSpPr txBox="1"/>
          <p:nvPr/>
        </p:nvSpPr>
        <p:spPr>
          <a:xfrm>
            <a:off x="685800" y="5705856"/>
            <a:ext cx="10820095" cy="640080"/>
          </a:xfrm>
          <a:prstGeom prst="rect">
            <a:avLst/>
          </a:prstGeom>
          <a:noFill/>
        </p:spPr>
        <p:txBody>
          <a:bodyPr wrap="square" anchor="t" lIns="45720" rIns="45720" tIns="27432" bIns="27432">
            <a:spAutoFit/>
          </a:bodyPr>
          <a:lstStyle/>
          <a:p>
            <a:pPr algn="l"/>
            <a:r>
              <a:rPr sz="1600" b="0" i="1">
                <a:solidFill>
                  <a:srgbClr val="6B665C"/>
                </a:solidFill>
                <a:latin typeface="Segoe UI"/>
              </a:rPr>
              <a:t>13 codes in all; six are shown. Also: TOO_LITTLE_TEXT, RESTRICTED_PAGE, INTERRUPTED, MODEL_LOAD_FAILED, EMPTY_ANSWER, EXTRACT_FAILED, SERVICE_ERROR.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TextBox 1"/>
          <p:cNvSpPr txBox="1"/>
          <p:nvPr/>
        </p:nvSpPr>
        <p:spPr>
          <a:xfrm>
            <a:off x="685800" y="411480"/>
            <a:ext cx="10820095" cy="777240"/>
          </a:xfrm>
          <a:prstGeom prst="rect">
            <a:avLst/>
          </a:prstGeom>
          <a:noFill/>
        </p:spPr>
        <p:txBody>
          <a:bodyPr wrap="square" anchor="b" lIns="45720" rIns="45720" tIns="27432" bIns="27432">
            <a:spAutoFit/>
          </a:bodyPr>
          <a:lstStyle/>
          <a:p>
            <a:pPr algn="l"/>
            <a:r>
              <a:rPr sz="3000" b="1" i="0">
                <a:solidFill>
                  <a:srgbClr val="1C1B1A"/>
                </a:solidFill>
                <a:latin typeface="Georgia"/>
              </a:rPr>
              <a:t>Setup for the client: four scripts and one manual step</a:t>
            </a:r>
          </a:p>
        </p:txBody>
      </p:sp>
      <p:cxnSp>
        <p:nvCxnSpPr>
          <p:cNvPr id="3" name="Connector 2"/>
          <p:cNvCxnSpPr/>
          <p:nvPr/>
        </p:nvCxnSpPr>
        <p:spPr>
          <a:xfrm>
            <a:off x="685800" y="1280160"/>
            <a:ext cx="10820095" cy="0"/>
          </a:xfrm>
          <a:prstGeom prst="line">
            <a:avLst/>
          </a:prstGeom>
          <a:ln w="9525">
            <a:solidFill>
              <a:srgbClr val="D9D2C3"/>
            </a:solidFill>
          </a:ln>
        </p:spPr>
      </p:cxnSp>
      <p:sp>
        <p:nvSpPr>
          <p:cNvPr id="4" name="Rectangle 3"/>
          <p:cNvSpPr/>
          <p:nvPr/>
        </p:nvSpPr>
        <p:spPr>
          <a:xfrm>
            <a:off x="685800" y="1252728"/>
            <a:ext cx="822960" cy="45720"/>
          </a:xfrm>
          <a:prstGeom prst="rect">
            <a:avLst/>
          </a:prstGeom>
          <a:solidFill>
            <a:srgbClr val="B43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355080"/>
            <a:ext cx="9144000" cy="365760"/>
          </a:xfrm>
          <a:prstGeom prst="rect">
            <a:avLst/>
          </a:prstGeom>
          <a:noFill/>
        </p:spPr>
        <p:txBody>
          <a:bodyPr wrap="square" anchor="t" lIns="45720" rIns="45720" tIns="27432" bIns="27432">
            <a:spAutoFit/>
          </a:bodyPr>
          <a:lstStyle/>
          <a:p>
            <a:pPr algn="l"/>
            <a:r>
              <a:rPr sz="1600" b="0" i="0">
                <a:solidFill>
                  <a:srgbClr val="6B665C"/>
                </a:solidFill>
                <a:latin typeface="Segoe UI"/>
              </a:rPr>
              <a:t>Page Summarizer  |  Final-Semester Review (Version 2)</a:t>
            </a:r>
          </a:p>
        </p:txBody>
      </p:sp>
      <p:sp>
        <p:nvSpPr>
          <p:cNvPr id="6" name="TextBox 5"/>
          <p:cNvSpPr txBox="1"/>
          <p:nvPr/>
        </p:nvSpPr>
        <p:spPr>
          <a:xfrm>
            <a:off x="10591495" y="6355080"/>
            <a:ext cx="914400" cy="365760"/>
          </a:xfrm>
          <a:prstGeom prst="rect">
            <a:avLst/>
          </a:prstGeom>
          <a:noFill/>
        </p:spPr>
        <p:txBody>
          <a:bodyPr wrap="square" anchor="t" lIns="45720" rIns="45720" tIns="27432" bIns="27432">
            <a:spAutoFit/>
          </a:bodyPr>
          <a:lstStyle/>
          <a:p>
            <a:pPr algn="r"/>
            <a:r>
              <a:rPr sz="1600" b="0" i="0">
                <a:solidFill>
                  <a:srgbClr val="6B665C"/>
                </a:solidFill>
                <a:latin typeface="Segoe UI"/>
              </a:rPr>
              <a:t>18</a:t>
            </a:r>
          </a:p>
        </p:txBody>
      </p:sp>
      <p:graphicFrame>
        <p:nvGraphicFramePr>
          <p:cNvPr id="7" name="Table 6"/>
          <p:cNvGraphicFramePr>
            <a:graphicFrameLocks noGrp="1"/>
          </p:cNvGraphicFramePr>
          <p:nvPr/>
        </p:nvGraphicFramePr>
        <p:xfrm>
          <a:off x="685800" y="1600200"/>
          <a:ext cx="10820093" cy="2834640"/>
        </p:xfrm>
        <a:graphic>
          <a:graphicData uri="http://schemas.openxmlformats.org/drawingml/2006/table">
            <a:tbl>
              <a:tblPr firstRow="1">
                <a:tableStyleId>{2D5ABB26-0587-4C30-8999-92F81FD0307C}</a:tableStyleId>
              </a:tblPr>
              <a:tblGrid>
                <a:gridCol w="2750871"/>
                <a:gridCol w="5685134"/>
                <a:gridCol w="2384088"/>
              </a:tblGrid>
              <a:tr h="566928">
                <a:tc>
                  <a:txBody>
                    <a:bodyPr/>
                    <a:lstStyle/>
                    <a:p>
                      <a:r>
                        <a:rPr sz="1600" b="1">
                          <a:solidFill>
                            <a:srgbClr val="1C1B1A"/>
                          </a:solidFill>
                          <a:latin typeface="Segoe UI"/>
                        </a:rPr>
                        <a:t>File</a:t>
                      </a:r>
                    </a:p>
                  </a:txBody>
                  <a:tcPr anchor="ctr" marL="91440" marR="91440" marT="27432" marB="27432">
                    <a:lnB w="12700">
                      <a:solidFill>
                        <a:srgbClr val="1C1B1A"/>
                      </a:solidFill>
                    </a:lnB>
                    <a:noFill/>
                  </a:tcPr>
                </a:tc>
                <a:tc>
                  <a:txBody>
                    <a:bodyPr/>
                    <a:lstStyle/>
                    <a:p>
                      <a:r>
                        <a:rPr sz="1600" b="1">
                          <a:solidFill>
                            <a:srgbClr val="1C1B1A"/>
                          </a:solidFill>
                          <a:latin typeface="Segoe UI"/>
                        </a:rPr>
                        <a:t>What it does</a:t>
                      </a:r>
                    </a:p>
                  </a:txBody>
                  <a:tcPr anchor="ctr" marL="91440" marR="91440" marT="27432" marB="27432">
                    <a:lnB w="12700">
                      <a:solidFill>
                        <a:srgbClr val="1C1B1A"/>
                      </a:solidFill>
                    </a:lnB>
                    <a:noFill/>
                  </a:tcPr>
                </a:tc>
                <a:tc>
                  <a:txBody>
                    <a:bodyPr/>
                    <a:lstStyle/>
                    <a:p>
                      <a:r>
                        <a:rPr sz="1600" b="1">
                          <a:solidFill>
                            <a:srgbClr val="1C1B1A"/>
                          </a:solidFill>
                          <a:latin typeface="Segoe UI"/>
                        </a:rPr>
                        <a:t>When to run it</a:t>
                      </a:r>
                    </a:p>
                  </a:txBody>
                  <a:tcPr anchor="ctr" marL="91440" marR="91440" marT="27432" marB="27432">
                    <a:lnB w="12700">
                      <a:solidFill>
                        <a:srgbClr val="1C1B1A"/>
                      </a:solidFill>
                    </a:lnB>
                    <a:noFill/>
                  </a:tcPr>
                </a:tc>
              </a:tr>
              <a:tr h="566928">
                <a:tc>
                  <a:txBody>
                    <a:bodyPr/>
                    <a:lstStyle/>
                    <a:p>
                      <a:r>
                        <a:rPr sz="1600" b="0">
                          <a:solidFill>
                            <a:srgbClr val="1C1B1A"/>
                          </a:solidFill>
                          <a:latin typeface="Segoe UI"/>
                        </a:rPr>
                        <a:t>setup.bat</a:t>
                      </a:r>
                    </a:p>
                  </a:txBody>
                  <a:tcPr anchor="ctr" marL="91440" marR="91440" marT="27432" marB="27432">
                    <a:lnB w="9525">
                      <a:solidFill>
                        <a:srgbClr val="D9D2C3"/>
                      </a:solidFill>
                    </a:lnB>
                    <a:noFill/>
                  </a:tcPr>
                </a:tc>
                <a:tc>
                  <a:txBody>
                    <a:bodyPr/>
                    <a:lstStyle/>
                    <a:p>
                      <a:r>
                        <a:rPr sz="1600" b="0">
                          <a:solidFill>
                            <a:srgbClr val="1C1B1A"/>
                          </a:solidFill>
                          <a:latin typeface="Segoe UI"/>
                        </a:rPr>
                        <a:t>Checks Chrome 116 or newer and the extension files. Ends with SETUP COMPLETE or SETUP FAILED.</a:t>
                      </a:r>
                    </a:p>
                  </a:txBody>
                  <a:tcPr anchor="ctr" marL="91440" marR="91440" marT="27432" marB="27432">
                    <a:lnB w="9525">
                      <a:solidFill>
                        <a:srgbClr val="D9D2C3"/>
                      </a:solidFill>
                    </a:lnB>
                    <a:noFill/>
                  </a:tcPr>
                </a:tc>
                <a:tc>
                  <a:txBody>
                    <a:bodyPr/>
                    <a:lstStyle/>
                    <a:p>
                      <a:r>
                        <a:rPr sz="1600" b="0">
                          <a:solidFill>
                            <a:srgbClr val="1C1B1A"/>
                          </a:solidFill>
                          <a:latin typeface="Segoe UI"/>
                        </a:rPr>
                        <a:t>Once, first</a:t>
                      </a:r>
                    </a:p>
                  </a:txBody>
                  <a:tcPr anchor="ctr" marL="91440" marR="91440" marT="27432" marB="27432">
                    <a:lnB w="9525">
                      <a:solidFill>
                        <a:srgbClr val="D9D2C3"/>
                      </a:solidFill>
                    </a:lnB>
                    <a:noFill/>
                  </a:tcPr>
                </a:tc>
              </a:tr>
              <a:tr h="566928">
                <a:tc>
                  <a:txBody>
                    <a:bodyPr/>
                    <a:lstStyle/>
                    <a:p>
                      <a:r>
                        <a:rPr sz="1600" b="0">
                          <a:solidFill>
                            <a:srgbClr val="1C1B1A"/>
                          </a:solidFill>
                          <a:latin typeface="Segoe UI"/>
                        </a:rPr>
                        <a:t>run.bat</a:t>
                      </a:r>
                    </a:p>
                  </a:txBody>
                  <a:tcPr anchor="ctr" marL="91440" marR="91440" marT="27432" marB="27432">
                    <a:lnB w="9525">
                      <a:solidFill>
                        <a:srgbClr val="D9D2C3"/>
                      </a:solidFill>
                    </a:lnB>
                    <a:noFill/>
                  </a:tcPr>
                </a:tc>
                <a:tc>
                  <a:txBody>
                    <a:bodyPr/>
                    <a:lstStyle/>
                    <a:p>
                      <a:r>
                        <a:rPr sz="1600" b="0">
                          <a:solidFill>
                            <a:srgbClr val="1C1B1A"/>
                          </a:solidFill>
                          <a:latin typeface="Segoe UI"/>
                        </a:rPr>
                        <a:t>Opens Chrome's extensions page and shows the four steps. The folder path is on the clipboard.</a:t>
                      </a:r>
                    </a:p>
                  </a:txBody>
                  <a:tcPr anchor="ctr" marL="91440" marR="91440" marT="27432" marB="27432">
                    <a:lnB w="9525">
                      <a:solidFill>
                        <a:srgbClr val="D9D2C3"/>
                      </a:solidFill>
                    </a:lnB>
                    <a:noFill/>
                  </a:tcPr>
                </a:tc>
                <a:tc>
                  <a:txBody>
                    <a:bodyPr/>
                    <a:lstStyle/>
                    <a:p>
                      <a:r>
                        <a:rPr sz="1600" b="0">
                          <a:solidFill>
                            <a:srgbClr val="1C1B1A"/>
                          </a:solidFill>
                          <a:latin typeface="Segoe UI"/>
                        </a:rPr>
                        <a:t>To load the extension</a:t>
                      </a:r>
                    </a:p>
                  </a:txBody>
                  <a:tcPr anchor="ctr" marL="91440" marR="91440" marT="27432" marB="27432">
                    <a:lnB w="9525">
                      <a:solidFill>
                        <a:srgbClr val="D9D2C3"/>
                      </a:solidFill>
                    </a:lnB>
                    <a:noFill/>
                  </a:tcPr>
                </a:tc>
              </a:tr>
              <a:tr h="566928">
                <a:tc>
                  <a:txBody>
                    <a:bodyPr/>
                    <a:lstStyle/>
                    <a:p>
                      <a:r>
                        <a:rPr sz="1600" b="0">
                          <a:solidFill>
                            <a:srgbClr val="1C1B1A"/>
                          </a:solidFill>
                          <a:latin typeface="Segoe UI"/>
                        </a:rPr>
                        <a:t>check-computer.ps1</a:t>
                      </a:r>
                    </a:p>
                  </a:txBody>
                  <a:tcPr anchor="ctr" marL="91440" marR="91440" marT="27432" marB="27432">
                    <a:lnB w="9525">
                      <a:solidFill>
                        <a:srgbClr val="D9D2C3"/>
                      </a:solidFill>
                    </a:lnB>
                    <a:noFill/>
                  </a:tcPr>
                </a:tc>
                <a:tc>
                  <a:txBody>
                    <a:bodyPr/>
                    <a:lstStyle/>
                    <a:p>
                      <a:r>
                        <a:rPr sz="1600" b="0">
                          <a:solidFill>
                            <a:srgbClr val="1C1B1A"/>
                          </a:solidFill>
                          <a:latin typeface="Segoe UI"/>
                        </a:rPr>
                        <a:t>Prints the Windows version, memory, graphics chips and free space on drive C.</a:t>
                      </a:r>
                    </a:p>
                  </a:txBody>
                  <a:tcPr anchor="ctr" marL="91440" marR="91440" marT="27432" marB="27432">
                    <a:lnB w="9525">
                      <a:solidFill>
                        <a:srgbClr val="D9D2C3"/>
                      </a:solidFill>
                    </a:lnB>
                    <a:noFill/>
                  </a:tcPr>
                </a:tc>
                <a:tc>
                  <a:txBody>
                    <a:bodyPr/>
                    <a:lstStyle/>
                    <a:p>
                      <a:r>
                        <a:rPr sz="1600" b="0">
                          <a:solidFill>
                            <a:srgbClr val="1C1B1A"/>
                          </a:solidFill>
                          <a:latin typeface="Segoe UI"/>
                        </a:rPr>
                        <a:t>Before the visit</a:t>
                      </a:r>
                    </a:p>
                  </a:txBody>
                  <a:tcPr anchor="ctr" marL="91440" marR="91440" marT="27432" marB="27432">
                    <a:lnB w="9525">
                      <a:solidFill>
                        <a:srgbClr val="D9D2C3"/>
                      </a:solidFill>
                    </a:lnB>
                    <a:noFill/>
                  </a:tcPr>
                </a:tc>
              </a:tr>
              <a:tr h="566928">
                <a:tc>
                  <a:txBody>
                    <a:bodyPr/>
                    <a:lstStyle/>
                    <a:p>
                      <a:r>
                        <a:rPr sz="1600" b="0">
                          <a:solidFill>
                            <a:srgbClr val="1C1B1A"/>
                          </a:solidFill>
                          <a:latin typeface="Segoe UI"/>
                        </a:rPr>
                        <a:t>setup.bat --gpu</a:t>
                      </a:r>
                    </a:p>
                  </a:txBody>
                  <a:tcPr anchor="ctr" marL="91440" marR="91440" marT="27432" marB="27432">
                    <a:lnB w="9525">
                      <a:solidFill>
                        <a:srgbClr val="D9D2C3"/>
                      </a:solidFill>
                    </a:lnB>
                    <a:noFill/>
                  </a:tcPr>
                </a:tc>
                <a:tc>
                  <a:txBody>
                    <a:bodyPr/>
                    <a:lstStyle/>
                    <a:p>
                      <a:r>
                        <a:rPr sz="1600" b="0">
                          <a:solidFill>
                            <a:srgbClr val="1C1B1A"/>
                          </a:solidFill>
                          <a:latin typeface="Segoe UI"/>
                        </a:rPr>
                        <a:t>Opt-in only. Writes one per-user Windows value so Chrome uses the separate card. Undo: set-chrome-gpu.ps1 -Remove.</a:t>
                      </a:r>
                    </a:p>
                  </a:txBody>
                  <a:tcPr anchor="ctr" marL="91440" marR="91440" marT="27432" marB="27432">
                    <a:lnB w="9525">
                      <a:solidFill>
                        <a:srgbClr val="D9D2C3"/>
                      </a:solidFill>
                    </a:lnB>
                    <a:noFill/>
                  </a:tcPr>
                </a:tc>
                <a:tc>
                  <a:txBody>
                    <a:bodyPr/>
                    <a:lstStyle/>
                    <a:p>
                      <a:r>
                        <a:rPr sz="1600" b="0">
                          <a:solidFill>
                            <a:srgbClr val="1C1B1A"/>
                          </a:solidFill>
                          <a:latin typeface="Segoe UI"/>
                        </a:rPr>
                        <a:t>Only on two-chip laptops, if asked</a:t>
                      </a:r>
                    </a:p>
                  </a:txBody>
                  <a:tcPr anchor="ctr" marL="91440" marR="91440" marT="27432" marB="27432">
                    <a:lnB w="9525">
                      <a:solidFill>
                        <a:srgbClr val="D9D2C3"/>
                      </a:solidFill>
                    </a:lnB>
                    <a:noFill/>
                  </a:tcPr>
                </a:tc>
              </a:tr>
            </a:tbl>
          </a:graphicData>
        </a:graphic>
      </p:graphicFrame>
      <p:sp>
        <p:nvSpPr>
          <p:cNvPr id="8" name="TextBox 7"/>
          <p:cNvSpPr txBox="1"/>
          <p:nvPr/>
        </p:nvSpPr>
        <p:spPr>
          <a:xfrm>
            <a:off x="685800" y="4572000"/>
            <a:ext cx="10820095" cy="640080"/>
          </a:xfrm>
          <a:prstGeom prst="rect">
            <a:avLst/>
          </a:prstGeom>
          <a:noFill/>
        </p:spPr>
        <p:txBody>
          <a:bodyPr wrap="square" anchor="t" lIns="45720" rIns="45720" tIns="27432" bIns="27432">
            <a:spAutoFit/>
          </a:bodyPr>
          <a:lstStyle/>
          <a:p>
            <a:pPr algn="l"/>
            <a:r>
              <a:rPr sz="1600" b="0" i="1">
                <a:solidFill>
                  <a:srgbClr val="6B665C"/>
                </a:solidFill>
                <a:latin typeface="Segoe UI"/>
              </a:rPr>
              <a:t>Chrome 137 and later cannot load an extension from a flag. The user clicks Load unpacked and selects the folder.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TextBox 1"/>
          <p:cNvSpPr txBox="1"/>
          <p:nvPr/>
        </p:nvSpPr>
        <p:spPr>
          <a:xfrm>
            <a:off x="685800" y="411480"/>
            <a:ext cx="10820095" cy="777240"/>
          </a:xfrm>
          <a:prstGeom prst="rect">
            <a:avLst/>
          </a:prstGeom>
          <a:noFill/>
        </p:spPr>
        <p:txBody>
          <a:bodyPr wrap="square" anchor="b" lIns="45720" rIns="45720" tIns="27432" bIns="27432">
            <a:spAutoFit/>
          </a:bodyPr>
          <a:lstStyle/>
          <a:p>
            <a:pPr algn="l"/>
            <a:r>
              <a:rPr sz="3000" b="1" i="0">
                <a:solidFill>
                  <a:srgbClr val="1C1B1A"/>
                </a:solidFill>
                <a:latin typeface="Georgia"/>
              </a:rPr>
              <a:t>How it was tested</a:t>
            </a:r>
          </a:p>
        </p:txBody>
      </p:sp>
      <p:cxnSp>
        <p:nvCxnSpPr>
          <p:cNvPr id="3" name="Connector 2"/>
          <p:cNvCxnSpPr/>
          <p:nvPr/>
        </p:nvCxnSpPr>
        <p:spPr>
          <a:xfrm>
            <a:off x="685800" y="1280160"/>
            <a:ext cx="10820095" cy="0"/>
          </a:xfrm>
          <a:prstGeom prst="line">
            <a:avLst/>
          </a:prstGeom>
          <a:ln w="9525">
            <a:solidFill>
              <a:srgbClr val="D9D2C3"/>
            </a:solidFill>
          </a:ln>
        </p:spPr>
      </p:cxnSp>
      <p:sp>
        <p:nvSpPr>
          <p:cNvPr id="4" name="Rectangle 3"/>
          <p:cNvSpPr/>
          <p:nvPr/>
        </p:nvSpPr>
        <p:spPr>
          <a:xfrm>
            <a:off x="685800" y="1252728"/>
            <a:ext cx="822960" cy="45720"/>
          </a:xfrm>
          <a:prstGeom prst="rect">
            <a:avLst/>
          </a:prstGeom>
          <a:solidFill>
            <a:srgbClr val="B43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355080"/>
            <a:ext cx="9144000" cy="365760"/>
          </a:xfrm>
          <a:prstGeom prst="rect">
            <a:avLst/>
          </a:prstGeom>
          <a:noFill/>
        </p:spPr>
        <p:txBody>
          <a:bodyPr wrap="square" anchor="t" lIns="45720" rIns="45720" tIns="27432" bIns="27432">
            <a:spAutoFit/>
          </a:bodyPr>
          <a:lstStyle/>
          <a:p>
            <a:pPr algn="l"/>
            <a:r>
              <a:rPr sz="1600" b="0" i="0">
                <a:solidFill>
                  <a:srgbClr val="6B665C"/>
                </a:solidFill>
                <a:latin typeface="Segoe UI"/>
              </a:rPr>
              <a:t>Page Summarizer  |  Final-Semester Review (Version 2)</a:t>
            </a:r>
          </a:p>
        </p:txBody>
      </p:sp>
      <p:sp>
        <p:nvSpPr>
          <p:cNvPr id="6" name="TextBox 5"/>
          <p:cNvSpPr txBox="1"/>
          <p:nvPr/>
        </p:nvSpPr>
        <p:spPr>
          <a:xfrm>
            <a:off x="10591495" y="6355080"/>
            <a:ext cx="914400" cy="365760"/>
          </a:xfrm>
          <a:prstGeom prst="rect">
            <a:avLst/>
          </a:prstGeom>
          <a:noFill/>
        </p:spPr>
        <p:txBody>
          <a:bodyPr wrap="square" anchor="t" lIns="45720" rIns="45720" tIns="27432" bIns="27432">
            <a:spAutoFit/>
          </a:bodyPr>
          <a:lstStyle/>
          <a:p>
            <a:pPr algn="r"/>
            <a:r>
              <a:rPr sz="1600" b="0" i="0">
                <a:solidFill>
                  <a:srgbClr val="6B665C"/>
                </a:solidFill>
                <a:latin typeface="Segoe UI"/>
              </a:rPr>
              <a:t>19</a:t>
            </a:r>
          </a:p>
        </p:txBody>
      </p:sp>
      <p:sp>
        <p:nvSpPr>
          <p:cNvPr id="7" name="Rectangle 6"/>
          <p:cNvSpPr/>
          <p:nvPr/>
        </p:nvSpPr>
        <p:spPr>
          <a:xfrm>
            <a:off x="685800" y="1783080"/>
            <a:ext cx="548640" cy="45720"/>
          </a:xfrm>
          <a:prstGeom prst="rect">
            <a:avLst/>
          </a:prstGeom>
          <a:solidFill>
            <a:srgbClr val="B43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965960"/>
            <a:ext cx="2362123" cy="1188720"/>
          </a:xfrm>
          <a:prstGeom prst="rect">
            <a:avLst/>
          </a:prstGeom>
          <a:noFill/>
        </p:spPr>
        <p:txBody>
          <a:bodyPr wrap="square" anchor="t" lIns="45720" rIns="45720" tIns="27432" bIns="27432">
            <a:spAutoFit/>
          </a:bodyPr>
          <a:lstStyle/>
          <a:p>
            <a:pPr algn="l"/>
            <a:r>
              <a:rPr sz="6600" b="1" i="0">
                <a:solidFill>
                  <a:srgbClr val="1C1B1A"/>
                </a:solidFill>
                <a:latin typeface="Georgia"/>
              </a:rPr>
              <a:t>76</a:t>
            </a:r>
          </a:p>
        </p:txBody>
      </p:sp>
      <p:sp>
        <p:nvSpPr>
          <p:cNvPr id="9" name="TextBox 8"/>
          <p:cNvSpPr txBox="1"/>
          <p:nvPr/>
        </p:nvSpPr>
        <p:spPr>
          <a:xfrm>
            <a:off x="685800" y="3246120"/>
            <a:ext cx="2270683" cy="822960"/>
          </a:xfrm>
          <a:prstGeom prst="rect">
            <a:avLst/>
          </a:prstGeom>
          <a:noFill/>
        </p:spPr>
        <p:txBody>
          <a:bodyPr wrap="square" anchor="t" lIns="45720" rIns="45720" tIns="27432" bIns="27432">
            <a:spAutoFit/>
          </a:bodyPr>
          <a:lstStyle/>
          <a:p>
            <a:pPr algn="l"/>
            <a:r>
              <a:rPr sz="1800" b="0" i="0">
                <a:solidFill>
                  <a:srgbClr val="1C1B1A"/>
                </a:solidFill>
                <a:latin typeface="Segoe UI"/>
              </a:rPr>
              <a:t>unit tests, with no browser and no network</a:t>
            </a:r>
          </a:p>
        </p:txBody>
      </p:sp>
      <p:sp>
        <p:nvSpPr>
          <p:cNvPr id="10" name="Rectangle 9"/>
          <p:cNvSpPr/>
          <p:nvPr/>
        </p:nvSpPr>
        <p:spPr>
          <a:xfrm>
            <a:off x="3505123" y="1783080"/>
            <a:ext cx="548640" cy="45720"/>
          </a:xfrm>
          <a:prstGeom prst="rect">
            <a:avLst/>
          </a:prstGeom>
          <a:solidFill>
            <a:srgbClr val="B43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05123" y="1965960"/>
            <a:ext cx="2362123" cy="1188720"/>
          </a:xfrm>
          <a:prstGeom prst="rect">
            <a:avLst/>
          </a:prstGeom>
          <a:noFill/>
        </p:spPr>
        <p:txBody>
          <a:bodyPr wrap="square" anchor="t" lIns="45720" rIns="45720" tIns="27432" bIns="27432">
            <a:spAutoFit/>
          </a:bodyPr>
          <a:lstStyle/>
          <a:p>
            <a:pPr algn="l"/>
            <a:r>
              <a:rPr sz="6600" b="1" i="0">
                <a:solidFill>
                  <a:srgbClr val="1C1B1A"/>
                </a:solidFill>
                <a:latin typeface="Georgia"/>
              </a:rPr>
              <a:t>29</a:t>
            </a:r>
          </a:p>
        </p:txBody>
      </p:sp>
      <p:sp>
        <p:nvSpPr>
          <p:cNvPr id="12" name="TextBox 11"/>
          <p:cNvSpPr txBox="1"/>
          <p:nvPr/>
        </p:nvSpPr>
        <p:spPr>
          <a:xfrm>
            <a:off x="3505123" y="3246120"/>
            <a:ext cx="2270683" cy="822960"/>
          </a:xfrm>
          <a:prstGeom prst="rect">
            <a:avLst/>
          </a:prstGeom>
          <a:noFill/>
        </p:spPr>
        <p:txBody>
          <a:bodyPr wrap="square" anchor="t" lIns="45720" rIns="45720" tIns="27432" bIns="27432">
            <a:spAutoFit/>
          </a:bodyPr>
          <a:lstStyle/>
          <a:p>
            <a:pPr algn="l"/>
            <a:r>
              <a:rPr sz="1800" b="0" i="0">
                <a:solidFill>
                  <a:srgbClr val="1C1B1A"/>
                </a:solidFill>
                <a:latin typeface="Segoe UI"/>
              </a:rPr>
              <a:t>browser scenarios, all passing</a:t>
            </a:r>
          </a:p>
        </p:txBody>
      </p:sp>
      <p:sp>
        <p:nvSpPr>
          <p:cNvPr id="13" name="Rectangle 12"/>
          <p:cNvSpPr/>
          <p:nvPr/>
        </p:nvSpPr>
        <p:spPr>
          <a:xfrm>
            <a:off x="6324446" y="1783080"/>
            <a:ext cx="548640" cy="45720"/>
          </a:xfrm>
          <a:prstGeom prst="rect">
            <a:avLst/>
          </a:prstGeom>
          <a:solidFill>
            <a:srgbClr val="B43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24446" y="1965960"/>
            <a:ext cx="2362123" cy="1188720"/>
          </a:xfrm>
          <a:prstGeom prst="rect">
            <a:avLst/>
          </a:prstGeom>
          <a:noFill/>
        </p:spPr>
        <p:txBody>
          <a:bodyPr wrap="square" anchor="t" lIns="45720" rIns="45720" tIns="27432" bIns="27432">
            <a:spAutoFit/>
          </a:bodyPr>
          <a:lstStyle/>
          <a:p>
            <a:pPr algn="l"/>
            <a:r>
              <a:rPr sz="6600" b="1" i="0">
                <a:solidFill>
                  <a:srgbClr val="1C1B1A"/>
                </a:solidFill>
                <a:latin typeface="Georgia"/>
              </a:rPr>
              <a:t>15</a:t>
            </a:r>
          </a:p>
        </p:txBody>
      </p:sp>
      <p:sp>
        <p:nvSpPr>
          <p:cNvPr id="15" name="TextBox 14"/>
          <p:cNvSpPr txBox="1"/>
          <p:nvPr/>
        </p:nvSpPr>
        <p:spPr>
          <a:xfrm>
            <a:off x="6324446" y="3246120"/>
            <a:ext cx="2270683" cy="822960"/>
          </a:xfrm>
          <a:prstGeom prst="rect">
            <a:avLst/>
          </a:prstGeom>
          <a:noFill/>
        </p:spPr>
        <p:txBody>
          <a:bodyPr wrap="square" anchor="t" lIns="45720" rIns="45720" tIns="27432" bIns="27432">
            <a:spAutoFit/>
          </a:bodyPr>
          <a:lstStyle/>
          <a:p>
            <a:pPr algn="l"/>
            <a:r>
              <a:rPr sz="1800" b="0" i="0">
                <a:solidFill>
                  <a:srgbClr val="1C1B1A"/>
                </a:solidFill>
                <a:latin typeface="Segoe UI"/>
              </a:rPr>
              <a:t>Windows script checks, B1 to B10c</a:t>
            </a:r>
          </a:p>
        </p:txBody>
      </p:sp>
      <p:sp>
        <p:nvSpPr>
          <p:cNvPr id="16" name="Rectangle 15"/>
          <p:cNvSpPr/>
          <p:nvPr/>
        </p:nvSpPr>
        <p:spPr>
          <a:xfrm>
            <a:off x="9143769" y="1783080"/>
            <a:ext cx="548640" cy="45720"/>
          </a:xfrm>
          <a:prstGeom prst="rect">
            <a:avLst/>
          </a:prstGeom>
          <a:solidFill>
            <a:srgbClr val="B43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3769" y="1965960"/>
            <a:ext cx="2362123" cy="1188720"/>
          </a:xfrm>
          <a:prstGeom prst="rect">
            <a:avLst/>
          </a:prstGeom>
          <a:noFill/>
        </p:spPr>
        <p:txBody>
          <a:bodyPr wrap="square" anchor="t" lIns="45720" rIns="45720" tIns="27432" bIns="27432">
            <a:spAutoFit/>
          </a:bodyPr>
          <a:lstStyle/>
          <a:p>
            <a:pPr algn="l"/>
            <a:r>
              <a:rPr sz="6600" b="1" i="0">
                <a:solidFill>
                  <a:srgbClr val="1C1B1A"/>
                </a:solidFill>
                <a:latin typeface="Georgia"/>
              </a:rPr>
              <a:t>4</a:t>
            </a:r>
          </a:p>
        </p:txBody>
      </p:sp>
      <p:sp>
        <p:nvSpPr>
          <p:cNvPr id="18" name="TextBox 17"/>
          <p:cNvSpPr txBox="1"/>
          <p:nvPr/>
        </p:nvSpPr>
        <p:spPr>
          <a:xfrm>
            <a:off x="9143769" y="3246120"/>
            <a:ext cx="2270683" cy="822960"/>
          </a:xfrm>
          <a:prstGeom prst="rect">
            <a:avLst/>
          </a:prstGeom>
          <a:noFill/>
        </p:spPr>
        <p:txBody>
          <a:bodyPr wrap="square" anchor="t" lIns="45720" rIns="45720" tIns="27432" bIns="27432">
            <a:spAutoFit/>
          </a:bodyPr>
          <a:lstStyle/>
          <a:p>
            <a:pPr algn="l"/>
            <a:r>
              <a:rPr sz="1800" b="0" i="0">
                <a:solidFill>
                  <a:srgbClr val="1C1B1A"/>
                </a:solidFill>
                <a:latin typeface="Segoe UI"/>
              </a:rPr>
              <a:t>clean real-model run files</a:t>
            </a:r>
          </a:p>
        </p:txBody>
      </p:sp>
      <p:cxnSp>
        <p:nvCxnSpPr>
          <p:cNvPr id="19" name="Connector 18"/>
          <p:cNvCxnSpPr/>
          <p:nvPr/>
        </p:nvCxnSpPr>
        <p:spPr>
          <a:xfrm>
            <a:off x="685800" y="4251960"/>
            <a:ext cx="10820095" cy="0"/>
          </a:xfrm>
          <a:prstGeom prst="line">
            <a:avLst/>
          </a:prstGeom>
          <a:ln w="9525">
            <a:solidFill>
              <a:srgbClr val="D9D2C3"/>
            </a:solidFill>
          </a:ln>
        </p:spPr>
      </p:cxnSp>
      <p:sp>
        <p:nvSpPr>
          <p:cNvPr id="20" name="TextBox 19"/>
          <p:cNvSpPr txBox="1"/>
          <p:nvPr/>
        </p:nvSpPr>
        <p:spPr>
          <a:xfrm>
            <a:off x="685800" y="4434840"/>
            <a:ext cx="10820095" cy="914400"/>
          </a:xfrm>
          <a:prstGeom prst="rect">
            <a:avLst/>
          </a:prstGeom>
          <a:noFill/>
        </p:spPr>
        <p:txBody>
          <a:bodyPr wrap="square" anchor="t" lIns="45720" rIns="45720" tIns="27432" bIns="27432">
            <a:spAutoFit/>
          </a:bodyPr>
          <a:lstStyle/>
          <a:p>
            <a:pPr algn="l"/>
            <a:r>
              <a:rPr sz="1600" b="0" i="1">
                <a:solidFill>
                  <a:srgbClr val="6B665C"/>
                </a:solidFill>
                <a:latin typeface="Segoe UI"/>
              </a:rPr>
              <a:t>Most browser tests use a pretend model, so failures such as no WebGPU can be forced on purpose. The real model was run separately.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TextBox 1"/>
          <p:cNvSpPr txBox="1"/>
          <p:nvPr/>
        </p:nvSpPr>
        <p:spPr>
          <a:xfrm>
            <a:off x="685800" y="411480"/>
            <a:ext cx="10820095" cy="777240"/>
          </a:xfrm>
          <a:prstGeom prst="rect">
            <a:avLst/>
          </a:prstGeom>
          <a:noFill/>
        </p:spPr>
        <p:txBody>
          <a:bodyPr wrap="square" anchor="b" lIns="45720" rIns="45720" tIns="27432" bIns="27432">
            <a:spAutoFit/>
          </a:bodyPr>
          <a:lstStyle/>
          <a:p>
            <a:pPr algn="l"/>
            <a:r>
              <a:rPr sz="3000" b="1" i="0">
                <a:solidFill>
                  <a:srgbClr val="1C1B1A"/>
                </a:solidFill>
                <a:latin typeface="Georgia"/>
              </a:rPr>
              <a:t>Measured results: clean runs only</a:t>
            </a:r>
          </a:p>
        </p:txBody>
      </p:sp>
      <p:cxnSp>
        <p:nvCxnSpPr>
          <p:cNvPr id="3" name="Connector 2"/>
          <p:cNvCxnSpPr/>
          <p:nvPr/>
        </p:nvCxnSpPr>
        <p:spPr>
          <a:xfrm>
            <a:off x="685800" y="1280160"/>
            <a:ext cx="10820095" cy="0"/>
          </a:xfrm>
          <a:prstGeom prst="line">
            <a:avLst/>
          </a:prstGeom>
          <a:ln w="9525">
            <a:solidFill>
              <a:srgbClr val="D9D2C3"/>
            </a:solidFill>
          </a:ln>
        </p:spPr>
      </p:cxnSp>
      <p:sp>
        <p:nvSpPr>
          <p:cNvPr id="4" name="Rectangle 3"/>
          <p:cNvSpPr/>
          <p:nvPr/>
        </p:nvSpPr>
        <p:spPr>
          <a:xfrm>
            <a:off x="685800" y="1252728"/>
            <a:ext cx="822960" cy="45720"/>
          </a:xfrm>
          <a:prstGeom prst="rect">
            <a:avLst/>
          </a:prstGeom>
          <a:solidFill>
            <a:srgbClr val="B43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355080"/>
            <a:ext cx="9144000" cy="365760"/>
          </a:xfrm>
          <a:prstGeom prst="rect">
            <a:avLst/>
          </a:prstGeom>
          <a:noFill/>
        </p:spPr>
        <p:txBody>
          <a:bodyPr wrap="square" anchor="t" lIns="45720" rIns="45720" tIns="27432" bIns="27432">
            <a:spAutoFit/>
          </a:bodyPr>
          <a:lstStyle/>
          <a:p>
            <a:pPr algn="l"/>
            <a:r>
              <a:rPr sz="1600" b="0" i="0">
                <a:solidFill>
                  <a:srgbClr val="6B665C"/>
                </a:solidFill>
                <a:latin typeface="Segoe UI"/>
              </a:rPr>
              <a:t>Page Summarizer  |  Final-Semester Review (Version 2)</a:t>
            </a:r>
          </a:p>
        </p:txBody>
      </p:sp>
      <p:sp>
        <p:nvSpPr>
          <p:cNvPr id="6" name="TextBox 5"/>
          <p:cNvSpPr txBox="1"/>
          <p:nvPr/>
        </p:nvSpPr>
        <p:spPr>
          <a:xfrm>
            <a:off x="10591495" y="6355080"/>
            <a:ext cx="914400" cy="365760"/>
          </a:xfrm>
          <a:prstGeom prst="rect">
            <a:avLst/>
          </a:prstGeom>
          <a:noFill/>
        </p:spPr>
        <p:txBody>
          <a:bodyPr wrap="square" anchor="t" lIns="45720" rIns="45720" tIns="27432" bIns="27432">
            <a:spAutoFit/>
          </a:bodyPr>
          <a:lstStyle/>
          <a:p>
            <a:pPr algn="r"/>
            <a:r>
              <a:rPr sz="1600" b="0" i="0">
                <a:solidFill>
                  <a:srgbClr val="6B665C"/>
                </a:solidFill>
                <a:latin typeface="Segoe UI"/>
              </a:rPr>
              <a:t>20</a:t>
            </a:r>
          </a:p>
        </p:txBody>
      </p:sp>
      <p:graphicFrame>
        <p:nvGraphicFramePr>
          <p:cNvPr id="7" name="Table 6"/>
          <p:cNvGraphicFramePr>
            <a:graphicFrameLocks noGrp="1"/>
          </p:cNvGraphicFramePr>
          <p:nvPr/>
        </p:nvGraphicFramePr>
        <p:xfrm>
          <a:off x="685800" y="1600200"/>
          <a:ext cx="10820094" cy="4069080"/>
        </p:xfrm>
        <a:graphic>
          <a:graphicData uri="http://schemas.openxmlformats.org/drawingml/2006/table">
            <a:tbl>
              <a:tblPr firstRow="1">
                <a:tableStyleId>{2D5ABB26-0587-4C30-8999-92F81FD0307C}</a:tableStyleId>
              </a:tblPr>
              <a:tblGrid>
                <a:gridCol w="6418700"/>
                <a:gridCol w="1833914"/>
                <a:gridCol w="2567480"/>
              </a:tblGrid>
              <a:tr h="406908">
                <a:tc>
                  <a:txBody>
                    <a:bodyPr/>
                    <a:lstStyle/>
                    <a:p>
                      <a:r>
                        <a:rPr sz="1600" b="1">
                          <a:solidFill>
                            <a:srgbClr val="1C1B1A"/>
                          </a:solidFill>
                          <a:latin typeface="Segoe UI"/>
                        </a:rPr>
                        <a:t>Case</a:t>
                      </a:r>
                    </a:p>
                  </a:txBody>
                  <a:tcPr anchor="ctr" marL="91440" marR="91440" marT="27432" marB="27432">
                    <a:lnB w="12700">
                      <a:solidFill>
                        <a:srgbClr val="1C1B1A"/>
                      </a:solidFill>
                    </a:lnB>
                    <a:noFill/>
                  </a:tcPr>
                </a:tc>
                <a:tc>
                  <a:txBody>
                    <a:bodyPr/>
                    <a:lstStyle/>
                    <a:p>
                      <a:r>
                        <a:rPr sz="1600" b="1">
                          <a:solidFill>
                            <a:srgbClr val="1C1B1A"/>
                          </a:solidFill>
                          <a:latin typeface="Segoe UI"/>
                        </a:rPr>
                        <a:t>Total (s)</a:t>
                      </a:r>
                    </a:p>
                  </a:txBody>
                  <a:tcPr anchor="ctr" marL="91440" marR="91440" marT="27432" marB="27432">
                    <a:lnB w="12700">
                      <a:solidFill>
                        <a:srgbClr val="1C1B1A"/>
                      </a:solidFill>
                    </a:lnB>
                    <a:noFill/>
                  </a:tcPr>
                </a:tc>
                <a:tc>
                  <a:txBody>
                    <a:bodyPr/>
                    <a:lstStyle/>
                    <a:p>
                      <a:r>
                        <a:rPr sz="1600" b="1">
                          <a:solidFill>
                            <a:srgbClr val="1C1B1A"/>
                          </a:solidFill>
                          <a:latin typeface="Segoe UI"/>
                        </a:rPr>
                        <a:t>Tokens a second</a:t>
                      </a:r>
                    </a:p>
                  </a:txBody>
                  <a:tcPr anchor="ctr" marL="91440" marR="91440" marT="27432" marB="27432">
                    <a:lnB w="12700">
                      <a:solidFill>
                        <a:srgbClr val="1C1B1A"/>
                      </a:solidFill>
                    </a:lnB>
                    <a:noFill/>
                  </a:tcPr>
                </a:tc>
              </a:tr>
              <a:tr h="406908">
                <a:tc>
                  <a:txBody>
                    <a:bodyPr/>
                    <a:lstStyle/>
                    <a:p>
                      <a:r>
                        <a:rPr sz="1600" b="0">
                          <a:solidFill>
                            <a:srgbClr val="1C1B1A"/>
                          </a:solidFill>
                          <a:latin typeface="Segoe UI"/>
                        </a:rPr>
                        <a:t>Short article, first use (NVIDIA)</a:t>
                      </a:r>
                    </a:p>
                  </a:txBody>
                  <a:tcPr anchor="ctr" marL="91440" marR="91440" marT="27432" marB="27432">
                    <a:lnB w="9525">
                      <a:solidFill>
                        <a:srgbClr val="D9D2C3"/>
                      </a:solidFill>
                    </a:lnB>
                    <a:noFill/>
                  </a:tcPr>
                </a:tc>
                <a:tc>
                  <a:txBody>
                    <a:bodyPr/>
                    <a:lstStyle/>
                    <a:p>
                      <a:r>
                        <a:rPr sz="1600" b="0">
                          <a:solidFill>
                            <a:srgbClr val="1C1B1A"/>
                          </a:solidFill>
                          <a:latin typeface="Segoe UI"/>
                        </a:rPr>
                        <a:t>196.8</a:t>
                      </a:r>
                    </a:p>
                  </a:txBody>
                  <a:tcPr anchor="ctr" marL="91440" marR="91440" marT="27432" marB="27432">
                    <a:lnB w="9525">
                      <a:solidFill>
                        <a:srgbClr val="D9D2C3"/>
                      </a:solidFill>
                    </a:lnB>
                    <a:noFill/>
                  </a:tcPr>
                </a:tc>
                <a:tc>
                  <a:txBody>
                    <a:bodyPr/>
                    <a:lstStyle/>
                    <a:p>
                      <a:r>
                        <a:rPr sz="1600" b="0">
                          <a:solidFill>
                            <a:srgbClr val="1C1B1A"/>
                          </a:solidFill>
                          <a:latin typeface="Segoe UI"/>
                        </a:rPr>
                        <a:t>47</a:t>
                      </a:r>
                    </a:p>
                  </a:txBody>
                  <a:tcPr anchor="ctr" marL="91440" marR="91440" marT="27432" marB="27432">
                    <a:lnB w="9525">
                      <a:solidFill>
                        <a:srgbClr val="D9D2C3"/>
                      </a:solidFill>
                    </a:lnB>
                    <a:noFill/>
                  </a:tcPr>
                </a:tc>
              </a:tr>
              <a:tr h="406908">
                <a:tc>
                  <a:txBody>
                    <a:bodyPr/>
                    <a:lstStyle/>
                    <a:p>
                      <a:r>
                        <a:rPr sz="1600" b="0">
                          <a:solidFill>
                            <a:srgbClr val="1C1B1A"/>
                          </a:solidFill>
                          <a:latin typeface="Segoe UI"/>
                        </a:rPr>
                        <a:t>Two-part article, first use (NVIDIA)</a:t>
                      </a:r>
                    </a:p>
                  </a:txBody>
                  <a:tcPr anchor="ctr" marL="91440" marR="91440" marT="27432" marB="27432">
                    <a:lnB w="9525">
                      <a:solidFill>
                        <a:srgbClr val="D9D2C3"/>
                      </a:solidFill>
                    </a:lnB>
                    <a:noFill/>
                  </a:tcPr>
                </a:tc>
                <a:tc>
                  <a:txBody>
                    <a:bodyPr/>
                    <a:lstStyle/>
                    <a:p>
                      <a:r>
                        <a:rPr sz="1600" b="0">
                          <a:solidFill>
                            <a:srgbClr val="1C1B1A"/>
                          </a:solidFill>
                          <a:latin typeface="Segoe UI"/>
                        </a:rPr>
                        <a:t>15.9</a:t>
                      </a:r>
                    </a:p>
                  </a:txBody>
                  <a:tcPr anchor="ctr" marL="91440" marR="91440" marT="27432" marB="27432">
                    <a:lnB w="9525">
                      <a:solidFill>
                        <a:srgbClr val="D9D2C3"/>
                      </a:solidFill>
                    </a:lnB>
                    <a:noFill/>
                  </a:tcPr>
                </a:tc>
                <a:tc>
                  <a:txBody>
                    <a:bodyPr/>
                    <a:lstStyle/>
                    <a:p>
                      <a:r>
                        <a:rPr sz="1600" b="0">
                          <a:solidFill>
                            <a:srgbClr val="1C1B1A"/>
                          </a:solidFill>
                          <a:latin typeface="Segoe UI"/>
                        </a:rPr>
                        <a:t>53</a:t>
                      </a:r>
                    </a:p>
                  </a:txBody>
                  <a:tcPr anchor="ctr" marL="91440" marR="91440" marT="27432" marB="27432">
                    <a:lnB w="9525">
                      <a:solidFill>
                        <a:srgbClr val="D9D2C3"/>
                      </a:solidFill>
                    </a:lnB>
                    <a:noFill/>
                  </a:tcPr>
                </a:tc>
              </a:tr>
              <a:tr h="406908">
                <a:tc>
                  <a:txBody>
                    <a:bodyPr/>
                    <a:lstStyle/>
                    <a:p>
                      <a:r>
                        <a:rPr sz="1600" b="0">
                          <a:solidFill>
                            <a:srgbClr val="1C1B1A"/>
                          </a:solidFill>
                          <a:latin typeface="Segoe UI"/>
                        </a:rPr>
                        <a:t>Seven-part Lighthouse article (NVIDIA)</a:t>
                      </a:r>
                    </a:p>
                  </a:txBody>
                  <a:tcPr anchor="ctr" marL="91440" marR="91440" marT="27432" marB="27432">
                    <a:lnB w="9525">
                      <a:solidFill>
                        <a:srgbClr val="D9D2C3"/>
                      </a:solidFill>
                    </a:lnB>
                    <a:noFill/>
                  </a:tcPr>
                </a:tc>
                <a:tc>
                  <a:txBody>
                    <a:bodyPr/>
                    <a:lstStyle/>
                    <a:p>
                      <a:r>
                        <a:rPr sz="1600" b="0">
                          <a:solidFill>
                            <a:srgbClr val="1C1B1A"/>
                          </a:solidFill>
                          <a:latin typeface="Segoe UI"/>
                        </a:rPr>
                        <a:t>74.1</a:t>
                      </a:r>
                    </a:p>
                  </a:txBody>
                  <a:tcPr anchor="ctr" marL="91440" marR="91440" marT="27432" marB="27432">
                    <a:lnB w="9525">
                      <a:solidFill>
                        <a:srgbClr val="D9D2C3"/>
                      </a:solidFill>
                    </a:lnB>
                    <a:noFill/>
                  </a:tcPr>
                </a:tc>
                <a:tc>
                  <a:txBody>
                    <a:bodyPr/>
                    <a:lstStyle/>
                    <a:p>
                      <a:r>
                        <a:rPr sz="1600" b="0">
                          <a:solidFill>
                            <a:srgbClr val="1C1B1A"/>
                          </a:solidFill>
                          <a:latin typeface="Segoe UI"/>
                        </a:rPr>
                        <a:t>34</a:t>
                      </a:r>
                    </a:p>
                  </a:txBody>
                  <a:tcPr anchor="ctr" marL="91440" marR="91440" marT="27432" marB="27432">
                    <a:lnB w="9525">
                      <a:solidFill>
                        <a:srgbClr val="D9D2C3"/>
                      </a:solidFill>
                    </a:lnB>
                    <a:noFill/>
                  </a:tcPr>
                </a:tc>
              </a:tr>
              <a:tr h="406908">
                <a:tc>
                  <a:txBody>
                    <a:bodyPr/>
                    <a:lstStyle/>
                    <a:p>
                      <a:r>
                        <a:rPr sz="1600" b="0">
                          <a:solidFill>
                            <a:srgbClr val="1C1B1A"/>
                          </a:solidFill>
                          <a:latin typeface="Segoe UI"/>
                        </a:rPr>
                        <a:t>Short article, offline, before label fix</a:t>
                      </a:r>
                    </a:p>
                  </a:txBody>
                  <a:tcPr anchor="ctr" marL="91440" marR="91440" marT="27432" marB="27432">
                    <a:lnB w="9525">
                      <a:solidFill>
                        <a:srgbClr val="D9D2C3"/>
                      </a:solidFill>
                    </a:lnB>
                    <a:noFill/>
                  </a:tcPr>
                </a:tc>
                <a:tc>
                  <a:txBody>
                    <a:bodyPr/>
                    <a:lstStyle/>
                    <a:p>
                      <a:r>
                        <a:rPr sz="1600" b="0">
                          <a:solidFill>
                            <a:srgbClr val="1C1B1A"/>
                          </a:solidFill>
                          <a:latin typeface="Segoe UI"/>
                        </a:rPr>
                        <a:t>15.3</a:t>
                      </a:r>
                    </a:p>
                  </a:txBody>
                  <a:tcPr anchor="ctr" marL="91440" marR="91440" marT="27432" marB="27432">
                    <a:lnB w="9525">
                      <a:solidFill>
                        <a:srgbClr val="D9D2C3"/>
                      </a:solidFill>
                    </a:lnB>
                    <a:noFill/>
                  </a:tcPr>
                </a:tc>
                <a:tc>
                  <a:txBody>
                    <a:bodyPr/>
                    <a:lstStyle/>
                    <a:p>
                      <a:r>
                        <a:rPr sz="1600" b="0">
                          <a:solidFill>
                            <a:srgbClr val="1C1B1A"/>
                          </a:solidFill>
                          <a:latin typeface="Segoe UI"/>
                        </a:rPr>
                        <a:t>40</a:t>
                      </a:r>
                    </a:p>
                  </a:txBody>
                  <a:tcPr anchor="ctr" marL="91440" marR="91440" marT="27432" marB="27432">
                    <a:lnB w="9525">
                      <a:solidFill>
                        <a:srgbClr val="D9D2C3"/>
                      </a:solidFill>
                    </a:lnB>
                    <a:noFill/>
                  </a:tcPr>
                </a:tc>
              </a:tr>
              <a:tr h="406908">
                <a:tc>
                  <a:txBody>
                    <a:bodyPr/>
                    <a:lstStyle/>
                    <a:p>
                      <a:r>
                        <a:rPr sz="1600" b="0">
                          <a:solidFill>
                            <a:srgbClr val="1C1B1A"/>
                          </a:solidFill>
                          <a:latin typeface="Segoe UI"/>
                        </a:rPr>
                        <a:t>Two-part article, offline, before label fix</a:t>
                      </a:r>
                    </a:p>
                  </a:txBody>
                  <a:tcPr anchor="ctr" marL="91440" marR="91440" marT="27432" marB="27432">
                    <a:lnB w="9525">
                      <a:solidFill>
                        <a:srgbClr val="D9D2C3"/>
                      </a:solidFill>
                    </a:lnB>
                    <a:noFill/>
                  </a:tcPr>
                </a:tc>
                <a:tc>
                  <a:txBody>
                    <a:bodyPr/>
                    <a:lstStyle/>
                    <a:p>
                      <a:r>
                        <a:rPr sz="1600" b="0">
                          <a:solidFill>
                            <a:srgbClr val="1C1B1A"/>
                          </a:solidFill>
                          <a:latin typeface="Segoe UI"/>
                        </a:rPr>
                        <a:t>16.5</a:t>
                      </a:r>
                    </a:p>
                  </a:txBody>
                  <a:tcPr anchor="ctr" marL="91440" marR="91440" marT="27432" marB="27432">
                    <a:lnB w="9525">
                      <a:solidFill>
                        <a:srgbClr val="D9D2C3"/>
                      </a:solidFill>
                    </a:lnB>
                    <a:noFill/>
                  </a:tcPr>
                </a:tc>
                <a:tc>
                  <a:txBody>
                    <a:bodyPr/>
                    <a:lstStyle/>
                    <a:p>
                      <a:r>
                        <a:rPr sz="1600" b="0">
                          <a:solidFill>
                            <a:srgbClr val="1C1B1A"/>
                          </a:solidFill>
                          <a:latin typeface="Segoe UI"/>
                        </a:rPr>
                        <a:t>42</a:t>
                      </a:r>
                    </a:p>
                  </a:txBody>
                  <a:tcPr anchor="ctr" marL="91440" marR="91440" marT="27432" marB="27432">
                    <a:lnB w="9525">
                      <a:solidFill>
                        <a:srgbClr val="D9D2C3"/>
                      </a:solidFill>
                    </a:lnB>
                    <a:noFill/>
                  </a:tcPr>
                </a:tc>
              </a:tr>
              <a:tr h="406908">
                <a:tc>
                  <a:txBody>
                    <a:bodyPr/>
                    <a:lstStyle/>
                    <a:p>
                      <a:r>
                        <a:rPr sz="1600" b="0">
                          <a:solidFill>
                            <a:srgbClr val="1C1B1A"/>
                          </a:solidFill>
                          <a:latin typeface="Segoe UI"/>
                        </a:rPr>
                        <a:t>Short article, offline, after label fix</a:t>
                      </a:r>
                    </a:p>
                  </a:txBody>
                  <a:tcPr anchor="ctr" marL="91440" marR="91440" marT="27432" marB="27432">
                    <a:lnB w="9525">
                      <a:solidFill>
                        <a:srgbClr val="D9D2C3"/>
                      </a:solidFill>
                    </a:lnB>
                    <a:noFill/>
                  </a:tcPr>
                </a:tc>
                <a:tc>
                  <a:txBody>
                    <a:bodyPr/>
                    <a:lstStyle/>
                    <a:p>
                      <a:r>
                        <a:rPr sz="1600" b="0">
                          <a:solidFill>
                            <a:srgbClr val="1C1B1A"/>
                          </a:solidFill>
                          <a:latin typeface="Segoe UI"/>
                        </a:rPr>
                        <a:t>17.7</a:t>
                      </a:r>
                    </a:p>
                  </a:txBody>
                  <a:tcPr anchor="ctr" marL="91440" marR="91440" marT="27432" marB="27432">
                    <a:lnB w="9525">
                      <a:solidFill>
                        <a:srgbClr val="D9D2C3"/>
                      </a:solidFill>
                    </a:lnB>
                    <a:noFill/>
                  </a:tcPr>
                </a:tc>
                <a:tc>
                  <a:txBody>
                    <a:bodyPr/>
                    <a:lstStyle/>
                    <a:p>
                      <a:r>
                        <a:rPr sz="1600" b="0">
                          <a:solidFill>
                            <a:srgbClr val="1C1B1A"/>
                          </a:solidFill>
                          <a:latin typeface="Segoe UI"/>
                        </a:rPr>
                        <a:t>65</a:t>
                      </a:r>
                    </a:p>
                  </a:txBody>
                  <a:tcPr anchor="ctr" marL="91440" marR="91440" marT="27432" marB="27432">
                    <a:lnB w="9525">
                      <a:solidFill>
                        <a:srgbClr val="D9D2C3"/>
                      </a:solidFill>
                    </a:lnB>
                    <a:noFill/>
                  </a:tcPr>
                </a:tc>
              </a:tr>
              <a:tr h="406908">
                <a:tc>
                  <a:txBody>
                    <a:bodyPr/>
                    <a:lstStyle/>
                    <a:p>
                      <a:r>
                        <a:rPr sz="1600" b="0">
                          <a:solidFill>
                            <a:srgbClr val="1C1B1A"/>
                          </a:solidFill>
                          <a:latin typeface="Segoe UI"/>
                        </a:rPr>
                        <a:t>Two-part article, offline, after label fix</a:t>
                      </a:r>
                    </a:p>
                  </a:txBody>
                  <a:tcPr anchor="ctr" marL="91440" marR="91440" marT="27432" marB="27432">
                    <a:lnB w="9525">
                      <a:solidFill>
                        <a:srgbClr val="D9D2C3"/>
                      </a:solidFill>
                    </a:lnB>
                    <a:noFill/>
                  </a:tcPr>
                </a:tc>
                <a:tc>
                  <a:txBody>
                    <a:bodyPr/>
                    <a:lstStyle/>
                    <a:p>
                      <a:r>
                        <a:rPr sz="1600" b="0">
                          <a:solidFill>
                            <a:srgbClr val="1C1B1A"/>
                          </a:solidFill>
                          <a:latin typeface="Segoe UI"/>
                        </a:rPr>
                        <a:t>16.0</a:t>
                      </a:r>
                    </a:p>
                  </a:txBody>
                  <a:tcPr anchor="ctr" marL="91440" marR="91440" marT="27432" marB="27432">
                    <a:lnB w="9525">
                      <a:solidFill>
                        <a:srgbClr val="D9D2C3"/>
                      </a:solidFill>
                    </a:lnB>
                    <a:noFill/>
                  </a:tcPr>
                </a:tc>
                <a:tc>
                  <a:txBody>
                    <a:bodyPr/>
                    <a:lstStyle/>
                    <a:p>
                      <a:r>
                        <a:rPr sz="1600" b="0">
                          <a:solidFill>
                            <a:srgbClr val="1C1B1A"/>
                          </a:solidFill>
                          <a:latin typeface="Segoe UI"/>
                        </a:rPr>
                        <a:t>45</a:t>
                      </a:r>
                    </a:p>
                  </a:txBody>
                  <a:tcPr anchor="ctr" marL="91440" marR="91440" marT="27432" marB="27432">
                    <a:lnB w="9525">
                      <a:solidFill>
                        <a:srgbClr val="D9D2C3"/>
                      </a:solidFill>
                    </a:lnB>
                    <a:noFill/>
                  </a:tcPr>
                </a:tc>
              </a:tr>
              <a:tr h="406908">
                <a:tc>
                  <a:txBody>
                    <a:bodyPr/>
                    <a:lstStyle/>
                    <a:p>
                      <a:r>
                        <a:rPr sz="1600" b="0">
                          <a:solidFill>
                            <a:srgbClr val="1C1B1A"/>
                          </a:solidFill>
                          <a:latin typeface="Segoe UI"/>
                        </a:rPr>
                        <a:t>Short article, Intel, SmolLM2 360M, first use</a:t>
                      </a:r>
                    </a:p>
                  </a:txBody>
                  <a:tcPr anchor="ctr" marL="91440" marR="91440" marT="27432" marB="27432">
                    <a:lnB w="9525">
                      <a:solidFill>
                        <a:srgbClr val="D9D2C3"/>
                      </a:solidFill>
                    </a:lnB>
                    <a:noFill/>
                  </a:tcPr>
                </a:tc>
                <a:tc>
                  <a:txBody>
                    <a:bodyPr/>
                    <a:lstStyle/>
                    <a:p>
                      <a:r>
                        <a:rPr sz="1600" b="0">
                          <a:solidFill>
                            <a:srgbClr val="1C1B1A"/>
                          </a:solidFill>
                          <a:latin typeface="Segoe UI"/>
                        </a:rPr>
                        <a:t>199.2</a:t>
                      </a:r>
                    </a:p>
                  </a:txBody>
                  <a:tcPr anchor="ctr" marL="91440" marR="91440" marT="27432" marB="27432">
                    <a:lnB w="9525">
                      <a:solidFill>
                        <a:srgbClr val="D9D2C3"/>
                      </a:solidFill>
                    </a:lnB>
                    <a:noFill/>
                  </a:tcPr>
                </a:tc>
                <a:tc>
                  <a:txBody>
                    <a:bodyPr/>
                    <a:lstStyle/>
                    <a:p>
                      <a:r>
                        <a:rPr sz="1600" b="0">
                          <a:solidFill>
                            <a:srgbClr val="1C1B1A"/>
                          </a:solidFill>
                          <a:latin typeface="Segoe UI"/>
                        </a:rPr>
                        <a:t>4</a:t>
                      </a:r>
                    </a:p>
                  </a:txBody>
                  <a:tcPr anchor="ctr" marL="91440" marR="91440" marT="27432" marB="27432">
                    <a:lnB w="9525">
                      <a:solidFill>
                        <a:srgbClr val="D9D2C3"/>
                      </a:solidFill>
                    </a:lnB>
                    <a:noFill/>
                  </a:tcPr>
                </a:tc>
              </a:tr>
              <a:tr h="406908">
                <a:tc>
                  <a:txBody>
                    <a:bodyPr/>
                    <a:lstStyle/>
                    <a:p>
                      <a:r>
                        <a:rPr sz="1600" b="0">
                          <a:solidFill>
                            <a:srgbClr val="1C1B1A"/>
                          </a:solidFill>
                          <a:latin typeface="Segoe UI"/>
                        </a:rPr>
                        <a:t>Two-part article, Intel, SmolLM2 360M</a:t>
                      </a:r>
                    </a:p>
                  </a:txBody>
                  <a:tcPr anchor="ctr" marL="91440" marR="91440" marT="27432" marB="27432">
                    <a:lnB w="9525">
                      <a:solidFill>
                        <a:srgbClr val="D9D2C3"/>
                      </a:solidFill>
                    </a:lnB>
                    <a:noFill/>
                  </a:tcPr>
                </a:tc>
                <a:tc>
                  <a:txBody>
                    <a:bodyPr/>
                    <a:lstStyle/>
                    <a:p>
                      <a:r>
                        <a:rPr sz="1600" b="0">
                          <a:solidFill>
                            <a:srgbClr val="1C1B1A"/>
                          </a:solidFill>
                          <a:latin typeface="Segoe UI"/>
                        </a:rPr>
                        <a:t>149.1</a:t>
                      </a:r>
                    </a:p>
                  </a:txBody>
                  <a:tcPr anchor="ctr" marL="91440" marR="91440" marT="27432" marB="27432">
                    <a:lnB w="9525">
                      <a:solidFill>
                        <a:srgbClr val="D9D2C3"/>
                      </a:solidFill>
                    </a:lnB>
                    <a:noFill/>
                  </a:tcPr>
                </a:tc>
                <a:tc>
                  <a:txBody>
                    <a:bodyPr/>
                    <a:lstStyle/>
                    <a:p>
                      <a:r>
                        <a:rPr sz="1600" b="0">
                          <a:solidFill>
                            <a:srgbClr val="1C1B1A"/>
                          </a:solidFill>
                          <a:latin typeface="Segoe UI"/>
                        </a:rPr>
                        <a:t>5</a:t>
                      </a:r>
                    </a:p>
                  </a:txBody>
                  <a:tcPr anchor="ctr" marL="91440" marR="91440" marT="27432" marB="27432">
                    <a:lnB w="9525">
                      <a:solidFill>
                        <a:srgbClr val="D9D2C3"/>
                      </a:solidFill>
                    </a:lnB>
                    <a:noFill/>
                  </a:tcPr>
                </a:tc>
              </a:tr>
            </a:tbl>
          </a:graphicData>
        </a:graphic>
      </p:graphicFrame>
      <p:sp>
        <p:nvSpPr>
          <p:cNvPr id="8" name="TextBox 7"/>
          <p:cNvSpPr txBox="1"/>
          <p:nvPr/>
        </p:nvSpPr>
        <p:spPr>
          <a:xfrm>
            <a:off x="685800" y="5806440"/>
            <a:ext cx="10820095" cy="640080"/>
          </a:xfrm>
          <a:prstGeom prst="rect">
            <a:avLst/>
          </a:prstGeom>
          <a:noFill/>
        </p:spPr>
        <p:txBody>
          <a:bodyPr wrap="square" anchor="t" lIns="45720" rIns="45720" tIns="27432" bIns="27432">
            <a:spAutoFit/>
          </a:bodyPr>
          <a:lstStyle/>
          <a:p>
            <a:pPr algn="l"/>
            <a:r>
              <a:rPr sz="1600" b="0" i="1">
                <a:solidFill>
                  <a:srgbClr val="6B665C"/>
                </a:solidFill>
                <a:latin typeface="Segoe UI"/>
              </a:rPr>
              <a:t>Disturbed runs (other programs running) are excluded: first use 207 s, Lighthouse 101.6 s, short 13.4 s, two-part 32.2 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TextBox 1"/>
          <p:cNvSpPr txBox="1"/>
          <p:nvPr/>
        </p:nvSpPr>
        <p:spPr>
          <a:xfrm>
            <a:off x="685800" y="411480"/>
            <a:ext cx="10820095" cy="777240"/>
          </a:xfrm>
          <a:prstGeom prst="rect">
            <a:avLst/>
          </a:prstGeom>
          <a:noFill/>
        </p:spPr>
        <p:txBody>
          <a:bodyPr wrap="square" anchor="b" lIns="45720" rIns="45720" tIns="27432" bIns="27432">
            <a:spAutoFit/>
          </a:bodyPr>
          <a:lstStyle/>
          <a:p>
            <a:pPr algn="l"/>
            <a:r>
              <a:rPr sz="3000" b="1" i="0">
                <a:solidFill>
                  <a:srgbClr val="1C1B1A"/>
                </a:solidFill>
                <a:latin typeface="Georgia"/>
              </a:rPr>
              <a:t>Problems met and how they were fixed</a:t>
            </a:r>
          </a:p>
        </p:txBody>
      </p:sp>
      <p:cxnSp>
        <p:nvCxnSpPr>
          <p:cNvPr id="3" name="Connector 2"/>
          <p:cNvCxnSpPr/>
          <p:nvPr/>
        </p:nvCxnSpPr>
        <p:spPr>
          <a:xfrm>
            <a:off x="685800" y="1280160"/>
            <a:ext cx="10820095" cy="0"/>
          </a:xfrm>
          <a:prstGeom prst="line">
            <a:avLst/>
          </a:prstGeom>
          <a:ln w="9525">
            <a:solidFill>
              <a:srgbClr val="D9D2C3"/>
            </a:solidFill>
          </a:ln>
        </p:spPr>
      </p:cxnSp>
      <p:sp>
        <p:nvSpPr>
          <p:cNvPr id="4" name="Rectangle 3"/>
          <p:cNvSpPr/>
          <p:nvPr/>
        </p:nvSpPr>
        <p:spPr>
          <a:xfrm>
            <a:off x="685800" y="1252728"/>
            <a:ext cx="822960" cy="45720"/>
          </a:xfrm>
          <a:prstGeom prst="rect">
            <a:avLst/>
          </a:prstGeom>
          <a:solidFill>
            <a:srgbClr val="B43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355080"/>
            <a:ext cx="9144000" cy="365760"/>
          </a:xfrm>
          <a:prstGeom prst="rect">
            <a:avLst/>
          </a:prstGeom>
          <a:noFill/>
        </p:spPr>
        <p:txBody>
          <a:bodyPr wrap="square" anchor="t" lIns="45720" rIns="45720" tIns="27432" bIns="27432">
            <a:spAutoFit/>
          </a:bodyPr>
          <a:lstStyle/>
          <a:p>
            <a:pPr algn="l"/>
            <a:r>
              <a:rPr sz="1600" b="0" i="0">
                <a:solidFill>
                  <a:srgbClr val="6B665C"/>
                </a:solidFill>
                <a:latin typeface="Segoe UI"/>
              </a:rPr>
              <a:t>Page Summarizer  |  Final-Semester Review (Version 2)</a:t>
            </a:r>
          </a:p>
        </p:txBody>
      </p:sp>
      <p:sp>
        <p:nvSpPr>
          <p:cNvPr id="6" name="TextBox 5"/>
          <p:cNvSpPr txBox="1"/>
          <p:nvPr/>
        </p:nvSpPr>
        <p:spPr>
          <a:xfrm>
            <a:off x="10591495" y="6355080"/>
            <a:ext cx="914400" cy="365760"/>
          </a:xfrm>
          <a:prstGeom prst="rect">
            <a:avLst/>
          </a:prstGeom>
          <a:noFill/>
        </p:spPr>
        <p:txBody>
          <a:bodyPr wrap="square" anchor="t" lIns="45720" rIns="45720" tIns="27432" bIns="27432">
            <a:spAutoFit/>
          </a:bodyPr>
          <a:lstStyle/>
          <a:p>
            <a:pPr algn="r"/>
            <a:r>
              <a:rPr sz="1600" b="0" i="0">
                <a:solidFill>
                  <a:srgbClr val="6B665C"/>
                </a:solidFill>
                <a:latin typeface="Segoe UI"/>
              </a:rPr>
              <a:t>21</a:t>
            </a:r>
          </a:p>
        </p:txBody>
      </p:sp>
      <p:graphicFrame>
        <p:nvGraphicFramePr>
          <p:cNvPr id="7" name="Table 6"/>
          <p:cNvGraphicFramePr>
            <a:graphicFrameLocks noGrp="1"/>
          </p:cNvGraphicFramePr>
          <p:nvPr/>
        </p:nvGraphicFramePr>
        <p:xfrm>
          <a:off x="685800" y="1600200"/>
          <a:ext cx="10820094" cy="3401568"/>
        </p:xfrm>
        <a:graphic>
          <a:graphicData uri="http://schemas.openxmlformats.org/drawingml/2006/table">
            <a:tbl>
              <a:tblPr firstRow="1">
                <a:tableStyleId>{2D5ABB26-0587-4C30-8999-92F81FD0307C}</a:tableStyleId>
              </a:tblPr>
              <a:tblGrid>
                <a:gridCol w="4584786"/>
                <a:gridCol w="6235308"/>
              </a:tblGrid>
              <a:tr h="566928">
                <a:tc>
                  <a:txBody>
                    <a:bodyPr/>
                    <a:lstStyle/>
                    <a:p>
                      <a:r>
                        <a:rPr sz="1600" b="1">
                          <a:solidFill>
                            <a:srgbClr val="1C1B1A"/>
                          </a:solidFill>
                          <a:latin typeface="Segoe UI"/>
                        </a:rPr>
                        <a:t>Problem</a:t>
                      </a:r>
                    </a:p>
                  </a:txBody>
                  <a:tcPr anchor="ctr" marL="91440" marR="91440" marT="27432" marB="27432">
                    <a:lnB w="12700">
                      <a:solidFill>
                        <a:srgbClr val="1C1B1A"/>
                      </a:solidFill>
                    </a:lnB>
                    <a:noFill/>
                  </a:tcPr>
                </a:tc>
                <a:tc>
                  <a:txBody>
                    <a:bodyPr/>
                    <a:lstStyle/>
                    <a:p>
                      <a:r>
                        <a:rPr sz="1600" b="1">
                          <a:solidFill>
                            <a:srgbClr val="1C1B1A"/>
                          </a:solidFill>
                          <a:latin typeface="Segoe UI"/>
                        </a:rPr>
                        <a:t>What we did</a:t>
                      </a:r>
                    </a:p>
                  </a:txBody>
                  <a:tcPr anchor="ctr" marL="91440" marR="91440" marT="27432" marB="27432">
                    <a:lnB w="12700">
                      <a:solidFill>
                        <a:srgbClr val="1C1B1A"/>
                      </a:solidFill>
                    </a:lnB>
                    <a:noFill/>
                  </a:tcPr>
                </a:tc>
              </a:tr>
              <a:tr h="566928">
                <a:tc>
                  <a:txBody>
                    <a:bodyPr/>
                    <a:lstStyle/>
                    <a:p>
                      <a:r>
                        <a:rPr sz="1600" b="0">
                          <a:solidFill>
                            <a:srgbClr val="1C1B1A"/>
                          </a:solidFill>
                          <a:latin typeface="Segoe UI"/>
                        </a:rPr>
                        <a:t>Chrome used the weak Intel chip: about 2 tokens a second, a 36 s first answer</a:t>
                      </a:r>
                    </a:p>
                  </a:txBody>
                  <a:tcPr anchor="ctr" marL="91440" marR="91440" marT="27432" marB="27432">
                    <a:lnB w="9525">
                      <a:solidFill>
                        <a:srgbClr val="D9D2C3"/>
                      </a:solidFill>
                    </a:lnB>
                    <a:noFill/>
                  </a:tcPr>
                </a:tc>
                <a:tc>
                  <a:txBody>
                    <a:bodyPr/>
                    <a:lstStyle/>
                    <a:p>
                      <a:r>
                        <a:rPr sz="1600" b="0">
                          <a:solidFill>
                            <a:srgbClr val="1C1B1A"/>
                          </a:solidFill>
                          <a:latin typeface="Segoe UI"/>
                        </a:rPr>
                        <a:t>Forced the high-performance card in the test setup, added a warm-up step, and an automatic smaller model with a note on Intel.</a:t>
                      </a:r>
                    </a:p>
                  </a:txBody>
                  <a:tcPr anchor="ctr" marL="91440" marR="91440" marT="27432" marB="27432">
                    <a:lnB w="9525">
                      <a:solidFill>
                        <a:srgbClr val="D9D2C3"/>
                      </a:solidFill>
                    </a:lnB>
                    <a:noFill/>
                  </a:tcPr>
                </a:tc>
              </a:tr>
              <a:tr h="566928">
                <a:tc>
                  <a:txBody>
                    <a:bodyPr/>
                    <a:lstStyle/>
                    <a:p>
                      <a:r>
                        <a:rPr sz="1600" b="0">
                          <a:solidFill>
                            <a:srgbClr val="1C1B1A"/>
                          </a:solidFill>
                          <a:latin typeface="Segoe UI"/>
                        </a:rPr>
                        <a:t>WebLLM's model cache failed inside the offscreen page (CacheStorage error)</a:t>
                      </a:r>
                    </a:p>
                  </a:txBody>
                  <a:tcPr anchor="ctr" marL="91440" marR="91440" marT="27432" marB="27432">
                    <a:lnB w="9525">
                      <a:solidFill>
                        <a:srgbClr val="D9D2C3"/>
                      </a:solidFill>
                    </a:lnB>
                    <a:noFill/>
                  </a:tcPr>
                </a:tc>
                <a:tc>
                  <a:txBody>
                    <a:bodyPr/>
                    <a:lstStyle/>
                    <a:p>
                      <a:r>
                        <a:rPr sz="1600" b="0">
                          <a:solidFill>
                            <a:srgbClr val="1C1B1A"/>
                          </a:solidFill>
                          <a:latin typeface="Segoe UI"/>
                        </a:rPr>
                        <a:t>Switched WebLLM to IndexedDB and asked for unlimitedStorage, so the browser keeps the model files.</a:t>
                      </a:r>
                    </a:p>
                  </a:txBody>
                  <a:tcPr anchor="ctr" marL="91440" marR="91440" marT="27432" marB="27432">
                    <a:lnB w="9525">
                      <a:solidFill>
                        <a:srgbClr val="D9D2C3"/>
                      </a:solidFill>
                    </a:lnB>
                    <a:noFill/>
                  </a:tcPr>
                </a:tc>
              </a:tr>
              <a:tr h="566928">
                <a:tc>
                  <a:txBody>
                    <a:bodyPr/>
                    <a:lstStyle/>
                    <a:p>
                      <a:r>
                        <a:rPr sz="1600" b="0">
                          <a:solidFill>
                            <a:srgbClr val="1C1B1A"/>
                          </a:solidFill>
                          <a:latin typeface="Segoe UI"/>
                        </a:rPr>
                        <a:t>The small model wrote summaries with nothing on screen to say so</a:t>
                      </a:r>
                    </a:p>
                  </a:txBody>
                  <a:tcPr anchor="ctr" marL="91440" marR="91440" marT="27432" marB="27432">
                    <a:lnB w="9525">
                      <a:solidFill>
                        <a:srgbClr val="D9D2C3"/>
                      </a:solidFill>
                    </a:lnB>
                    <a:noFill/>
                  </a:tcPr>
                </a:tc>
                <a:tc>
                  <a:txBody>
                    <a:bodyPr/>
                    <a:lstStyle/>
                    <a:p>
                      <a:r>
                        <a:rPr sz="1600" b="0">
                          <a:solidFill>
                            <a:srgbClr val="1C1B1A"/>
                          </a:solidFill>
                          <a:latin typeface="Segoe UI"/>
                        </a:rPr>
                        <a:t>A notice now sits above a summary written by the smaller model. The model line refreshes when a job ends.</a:t>
                      </a:r>
                    </a:p>
                  </a:txBody>
                  <a:tcPr anchor="ctr" marL="91440" marR="91440" marT="27432" marB="27432">
                    <a:lnB w="9525">
                      <a:solidFill>
                        <a:srgbClr val="D9D2C3"/>
                      </a:solidFill>
                    </a:lnB>
                    <a:noFill/>
                  </a:tcPr>
                </a:tc>
              </a:tr>
              <a:tr h="566928">
                <a:tc>
                  <a:txBody>
                    <a:bodyPr/>
                    <a:lstStyle/>
                    <a:p>
                      <a:r>
                        <a:rPr sz="1600" b="0">
                          <a:solidFill>
                            <a:srgbClr val="1C1B1A"/>
                          </a:solidFill>
                          <a:latin typeface="Segoe UI"/>
                        </a:rPr>
                        <a:t>A stored model was labeled Downloading for about 0.8 s</a:t>
                      </a:r>
                    </a:p>
                  </a:txBody>
                  <a:tcPr anchor="ctr" marL="91440" marR="91440" marT="27432" marB="27432">
                    <a:lnB w="9525">
                      <a:solidFill>
                        <a:srgbClr val="D9D2C3"/>
                      </a:solidFill>
                    </a:lnB>
                    <a:noFill/>
                  </a:tcPr>
                </a:tc>
                <a:tc>
                  <a:txBody>
                    <a:bodyPr/>
                    <a:lstStyle/>
                    <a:p>
                      <a:r>
                        <a:rPr sz="1600" b="0">
                          <a:solidFill>
                            <a:srgbClr val="1C1B1A"/>
                          </a:solidFill>
                          <a:latin typeface="Segoe UI"/>
                        </a:rPr>
                        <a:t>The offscreen page checks the store first, so a stored model always shows as loading. Unit test added.</a:t>
                      </a:r>
                    </a:p>
                  </a:txBody>
                  <a:tcPr anchor="ctr" marL="91440" marR="91440" marT="27432" marB="27432">
                    <a:lnB w="9525">
                      <a:solidFill>
                        <a:srgbClr val="D9D2C3"/>
                      </a:solidFill>
                    </a:lnB>
                    <a:noFill/>
                  </a:tcPr>
                </a:tc>
              </a:tr>
              <a:tr h="566928">
                <a:tc>
                  <a:txBody>
                    <a:bodyPr/>
                    <a:lstStyle/>
                    <a:p>
                      <a:r>
                        <a:rPr sz="1600" b="0">
                          <a:solidFill>
                            <a:srgbClr val="1C1B1A"/>
                          </a:solidFill>
                          <a:latin typeface="Segoe UI"/>
                        </a:rPr>
                        <a:t>Real Chrome, long Wikipedia page, Intel chip: a vague error with no reason</a:t>
                      </a:r>
                    </a:p>
                  </a:txBody>
                  <a:tcPr anchor="ctr" marL="91440" marR="91440" marT="27432" marB="27432">
                    <a:lnB w="9525">
                      <a:solidFill>
                        <a:srgbClr val="D9D2C3"/>
                      </a:solidFill>
                    </a:lnB>
                    <a:noFill/>
                  </a:tcPr>
                </a:tc>
                <a:tc>
                  <a:txBody>
                    <a:bodyPr/>
                    <a:lstStyle/>
                    <a:p>
                      <a:r>
                        <a:rPr sz="1600" b="0">
                          <a:solidFill>
                            <a:srgbClr val="1C1B1A"/>
                          </a:solidFill>
                          <a:latin typeface="Segoe UI"/>
                        </a:rPr>
                        <a:t>A part too long for the model is cut in half and retried. The answer limit is 10 minutes. The popup now shows a technical detail line.</a:t>
                      </a:r>
                    </a:p>
                  </a:txBody>
                  <a:tcPr anchor="ctr" marL="91440" marR="91440" marT="27432" marB="27432">
                    <a:lnB w="9525">
                      <a:solidFill>
                        <a:srgbClr val="D9D2C3"/>
                      </a:solidFill>
                    </a:lnB>
                    <a:noFill/>
                  </a:tcPr>
                </a:tc>
              </a:tr>
            </a:tbl>
          </a:graphicData>
        </a:graphic>
      </p:graphicFrame>
      <p:sp>
        <p:nvSpPr>
          <p:cNvPr id="8" name="TextBox 7"/>
          <p:cNvSpPr txBox="1"/>
          <p:nvPr/>
        </p:nvSpPr>
        <p:spPr>
          <a:xfrm>
            <a:off x="685800" y="5138928"/>
            <a:ext cx="10820095" cy="640080"/>
          </a:xfrm>
          <a:prstGeom prst="rect">
            <a:avLst/>
          </a:prstGeom>
          <a:noFill/>
        </p:spPr>
        <p:txBody>
          <a:bodyPr wrap="square" anchor="t" lIns="45720" rIns="45720" tIns="27432" bIns="27432">
            <a:spAutoFit/>
          </a:bodyPr>
          <a:lstStyle/>
          <a:p>
            <a:pPr algn="l"/>
            <a:r>
              <a:rPr sz="1600" b="0" i="1">
                <a:solidFill>
                  <a:srgbClr val="6B665C"/>
                </a:solidFill>
                <a:latin typeface="Segoe UI"/>
              </a:rPr>
              <a:t>Found and fixed on 21 and 24 October 2026. Each one is written in the development log.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TextBox 1"/>
          <p:cNvSpPr txBox="1"/>
          <p:nvPr/>
        </p:nvSpPr>
        <p:spPr>
          <a:xfrm>
            <a:off x="685800" y="411480"/>
            <a:ext cx="10820095" cy="777240"/>
          </a:xfrm>
          <a:prstGeom prst="rect">
            <a:avLst/>
          </a:prstGeom>
          <a:noFill/>
        </p:spPr>
        <p:txBody>
          <a:bodyPr wrap="square" anchor="b" lIns="45720" rIns="45720" tIns="27432" bIns="27432">
            <a:spAutoFit/>
          </a:bodyPr>
          <a:lstStyle/>
          <a:p>
            <a:pPr algn="l"/>
            <a:r>
              <a:rPr sz="3000" b="1" i="0">
                <a:solidFill>
                  <a:srgbClr val="1C1B1A"/>
                </a:solidFill>
                <a:latin typeface="Georgia"/>
              </a:rPr>
              <a:t>What is not done or not verified</a:t>
            </a:r>
          </a:p>
        </p:txBody>
      </p:sp>
      <p:cxnSp>
        <p:nvCxnSpPr>
          <p:cNvPr id="3" name="Connector 2"/>
          <p:cNvCxnSpPr/>
          <p:nvPr/>
        </p:nvCxnSpPr>
        <p:spPr>
          <a:xfrm>
            <a:off x="685800" y="1280160"/>
            <a:ext cx="10820095" cy="0"/>
          </a:xfrm>
          <a:prstGeom prst="line">
            <a:avLst/>
          </a:prstGeom>
          <a:ln w="9525">
            <a:solidFill>
              <a:srgbClr val="D9D2C3"/>
            </a:solidFill>
          </a:ln>
        </p:spPr>
      </p:cxnSp>
      <p:sp>
        <p:nvSpPr>
          <p:cNvPr id="4" name="Rectangle 3"/>
          <p:cNvSpPr/>
          <p:nvPr/>
        </p:nvSpPr>
        <p:spPr>
          <a:xfrm>
            <a:off x="685800" y="1252728"/>
            <a:ext cx="822960" cy="45720"/>
          </a:xfrm>
          <a:prstGeom prst="rect">
            <a:avLst/>
          </a:prstGeom>
          <a:solidFill>
            <a:srgbClr val="B43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355080"/>
            <a:ext cx="9144000" cy="365760"/>
          </a:xfrm>
          <a:prstGeom prst="rect">
            <a:avLst/>
          </a:prstGeom>
          <a:noFill/>
        </p:spPr>
        <p:txBody>
          <a:bodyPr wrap="square" anchor="t" lIns="45720" rIns="45720" tIns="27432" bIns="27432">
            <a:spAutoFit/>
          </a:bodyPr>
          <a:lstStyle/>
          <a:p>
            <a:pPr algn="l"/>
            <a:r>
              <a:rPr sz="1600" b="0" i="0">
                <a:solidFill>
                  <a:srgbClr val="6B665C"/>
                </a:solidFill>
                <a:latin typeface="Segoe UI"/>
              </a:rPr>
              <a:t>Page Summarizer  |  Final-Semester Review (Version 2)</a:t>
            </a:r>
          </a:p>
        </p:txBody>
      </p:sp>
      <p:sp>
        <p:nvSpPr>
          <p:cNvPr id="6" name="TextBox 5"/>
          <p:cNvSpPr txBox="1"/>
          <p:nvPr/>
        </p:nvSpPr>
        <p:spPr>
          <a:xfrm>
            <a:off x="10591495" y="6355080"/>
            <a:ext cx="914400" cy="365760"/>
          </a:xfrm>
          <a:prstGeom prst="rect">
            <a:avLst/>
          </a:prstGeom>
          <a:noFill/>
        </p:spPr>
        <p:txBody>
          <a:bodyPr wrap="square" anchor="t" lIns="45720" rIns="45720" tIns="27432" bIns="27432">
            <a:spAutoFit/>
          </a:bodyPr>
          <a:lstStyle/>
          <a:p>
            <a:pPr algn="r"/>
            <a:r>
              <a:rPr sz="1600" b="0" i="0">
                <a:solidFill>
                  <a:srgbClr val="6B665C"/>
                </a:solidFill>
                <a:latin typeface="Segoe UI"/>
              </a:rPr>
              <a:t>22</a:t>
            </a:r>
          </a:p>
        </p:txBody>
      </p:sp>
      <p:sp>
        <p:nvSpPr>
          <p:cNvPr id="7" name="TextBox 6"/>
          <p:cNvSpPr txBox="1"/>
          <p:nvPr/>
        </p:nvSpPr>
        <p:spPr>
          <a:xfrm>
            <a:off x="685800" y="1600200"/>
            <a:ext cx="10820095" cy="4526280"/>
          </a:xfrm>
          <a:prstGeom prst="rect">
            <a:avLst/>
          </a:prstGeom>
          <a:noFill/>
        </p:spPr>
        <p:txBody>
          <a:bodyPr wrap="square" lIns="45720" rIns="45720">
            <a:spAutoFit/>
          </a:bodyPr>
          <a:lstStyle/>
          <a:p>
            <a:pPr marL="320040" indent="-320040">
              <a:lnSpc>
                <a:spcPct val="105000"/>
              </a:lnSpc>
              <a:spcAft>
                <a:spcPts val="1200"/>
              </a:spcAft>
              <a:buClr>
                <a:srgbClr val="B4391F"/>
              </a:buClr>
              <a:buFont typeface="Arial"/>
              <a:buChar char="•"/>
            </a:pPr>
            <a:r>
              <a:rPr sz="2200">
                <a:solidFill>
                  <a:srgbClr val="1C1B1A"/>
                </a:solidFill>
                <a:latin typeface="Segoe UI"/>
              </a:rPr>
              <a:t>Client's laptop: not tested yet. Chip, memory and free disk are unknown.</a:t>
            </a:r>
          </a:p>
          <a:p>
            <a:pPr marL="320040" indent="-320040">
              <a:lnSpc>
                <a:spcPct val="105000"/>
              </a:lnSpc>
              <a:spcAft>
                <a:spcPts val="1200"/>
              </a:spcAft>
              <a:buClr>
                <a:srgbClr val="B4391F"/>
              </a:buClr>
              <a:buFont typeface="Arial"/>
              <a:buChar char="•"/>
            </a:pPr>
            <a:r>
              <a:rPr sz="2200">
                <a:solidFill>
                  <a:srgbClr val="1C1B1A"/>
                </a:solidFill>
                <a:latin typeface="Segoe UI"/>
              </a:rPr>
              <a:t>setup.bat --gpu: tested only on a test registry key, not on real Chrome.</a:t>
            </a:r>
          </a:p>
          <a:p>
            <a:pPr marL="320040" indent="-320040">
              <a:lnSpc>
                <a:spcPct val="105000"/>
              </a:lnSpc>
              <a:spcAft>
                <a:spcPts val="1200"/>
              </a:spcAft>
              <a:buClr>
                <a:srgbClr val="B4391F"/>
              </a:buClr>
              <a:buFont typeface="Arial"/>
              <a:buChar char="•"/>
            </a:pPr>
            <a:r>
              <a:rPr sz="2200">
                <a:solidFill>
                  <a:srgbClr val="1C1B1A"/>
                </a:solidFill>
                <a:latin typeface="Segoe UI"/>
              </a:rPr>
              <a:t>Visible Chrome: one real page on 24 October, no full click-through yet.</a:t>
            </a:r>
          </a:p>
          <a:p>
            <a:pPr marL="320040" indent="-320040">
              <a:lnSpc>
                <a:spcPct val="105000"/>
              </a:lnSpc>
              <a:spcAft>
                <a:spcPts val="1200"/>
              </a:spcAft>
              <a:buClr>
                <a:srgbClr val="B4391F"/>
              </a:buClr>
              <a:buFont typeface="Arial"/>
              <a:buChar char="•"/>
            </a:pPr>
            <a:r>
              <a:rPr sz="2200">
                <a:solidFill>
                  <a:srgbClr val="1C1B1A"/>
                </a:solidFill>
                <a:latin typeface="Segoe UI"/>
              </a:rPr>
              <a:t>English only. Other languages were not tried.</a:t>
            </a:r>
          </a:p>
          <a:p>
            <a:pPr marL="320040" indent="-320040">
              <a:lnSpc>
                <a:spcPct val="105000"/>
              </a:lnSpc>
              <a:spcAft>
                <a:spcPts val="1200"/>
              </a:spcAft>
              <a:buClr>
                <a:srgbClr val="B4391F"/>
              </a:buClr>
              <a:buFont typeface="Arial"/>
              <a:buChar char="•"/>
            </a:pPr>
            <a:r>
              <a:rPr sz="2200">
                <a:solidFill>
                  <a:srgbClr val="1C1B1A"/>
                </a:solidFill>
                <a:latin typeface="Segoe UI"/>
              </a:rPr>
              <a:t>Small-model slips. A 7-part page takes about 10 minutes on the Intel chip.</a:t>
            </a:r>
          </a:p>
          <a:p>
            <a:pPr marL="320040" indent="-320040">
              <a:lnSpc>
                <a:spcPct val="105000"/>
              </a:lnSpc>
              <a:spcAft>
                <a:spcPts val="1200"/>
              </a:spcAft>
              <a:buClr>
                <a:srgbClr val="B4391F"/>
              </a:buClr>
              <a:buFont typeface="Arial"/>
              <a:buChar char="•"/>
            </a:pPr>
            <a:r>
              <a:rPr sz="2200">
                <a:solidFill>
                  <a:srgbClr val="1C1B1A"/>
                </a:solidFill>
                <a:latin typeface="Segoe UI"/>
              </a:rPr>
              <a:t>Cutting a long part in half is tested with the pretend model only.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TextBox 1"/>
          <p:cNvSpPr txBox="1"/>
          <p:nvPr/>
        </p:nvSpPr>
        <p:spPr>
          <a:xfrm>
            <a:off x="685800" y="411480"/>
            <a:ext cx="10820095" cy="777240"/>
          </a:xfrm>
          <a:prstGeom prst="rect">
            <a:avLst/>
          </a:prstGeom>
          <a:noFill/>
        </p:spPr>
        <p:txBody>
          <a:bodyPr wrap="square" anchor="b" lIns="45720" rIns="45720" tIns="27432" bIns="27432">
            <a:spAutoFit/>
          </a:bodyPr>
          <a:lstStyle/>
          <a:p>
            <a:pPr algn="l"/>
            <a:r>
              <a:rPr sz="3000" b="1" i="0">
                <a:solidFill>
                  <a:srgbClr val="1C1B1A"/>
                </a:solidFill>
                <a:latin typeface="Georgia"/>
              </a:rPr>
              <a:t>Demo plan: what I will show, in order</a:t>
            </a:r>
          </a:p>
        </p:txBody>
      </p:sp>
      <p:cxnSp>
        <p:nvCxnSpPr>
          <p:cNvPr id="3" name="Connector 2"/>
          <p:cNvCxnSpPr/>
          <p:nvPr/>
        </p:nvCxnSpPr>
        <p:spPr>
          <a:xfrm>
            <a:off x="685800" y="1280160"/>
            <a:ext cx="10820095" cy="0"/>
          </a:xfrm>
          <a:prstGeom prst="line">
            <a:avLst/>
          </a:prstGeom>
          <a:ln w="9525">
            <a:solidFill>
              <a:srgbClr val="D9D2C3"/>
            </a:solidFill>
          </a:ln>
        </p:spPr>
      </p:cxnSp>
      <p:sp>
        <p:nvSpPr>
          <p:cNvPr id="4" name="Rectangle 3"/>
          <p:cNvSpPr/>
          <p:nvPr/>
        </p:nvSpPr>
        <p:spPr>
          <a:xfrm>
            <a:off x="685800" y="1252728"/>
            <a:ext cx="822960" cy="45720"/>
          </a:xfrm>
          <a:prstGeom prst="rect">
            <a:avLst/>
          </a:prstGeom>
          <a:solidFill>
            <a:srgbClr val="B43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355080"/>
            <a:ext cx="9144000" cy="365760"/>
          </a:xfrm>
          <a:prstGeom prst="rect">
            <a:avLst/>
          </a:prstGeom>
          <a:noFill/>
        </p:spPr>
        <p:txBody>
          <a:bodyPr wrap="square" anchor="t" lIns="45720" rIns="45720" tIns="27432" bIns="27432">
            <a:spAutoFit/>
          </a:bodyPr>
          <a:lstStyle/>
          <a:p>
            <a:pPr algn="l"/>
            <a:r>
              <a:rPr sz="1600" b="0" i="0">
                <a:solidFill>
                  <a:srgbClr val="6B665C"/>
                </a:solidFill>
                <a:latin typeface="Segoe UI"/>
              </a:rPr>
              <a:t>Page Summarizer  |  Final-Semester Review (Version 2)</a:t>
            </a:r>
          </a:p>
        </p:txBody>
      </p:sp>
      <p:sp>
        <p:nvSpPr>
          <p:cNvPr id="6" name="TextBox 5"/>
          <p:cNvSpPr txBox="1"/>
          <p:nvPr/>
        </p:nvSpPr>
        <p:spPr>
          <a:xfrm>
            <a:off x="10591495" y="6355080"/>
            <a:ext cx="914400" cy="365760"/>
          </a:xfrm>
          <a:prstGeom prst="rect">
            <a:avLst/>
          </a:prstGeom>
          <a:noFill/>
        </p:spPr>
        <p:txBody>
          <a:bodyPr wrap="square" anchor="t" lIns="45720" rIns="45720" tIns="27432" bIns="27432">
            <a:spAutoFit/>
          </a:bodyPr>
          <a:lstStyle/>
          <a:p>
            <a:pPr algn="r"/>
            <a:r>
              <a:rPr sz="1600" b="0" i="0">
                <a:solidFill>
                  <a:srgbClr val="6B665C"/>
                </a:solidFill>
                <a:latin typeface="Segoe UI"/>
              </a:rPr>
              <a:t>23</a:t>
            </a:r>
          </a:p>
        </p:txBody>
      </p:sp>
      <p:sp>
        <p:nvSpPr>
          <p:cNvPr id="7" name="TextBox 6"/>
          <p:cNvSpPr txBox="1"/>
          <p:nvPr/>
        </p:nvSpPr>
        <p:spPr>
          <a:xfrm>
            <a:off x="685800" y="1600200"/>
            <a:ext cx="10820095" cy="4526280"/>
          </a:xfrm>
          <a:prstGeom prst="rect">
            <a:avLst/>
          </a:prstGeom>
          <a:noFill/>
        </p:spPr>
        <p:txBody>
          <a:bodyPr wrap="square" lIns="45720" rIns="45720">
            <a:spAutoFit/>
          </a:bodyPr>
          <a:lstStyle/>
          <a:p>
            <a:pPr marL="320040" indent="-320040">
              <a:lnSpc>
                <a:spcPct val="105000"/>
              </a:lnSpc>
              <a:spcAft>
                <a:spcPts val="1200"/>
              </a:spcAft>
              <a:buClr>
                <a:srgbClr val="B4391F"/>
              </a:buClr>
              <a:buFont typeface="Arial"/>
              <a:buChar char="•"/>
            </a:pPr>
            <a:r>
              <a:rPr sz="2200">
                <a:solidFill>
                  <a:srgbClr val="1C1B1A"/>
                </a:solidFill>
                <a:latin typeface="Segoe UI"/>
              </a:rPr>
              <a:t>Show the card loaded from chrome://extensions. There is no key and no cloud box.</a:t>
            </a:r>
          </a:p>
          <a:p>
            <a:pPr marL="320040" indent="-320040">
              <a:lnSpc>
                <a:spcPct val="105000"/>
              </a:lnSpc>
              <a:spcAft>
                <a:spcPts val="1200"/>
              </a:spcAft>
              <a:buClr>
                <a:srgbClr val="B4391F"/>
              </a:buClr>
              <a:buFont typeface="Arial"/>
              <a:buChar char="•"/>
            </a:pPr>
            <a:r>
              <a:rPr sz="2200">
                <a:solidFill>
                  <a:srgbClr val="1C1B1A"/>
                </a:solidFill>
                <a:latin typeface="Segoe UI"/>
              </a:rPr>
              <a:t>Summarize the Lighthouse article with the model stored: 74.1 s in seven parts (clean run).</a:t>
            </a:r>
          </a:p>
          <a:p>
            <a:pPr marL="320040" indent="-320040">
              <a:lnSpc>
                <a:spcPct val="105000"/>
              </a:lnSpc>
              <a:spcAft>
                <a:spcPts val="1200"/>
              </a:spcAft>
              <a:buClr>
                <a:srgbClr val="B4391F"/>
              </a:buClr>
              <a:buFont typeface="Arial"/>
              <a:buChar char="•"/>
            </a:pPr>
            <a:r>
              <a:rPr sz="2200">
                <a:solidFill>
                  <a:srgbClr val="1C1B1A"/>
                </a:solidFill>
                <a:latin typeface="Segoe UI"/>
              </a:rPr>
              <a:t>Close the popup, wait five seconds, and reopen it. The job is still there.</a:t>
            </a:r>
          </a:p>
          <a:p>
            <a:pPr marL="320040" indent="-320040">
              <a:lnSpc>
                <a:spcPct val="105000"/>
              </a:lnSpc>
              <a:spcAft>
                <a:spcPts val="1200"/>
              </a:spcAft>
              <a:buClr>
                <a:srgbClr val="B4391F"/>
              </a:buClr>
              <a:buFont typeface="Arial"/>
              <a:buChar char="•"/>
            </a:pPr>
            <a:r>
              <a:rPr sz="2200">
                <a:solidFill>
                  <a:srgbClr val="1C1B1A"/>
                </a:solidFill>
                <a:latin typeface="Segoe UI"/>
              </a:rPr>
              <a:t>Turn off Wi-Fi and summarize a short article. Say which run: 17.7 s after the label fix, or 15.3 s before it.</a:t>
            </a:r>
          </a:p>
          <a:p>
            <a:pPr marL="320040" indent="-320040">
              <a:lnSpc>
                <a:spcPct val="105000"/>
              </a:lnSpc>
              <a:spcAft>
                <a:spcPts val="1200"/>
              </a:spcAft>
              <a:buClr>
                <a:srgbClr val="B4391F"/>
              </a:buClr>
              <a:buFont typeface="Arial"/>
              <a:buChar char="•"/>
            </a:pPr>
            <a:r>
              <a:rPr sz="2200">
                <a:solidFill>
                  <a:srgbClr val="1C1B1A"/>
                </a:solidFill>
                <a:latin typeface="Segoe UI"/>
              </a:rPr>
              <a:t>Open chrome://version and a near-empty page to show the two refusals.</a:t>
            </a:r>
          </a:p>
          <a:p>
            <a:pPr marL="320040" indent="-320040">
              <a:lnSpc>
                <a:spcPct val="105000"/>
              </a:lnSpc>
              <a:spcAft>
                <a:spcPts val="1200"/>
              </a:spcAft>
              <a:buClr>
                <a:srgbClr val="B4391F"/>
              </a:buClr>
              <a:buFont typeface="Arial"/>
              <a:buChar char="•"/>
            </a:pPr>
            <a:r>
              <a:rPr sz="2200">
                <a:solidFill>
                  <a:srgbClr val="1C1B1A"/>
                </a:solidFill>
                <a:latin typeface="Segoe UI"/>
              </a:rPr>
              <a:t>Do not show the first download live: it took 158.3 s. Label any screenshot from a disturbed run.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Rectangle 1"/>
          <p:cNvSpPr/>
          <p:nvPr/>
        </p:nvSpPr>
        <p:spPr>
          <a:xfrm>
            <a:off x="685800" y="2011680"/>
            <a:ext cx="1097280" cy="45720"/>
          </a:xfrm>
          <a:prstGeom prst="rect">
            <a:avLst/>
          </a:prstGeom>
          <a:solidFill>
            <a:srgbClr val="B43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194560"/>
            <a:ext cx="10820095" cy="1097280"/>
          </a:xfrm>
          <a:prstGeom prst="rect">
            <a:avLst/>
          </a:prstGeom>
          <a:noFill/>
        </p:spPr>
        <p:txBody>
          <a:bodyPr wrap="square" anchor="t" lIns="45720" rIns="45720" tIns="27432" bIns="27432">
            <a:spAutoFit/>
          </a:bodyPr>
          <a:lstStyle/>
          <a:p>
            <a:pPr algn="l"/>
            <a:r>
              <a:rPr sz="4400" b="1" i="0">
                <a:solidFill>
                  <a:srgbClr val="1C1B1A"/>
                </a:solidFill>
                <a:latin typeface="Georgia"/>
              </a:rPr>
              <a:t>Thank you. Questions?</a:t>
            </a:r>
          </a:p>
        </p:txBody>
      </p:sp>
      <p:sp>
        <p:nvSpPr>
          <p:cNvPr id="4" name="TextBox 3"/>
          <p:cNvSpPr txBox="1"/>
          <p:nvPr/>
        </p:nvSpPr>
        <p:spPr>
          <a:xfrm>
            <a:off x="685800" y="3474720"/>
            <a:ext cx="10820095" cy="457200"/>
          </a:xfrm>
          <a:prstGeom prst="rect">
            <a:avLst/>
          </a:prstGeom>
          <a:noFill/>
        </p:spPr>
        <p:txBody>
          <a:bodyPr wrap="square" anchor="t" lIns="45720" rIns="45720" tIns="27432" bIns="27432">
            <a:spAutoFit/>
          </a:bodyPr>
          <a:lstStyle/>
          <a:p>
            <a:pPr algn="l"/>
            <a:r>
              <a:rPr sz="2200" b="0" i="0">
                <a:solidFill>
                  <a:srgbClr val="1C1B1A"/>
                </a:solidFill>
                <a:latin typeface="Segoe UI"/>
              </a:rPr>
              <a:t>[Insert Student Name]  |  BITS ID [Insert BITS ID]</a:t>
            </a:r>
          </a:p>
        </p:txBody>
      </p:sp>
      <p:sp>
        <p:nvSpPr>
          <p:cNvPr id="5" name="TextBox 4"/>
          <p:cNvSpPr txBox="1"/>
          <p:nvPr/>
        </p:nvSpPr>
        <p:spPr>
          <a:xfrm>
            <a:off x="685800" y="3977640"/>
            <a:ext cx="10820095" cy="457200"/>
          </a:xfrm>
          <a:prstGeom prst="rect">
            <a:avLst/>
          </a:prstGeom>
          <a:noFill/>
        </p:spPr>
        <p:txBody>
          <a:bodyPr wrap="square" anchor="t" lIns="45720" rIns="45720" tIns="27432" bIns="27432">
            <a:spAutoFit/>
          </a:bodyPr>
          <a:lstStyle/>
          <a:p>
            <a:pPr algn="l"/>
            <a:r>
              <a:rPr sz="2200" b="0" i="0">
                <a:solidFill>
                  <a:srgbClr val="6B665C"/>
                </a:solidFill>
                <a:latin typeface="Segoe UI"/>
              </a:rPr>
              <a:t>The code, the tests and the setup scripts are in the finalsem project folder.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Page Summarizer: final-semester review (Version 2)</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