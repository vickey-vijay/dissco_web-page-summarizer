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name is [Insert Student Name], and this is my final-semester review of the Page Summarizer project. Version 1 sent the page text to a cloud service. Version 2 runs a small language model inside Chrome, on this laptop. I will explain the AI parts in plain words, then show what was built and what was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six parts. First, Version 1 and what it could not do. Then I explain what a language model is, how it writes, and how the model gets onto the laptop. Next are the parts that run it, the popup, the errors and the setup. After that come the tests, the measured results and the problems I met. I finish with what is not done yet, the demo plan and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 has one promise. A reader presses one button on an open page and gets a short summary in the popup. The reader pastes a free key once, and each part of the page is then sent to Google. So the page text leaves this laptop, and every summary needs the internet. Version 2 keeps the same popup, page reader and job handling, and only the engine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sets Version 2 next to Version 1. The model now lives on the laptop, so there is no key and no cloud. The page text stays on the laptop, and the only internet use is the one-time download of about 695 megabytes. Speed depends on the graphics chip. The client's laptop has only built-in Intel graphics, so I measured that case: a long Wikipedia page takes about two minutes. I did not measure summary quality in either version with a score, so I only say what I saw in the saved summaries.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language model is a program that guesses the next piece of text. Learning set its stored numbers, which are called parameters, and this project only reads them. The model reads and writes tokens, and a token is about four characters of English. Its context window is the text it can hold in one request, which is 4,096 tokens for this model. So the project cuts a long page into parts of about 1,500 tokens.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works in two stages. First it reads the whole prompt in one pass, which the report calls prefill. Then it writes the answer one token at a time, which is called decode, and that stage is the slow one. The saved clean runs wrote 34 to 53 tokens a second on this laptop. A separate speed test measured about 63, and it has no saved run file, so I label it as a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make the model small enough to run here. The first is 4-bit compression. Most stored numbers are rounded to 4 bits, which brings the file down to about 695 MB. The second is WebGPU, the browser's way to run work on the graphics card. The first use also waits about half a minute while the card compiles its programs.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compares the first use with later use for the short article. The first use downloads about 695 MB, and that download took 158.3 seconds on the developer's connection. Later use skips the download and takes about 15 to 18 seconds. I show the run before the label fix as well, because it had a wrong line on screen. I quote the after-fix run, and I say which run I quote.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has layers. The popup only has a button and shows progress. The service worker owns the job, and it asks a hidden offscreen page to do the heavy work. That page holds the loaded model and runs a web worker, which runs the WebLLM library. WebLLM sends the calculations to the graphics card through WebGPU.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files are kept in IndexedDB, which is the browser's own storage for the extension. The job record sits in session storage, and it is removed when its tab closes. The loaded model lives in graphics memory and is freed after five idle minutes. For the offline proof, I blocked the outside websites and ran the short article, which took 17.7 seconds after the label fix.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offscreen page is a hidden page that Chrome lets an extension open for a heavy task. It has no tabs and no storage access, so it talks only by messages. The service worker sends three kinds of request, and the page sends progress and keepalive messages back. The page closes five minutes after its last message ends, and that frees the graphics memory.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checks the graphics card before anything else. Without WebGPU or the 16-bit math feature it refuses and says why. On built-in graphics, like the client's laptop, it keeps the accurate main model and instead reads less of a long page. The reader can choose Fast in Settings, which uses the small model, but I measured that its summaries are often wrong. A memory failure also sends the extension to the small model, and that choice stays until the stored settings are cleared.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measured how fast each small model reads and writes on the built-in Intel chip. Reading is the slow part: the chip reads only 15 to 40 tokens a second, whatever the model size, and a normal part of 6,000 characters is about 1,440 tokens. That is why one part takes a minute or more, and why a smaller model does not help much. The separate NVIDIA card reads about 40 times faster. The developer laptop has both chips, but the client's laptop has only the Intel one, so the Intel numbers are the ones that matter for the client. All of these numbers are from a hidden test browser on the developer laptop, not from the client's laptop.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page costs time in proportion to the text the model must read. On the Wikipedia Lighthouse page, a quarter of the text is notes and bibliography, so that is cut first. On built-in graphics the extension then keeps the opening in full and the first sentences of the paragraphs, spread over the page, which is about 6,000 characters or one part. The popup says how much was read, and a button reads the whole page if the person wants it. This took the Lighthouse page from 616 seconds to 125 seconds, and the summary was accurate. The cost is coverage: the summary rests on about a fifth of the 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reader sees on first use. The button says Download model and summarize, and the model line says the model is not downloaded yet. After the download and the load, the popup shows the warm-up line, because the first answer compiles the graphics programs. These pictures were made with the pretend model, so the sizes on them are its fixed numbers. The real download was about 695 MB.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finished summary. The stats line shows the parts, the requests, the time and the model. In the second picture, the main model ran out of graphics memory, so SmolLM2 wrote the summary, and the popup says it may be less detailed. This fallback used to be silent, and I added the notice after a screenshot run showed the gap. Both pictures were made with the pretend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failure has one code and one plain message. The reader sees the message in the popup, and the technical detail goes to the console. The table shows six of the thirteen codes. Two of the refusals happen before any download: a page that is too long, and a page that Chrome does not let an extension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client uses four scripts. setup.bat checks Chrome and the files, and it ends with SETUP COMPLETE or SETUP FAILED. run.bat opens the extensions page, and the client clicks Load unpacked by hand. check-computer.ps1 reports the laptop's memory, graphics chips and free space. The setup.bat --gpu option changes a Windows setting, so it runs only when the client asks for it. The client's laptop has one graphics chip, so the graphics switch is not needed there. The first use downloads about 695 megabytes.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tests run at three levels. There are 93 unit tests, which check the small rules without a browser or a network. There are 31 browser scenarios, which run in a hidden Chromium with a pretend model, and they all pass. The 15 Windows script checks test the batch files and the PowerShell scripts. The four clean real-model run files are the only numbers I quote for speed.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clean runs. The first three rows are the NVIDIA card. The fourth row is the old Intel result, before the speed work: ten minutes for the Lighthouse page. The next three rows are the Intel chip with the new defaults: the accurate main model, long pages shortened, and short answers. The Lighthouse page now takes about two minutes. The last row is the Fast setting. It is quicker, but its Lighthouse summary only repeated the prompt, which is why Fast is not the default. None of these numbers comes from the client's laptop. I expect about two minutes there, and I will measure it. I also timed the Lighthouse page three times in a row in a visible Chrome window on mains power: 118.7, 101.7 and 116.7 seconds, a little quicker than the hidden browser's 124.6 seconds, with no slowdown across the three runs. So the hidden test browser is not what makes reading slow; the chip 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met four real problems on 21 October, and each one is written in the development log. The first was the graphics chip: Chrome picked the weak Intel chip, so the first answers were very slow. The second was the model cache, which failed inside the hidden page until I switched the storage. The third was silent: the small model wrote summaries with no sign on screen. The fourth was a wrong Downloading line on a model that was already stored. The fifth problem came from the real Chrome on 24 October. On the long Wikipedia page the popup only said that something went wrong inside the extension. I repeated it in a hidden browser and found two weak spots: one answer on the Intel chip took longer than the three-minute limit, and a part that did not fit the model's window was reported as a vague error. Now such a part is cut in half and tried again, the answer limit is ten minutes, and the popup shows a technical detail line. The sixth problem came from the client's laptop details. It has only built-in graphics, and a long page took about ten minutes there. I measured where the time went and found it was reading, not writing. I asked a stronger model for advice, and then built the shorter reading. The Lighthouse page went from 616 seconds to 125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things are not finished, and I want to be exact about them. The client's laptop details are known, but I have not run the extension on it, so its real speed is not measured. Most of my speed numbers come from a hidden test browser on the developer laptop. I also timed a visible window, three runs in a row, and it was about ten percent quicker, but nothing was timed on the client's laptop. A shortened summary rests on about a fifth of a long page, and reading the whole page takes five to twelve minutes on this kind of chip. The model is small and made for English. I did not try a different engine, because a stronger model advised me to measure in a visible window first. Cutting a too-long part in half is covered by unit tests and the pretend model, because no real part overflowed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follows the steps in the knowledge-transfer document. I start from the extensions page, so the audience sees that no key is needed. Then I summarize the Lighthouse article, and after that I turn off the network for a short article. I also show two refusals, so the audience sees that the code stops early.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The code, the tests and the setup scripts are in the finalsem project folder, and I can show any part of them. The speed figures I quoted are from clean runs, and the other runs are listed with the reason they are left out. I am happy to take questions now. If a question is about something not built or not tested, I will say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pic>
        <p:nvPicPr>
          <p:cNvPr id="2" name="Picture 1" descr="BITS Pilani logo"/>
          <p:cNvPicPr>
            <a:picLocks noChangeAspect="1"/>
          </p:cNvPicPr>
          <p:nvPr/>
        </p:nvPicPr>
        <p:blipFill>
          <a:blip r:embed="rId2"/>
          <a:stretch>
            <a:fillRect/>
          </a:stretch>
        </p:blipFill>
        <p:spPr>
          <a:xfrm>
            <a:off x="685800" y="640080"/>
            <a:ext cx="892479" cy="868680"/>
          </a:xfrm>
          <a:prstGeom prst="rect">
            <a:avLst/>
          </a:prstGeom>
        </p:spPr>
      </p:pic>
      <p:sp>
        <p:nvSpPr>
          <p:cNvPr id="3" name="Rectangle 2"/>
          <p:cNvSpPr/>
          <p:nvPr/>
        </p:nvSpPr>
        <p:spPr>
          <a:xfrm>
            <a:off x="685800" y="1874519"/>
            <a:ext cx="109728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57400"/>
            <a:ext cx="10820095" cy="1371600"/>
          </a:xfrm>
          <a:prstGeom prst="rect">
            <a:avLst/>
          </a:prstGeom>
          <a:noFill/>
        </p:spPr>
        <p:txBody>
          <a:bodyPr wrap="square" anchor="t" lIns="45720" rIns="45720" tIns="27432" bIns="27432">
            <a:spAutoFit/>
          </a:bodyPr>
          <a:lstStyle/>
          <a:p>
            <a:pPr algn="l"/>
            <a:r>
              <a:rPr sz="4400" b="1" i="0">
                <a:solidFill>
                  <a:srgbClr val="1C1B1A"/>
                </a:solidFill>
                <a:latin typeface="Georgia"/>
              </a:rPr>
              <a:t>AI-Powered Web Page Summarizer</a:t>
            </a:r>
          </a:p>
        </p:txBody>
      </p:sp>
      <p:sp>
        <p:nvSpPr>
          <p:cNvPr id="5" name="TextBox 4"/>
          <p:cNvSpPr txBox="1"/>
          <p:nvPr/>
        </p:nvSpPr>
        <p:spPr>
          <a:xfrm>
            <a:off x="685800" y="3429000"/>
            <a:ext cx="10820095" cy="548640"/>
          </a:xfrm>
          <a:prstGeom prst="rect">
            <a:avLst/>
          </a:prstGeom>
          <a:noFill/>
        </p:spPr>
        <p:txBody>
          <a:bodyPr wrap="square" anchor="t" lIns="45720" rIns="45720" tIns="27432" bIns="27432">
            <a:spAutoFit/>
          </a:bodyPr>
          <a:lstStyle/>
          <a:p>
            <a:pPr algn="l"/>
            <a:r>
              <a:rPr sz="2400" b="0" i="0">
                <a:solidFill>
                  <a:srgbClr val="6B665C"/>
                </a:solidFill>
                <a:latin typeface="Segoe UI"/>
              </a:rPr>
              <a:t>A Chrome extension that runs a small language model on this laptop</a:t>
            </a:r>
          </a:p>
        </p:txBody>
      </p:sp>
      <p:cxnSp>
        <p:nvCxnSpPr>
          <p:cNvPr id="6" name="Connector 5"/>
          <p:cNvCxnSpPr/>
          <p:nvPr/>
        </p:nvCxnSpPr>
        <p:spPr>
          <a:xfrm>
            <a:off x="685800" y="4206240"/>
            <a:ext cx="10820095" cy="0"/>
          </a:xfrm>
          <a:prstGeom prst="line">
            <a:avLst/>
          </a:prstGeom>
          <a:ln w="9525">
            <a:solidFill>
              <a:srgbClr val="D9D2C3"/>
            </a:solidFill>
          </a:ln>
        </p:spPr>
      </p:cxnSp>
      <p:sp>
        <p:nvSpPr>
          <p:cNvPr id="7" name="TextBox 6"/>
          <p:cNvSpPr txBox="1"/>
          <p:nvPr/>
        </p:nvSpPr>
        <p:spPr>
          <a:xfrm>
            <a:off x="685800" y="4434840"/>
            <a:ext cx="10820095" cy="365760"/>
          </a:xfrm>
          <a:prstGeom prst="rect">
            <a:avLst/>
          </a:prstGeom>
          <a:noFill/>
        </p:spPr>
        <p:txBody>
          <a:bodyPr wrap="square" anchor="t" lIns="45720" rIns="45720" tIns="27432" bIns="27432">
            <a:spAutoFit/>
          </a:bodyPr>
          <a:lstStyle/>
          <a:p>
            <a:pPr algn="l"/>
            <a:r>
              <a:rPr sz="1800" b="0" i="0">
                <a:solidFill>
                  <a:srgbClr val="1C1B1A"/>
                </a:solidFill>
                <a:latin typeface="Segoe UI"/>
              </a:rPr>
              <a:t>Final-Semester Review (Version 2)</a:t>
            </a:r>
          </a:p>
        </p:txBody>
      </p:sp>
      <p:sp>
        <p:nvSpPr>
          <p:cNvPr id="8" name="TextBox 7"/>
          <p:cNvSpPr txBox="1"/>
          <p:nvPr/>
        </p:nvSpPr>
        <p:spPr>
          <a:xfrm>
            <a:off x="685800" y="4818888"/>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Student Name]  |  BITS ID [Insert BITS ID]</a:t>
            </a:r>
          </a:p>
        </p:txBody>
      </p:sp>
      <p:sp>
        <p:nvSpPr>
          <p:cNvPr id="9" name="TextBox 8"/>
          <p:cNvSpPr txBox="1"/>
          <p:nvPr/>
        </p:nvSpPr>
        <p:spPr>
          <a:xfrm>
            <a:off x="685800" y="5202936"/>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Degree Program]  |  Course No. [Insert Course No.]</a:t>
            </a:r>
          </a:p>
        </p:txBody>
      </p:sp>
      <p:sp>
        <p:nvSpPr>
          <p:cNvPr id="10" name="TextBox 9"/>
          <p:cNvSpPr txBox="1"/>
          <p:nvPr/>
        </p:nvSpPr>
        <p:spPr>
          <a:xfrm>
            <a:off x="685800" y="5586984"/>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Project carried out at [Insert Organization Name &amp; Location]</a:t>
            </a:r>
          </a:p>
        </p:txBody>
      </p:sp>
      <p:sp>
        <p:nvSpPr>
          <p:cNvPr id="11" name="TextBox 10"/>
          <p:cNvSpPr txBox="1"/>
          <p:nvPr/>
        </p:nvSpPr>
        <p:spPr>
          <a:xfrm>
            <a:off x="685800" y="5971032"/>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Birla Institute of Technology &amp; Science, Pilani (Rajasthan)</a:t>
            </a:r>
          </a:p>
        </p:txBody>
      </p:sp>
      <p:sp>
        <p:nvSpPr>
          <p:cNvPr id="12" name="TextBox 11"/>
          <p:cNvSpPr txBox="1"/>
          <p:nvPr/>
        </p:nvSpPr>
        <p:spPr>
          <a:xfrm>
            <a:off x="685800" y="6355080"/>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Month and Year]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I will cover</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Version 1 and what it could not do</a:t>
            </a:r>
          </a:p>
          <a:p>
            <a:pPr marL="320040" indent="-320040">
              <a:lnSpc>
                <a:spcPct val="105000"/>
              </a:lnSpc>
              <a:spcAft>
                <a:spcPts val="1200"/>
              </a:spcAft>
              <a:buClr>
                <a:srgbClr val="B4391F"/>
              </a:buClr>
              <a:buFont typeface="Arial"/>
              <a:buChar char="•"/>
            </a:pPr>
            <a:r>
              <a:rPr sz="2200">
                <a:solidFill>
                  <a:srgbClr val="1C1B1A"/>
                </a:solidFill>
                <a:latin typeface="Segoe UI"/>
              </a:rPr>
              <a:t>What a language model is, and how this one writes</a:t>
            </a:r>
          </a:p>
          <a:p>
            <a:pPr marL="320040" indent="-320040">
              <a:lnSpc>
                <a:spcPct val="105000"/>
              </a:lnSpc>
              <a:spcAft>
                <a:spcPts val="1200"/>
              </a:spcAft>
              <a:buClr>
                <a:srgbClr val="B4391F"/>
              </a:buClr>
              <a:buFont typeface="Arial"/>
              <a:buChar char="•"/>
            </a:pPr>
            <a:r>
              <a:rPr sz="2200">
                <a:solidFill>
                  <a:srgbClr val="1C1B1A"/>
                </a:solidFill>
                <a:latin typeface="Segoe UI"/>
              </a:rPr>
              <a:t>How the model gets onto the laptop, and the parts that run it</a:t>
            </a:r>
          </a:p>
          <a:p>
            <a:pPr marL="320040" indent="-320040">
              <a:lnSpc>
                <a:spcPct val="105000"/>
              </a:lnSpc>
              <a:spcAft>
                <a:spcPts val="1200"/>
              </a:spcAft>
              <a:buClr>
                <a:srgbClr val="B4391F"/>
              </a:buClr>
              <a:buFont typeface="Arial"/>
              <a:buChar char="•"/>
            </a:pPr>
            <a:r>
              <a:rPr sz="2200">
                <a:solidFill>
                  <a:srgbClr val="1C1B1A"/>
                </a:solidFill>
                <a:latin typeface="Segoe UI"/>
              </a:rPr>
              <a:t>The popup, the errors and the setup</a:t>
            </a:r>
          </a:p>
          <a:p>
            <a:pPr marL="320040" indent="-320040">
              <a:lnSpc>
                <a:spcPct val="105000"/>
              </a:lnSpc>
              <a:spcAft>
                <a:spcPts val="1200"/>
              </a:spcAft>
              <a:buClr>
                <a:srgbClr val="B4391F"/>
              </a:buClr>
              <a:buFont typeface="Arial"/>
              <a:buChar char="•"/>
            </a:pPr>
            <a:r>
              <a:rPr sz="2200">
                <a:solidFill>
                  <a:srgbClr val="1C1B1A"/>
                </a:solidFill>
                <a:latin typeface="Segoe UI"/>
              </a:rPr>
              <a:t>Testing, measured results and the problems I met</a:t>
            </a:r>
          </a:p>
          <a:p>
            <a:pPr marL="320040" indent="-320040">
              <a:lnSpc>
                <a:spcPct val="105000"/>
              </a:lnSpc>
              <a:spcAft>
                <a:spcPts val="1200"/>
              </a:spcAft>
              <a:buClr>
                <a:srgbClr val="B4391F"/>
              </a:buClr>
              <a:buFont typeface="Arial"/>
              <a:buChar char="•"/>
            </a:pPr>
            <a:r>
              <a:rPr sz="2200">
                <a:solidFill>
                  <a:srgbClr val="1C1B1A"/>
                </a:solidFill>
                <a:latin typeface="Segoe UI"/>
              </a:rPr>
              <a:t>What is not done, the demo plan and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Version 1 and its limits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3</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Version 1 summarizes the open page with a free Gemini key, pasted once into the popup.</a:t>
            </a:r>
          </a:p>
          <a:p>
            <a:pPr marL="320040" indent="-320040">
              <a:lnSpc>
                <a:spcPct val="105000"/>
              </a:lnSpc>
              <a:spcAft>
                <a:spcPts val="1200"/>
              </a:spcAft>
              <a:buClr>
                <a:srgbClr val="B4391F"/>
              </a:buClr>
              <a:buFont typeface="Arial"/>
              <a:buChar char="•"/>
            </a:pPr>
            <a:r>
              <a:rPr sz="2200">
                <a:solidFill>
                  <a:srgbClr val="1C1B1A"/>
                </a:solidFill>
                <a:latin typeface="Segoe UI"/>
              </a:rPr>
              <a:t>Each part of a page is sent to Google, so the page text leaves this laptop.</a:t>
            </a:r>
          </a:p>
          <a:p>
            <a:pPr marL="320040" indent="-320040">
              <a:lnSpc>
                <a:spcPct val="105000"/>
              </a:lnSpc>
              <a:spcAft>
                <a:spcPts val="1200"/>
              </a:spcAft>
              <a:buClr>
                <a:srgbClr val="B4391F"/>
              </a:buClr>
              <a:buFont typeface="Arial"/>
              <a:buChar char="•"/>
            </a:pPr>
            <a:r>
              <a:rPr sz="2200">
                <a:solidFill>
                  <a:srgbClr val="1C1B1A"/>
                </a:solidFill>
                <a:latin typeface="Segoe UI"/>
              </a:rPr>
              <a:t>Every summary needs the internet, and the free quota ran out during the live runs.</a:t>
            </a:r>
          </a:p>
          <a:p>
            <a:pPr marL="320040" indent="-320040">
              <a:lnSpc>
                <a:spcPct val="105000"/>
              </a:lnSpc>
              <a:spcAft>
                <a:spcPts val="1200"/>
              </a:spcAft>
              <a:buClr>
                <a:srgbClr val="B4391F"/>
              </a:buClr>
              <a:buFont typeface="Arial"/>
              <a:buChar char="•"/>
            </a:pPr>
            <a:r>
              <a:rPr sz="2200">
                <a:solidFill>
                  <a:srgbClr val="1C1B1A"/>
                </a:solidFill>
                <a:latin typeface="Segoe UI"/>
              </a:rPr>
              <a:t>Version 2 keeps the popup, the page reader and the job handling. Only the engine changes.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Version 2 changes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4</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2567480"/>
                <a:gridCol w="4034611"/>
                <a:gridCol w="4218003"/>
              </a:tblGrid>
              <a:tr h="566928">
                <a:tc>
                  <a:txBody>
                    <a:bodyPr/>
                    <a:lstStyle/>
                    <a:p>
                      <a:r>
                        <a:rPr sz="1600" b="1">
                          <a:solidFill>
                            <a:srgbClr val="1C1B1A"/>
                          </a:solidFill>
                          <a:latin typeface="Segoe UI"/>
                        </a:rPr>
                        <a:t>Measure</a:t>
                      </a:r>
                    </a:p>
                  </a:txBody>
                  <a:tcPr anchor="ctr" marL="91440" marR="91440" marT="27432" marB="27432">
                    <a:lnB w="12700">
                      <a:solidFill>
                        <a:srgbClr val="1C1B1A"/>
                      </a:solidFill>
                    </a:lnB>
                    <a:noFill/>
                  </a:tcPr>
                </a:tc>
                <a:tc>
                  <a:txBody>
                    <a:bodyPr/>
                    <a:lstStyle/>
                    <a:p>
                      <a:r>
                        <a:rPr sz="1600" b="1">
                          <a:solidFill>
                            <a:srgbClr val="1C1B1A"/>
                          </a:solidFill>
                          <a:latin typeface="Segoe UI"/>
                        </a:rPr>
                        <a:t>Version 1 (cloud Gemini)</a:t>
                      </a:r>
                    </a:p>
                  </a:txBody>
                  <a:tcPr anchor="ctr" marL="91440" marR="91440" marT="27432" marB="27432">
                    <a:lnB w="12700">
                      <a:solidFill>
                        <a:srgbClr val="1C1B1A"/>
                      </a:solidFill>
                    </a:lnB>
                    <a:noFill/>
                  </a:tcPr>
                </a:tc>
                <a:tc>
                  <a:txBody>
                    <a:bodyPr/>
                    <a:lstStyle/>
                    <a:p>
                      <a:r>
                        <a:rPr sz="1600" b="1">
                          <a:solidFill>
                            <a:srgbClr val="1C1B1A"/>
                          </a:solidFill>
                          <a:latin typeface="Segoe UI"/>
                        </a:rPr>
                        <a:t>Version 2 (this laptop)</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Model</a:t>
                      </a:r>
                    </a:p>
                  </a:txBody>
                  <a:tcPr anchor="ctr" marL="91440" marR="91440" marT="27432" marB="27432">
                    <a:lnB w="9525">
                      <a:solidFill>
                        <a:srgbClr val="D9D2C3"/>
                      </a:solidFill>
                    </a:lnB>
                    <a:noFill/>
                  </a:tcPr>
                </a:tc>
                <a:tc>
                  <a:txBody>
                    <a:bodyPr/>
                    <a:lstStyle/>
                    <a:p>
                      <a:r>
                        <a:rPr sz="1600" b="0">
                          <a:solidFill>
                            <a:srgbClr val="1C1B1A"/>
                          </a:solidFill>
                          <a:latin typeface="Segoe UI"/>
                        </a:rPr>
                        <a:t>gemini-3.5-flash-lite, run by Google</a:t>
                      </a:r>
                    </a:p>
                  </a:txBody>
                  <a:tcPr anchor="ctr" marL="91440" marR="91440" marT="27432" marB="27432">
                    <a:lnB w="9525">
                      <a:solidFill>
                        <a:srgbClr val="D9D2C3"/>
                      </a:solidFill>
                    </a:lnB>
                    <a:noFill/>
                  </a:tcPr>
                </a:tc>
                <a:tc>
                  <a:txBody>
                    <a:bodyPr/>
                    <a:lstStyle/>
                    <a:p>
                      <a:r>
                        <a:rPr sz="1600" b="0">
                          <a:solidFill>
                            <a:srgbClr val="1C1B1A"/>
                          </a:solidFill>
                          <a:latin typeface="Segoe UI"/>
                        </a:rPr>
                        <a:t>Llama 3.2 1B on this laptop's graphics (SmolLM2 360M as a Fast choice)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API key</a:t>
                      </a:r>
                    </a:p>
                  </a:txBody>
                  <a:tcPr anchor="ctr" marL="91440" marR="91440" marT="27432" marB="27432">
                    <a:lnB w="9525">
                      <a:solidFill>
                        <a:srgbClr val="D9D2C3"/>
                      </a:solidFill>
                    </a:lnB>
                    <a:noFill/>
                  </a:tcPr>
                </a:tc>
                <a:tc>
                  <a:txBody>
                    <a:bodyPr/>
                    <a:lstStyle/>
                    <a:p>
                      <a:r>
                        <a:rPr sz="1600" b="0">
                          <a:solidFill>
                            <a:srgbClr val="1C1B1A"/>
                          </a:solidFill>
                          <a:latin typeface="Segoe UI"/>
                        </a:rPr>
                        <a:t>Needed: a free key, pasted in the popup</a:t>
                      </a:r>
                    </a:p>
                  </a:txBody>
                  <a:tcPr anchor="ctr" marL="91440" marR="91440" marT="27432" marB="27432">
                    <a:lnB w="9525">
                      <a:solidFill>
                        <a:srgbClr val="D9D2C3"/>
                      </a:solidFill>
                    </a:lnB>
                    <a:noFill/>
                  </a:tcPr>
                </a:tc>
                <a:tc>
                  <a:txBody>
                    <a:bodyPr/>
                    <a:lstStyle/>
                    <a:p>
                      <a:r>
                        <a:rPr sz="1600" b="0">
                          <a:solidFill>
                            <a:srgbClr val="1C1B1A"/>
                          </a:solidFill>
                          <a:latin typeface="Segoe UI"/>
                        </a:rPr>
                        <a:t>Not needed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Internet</a:t>
                      </a:r>
                    </a:p>
                  </a:txBody>
                  <a:tcPr anchor="ctr" marL="91440" marR="91440" marT="27432" marB="27432">
                    <a:lnB w="9525">
                      <a:solidFill>
                        <a:srgbClr val="D9D2C3"/>
                      </a:solidFill>
                    </a:lnB>
                    <a:noFill/>
                  </a:tcPr>
                </a:tc>
                <a:tc>
                  <a:txBody>
                    <a:bodyPr/>
                    <a:lstStyle/>
                    <a:p>
                      <a:r>
                        <a:rPr sz="1600" b="0">
                          <a:solidFill>
                            <a:srgbClr val="1C1B1A"/>
                          </a:solidFill>
                          <a:latin typeface="Segoe UI"/>
                        </a:rPr>
                        <a:t>Needed for every summary</a:t>
                      </a:r>
                    </a:p>
                  </a:txBody>
                  <a:tcPr anchor="ctr" marL="91440" marR="91440" marT="27432" marB="27432">
                    <a:lnB w="9525">
                      <a:solidFill>
                        <a:srgbClr val="D9D2C3"/>
                      </a:solidFill>
                    </a:lnB>
                    <a:noFill/>
                  </a:tcPr>
                </a:tc>
                <a:tc>
                  <a:txBody>
                    <a:bodyPr/>
                    <a:lstStyle/>
                    <a:p>
                      <a:r>
                        <a:rPr sz="1600" b="0">
                          <a:solidFill>
                            <a:srgbClr val="1C1B1A"/>
                          </a:solidFill>
                          <a:latin typeface="Segoe UI"/>
                        </a:rPr>
                        <a:t>Once, to download about 695 MB</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Where page text goes</a:t>
                      </a:r>
                    </a:p>
                  </a:txBody>
                  <a:tcPr anchor="ctr" marL="91440" marR="91440" marT="27432" marB="27432">
                    <a:lnB w="9525">
                      <a:solidFill>
                        <a:srgbClr val="D9D2C3"/>
                      </a:solidFill>
                    </a:lnB>
                    <a:noFill/>
                  </a:tcPr>
                </a:tc>
                <a:tc>
                  <a:txBody>
                    <a:bodyPr/>
                    <a:lstStyle/>
                    <a:p>
                      <a:r>
                        <a:rPr sz="1600" b="0">
                          <a:solidFill>
                            <a:srgbClr val="1C1B1A"/>
                          </a:solidFill>
                          <a:latin typeface="Segoe UI"/>
                        </a:rPr>
                        <a:t>Sent to Google over HTTPS</a:t>
                      </a:r>
                    </a:p>
                  </a:txBody>
                  <a:tcPr anchor="ctr" marL="91440" marR="91440" marT="27432" marB="27432">
                    <a:lnB w="9525">
                      <a:solidFill>
                        <a:srgbClr val="D9D2C3"/>
                      </a:solidFill>
                    </a:lnB>
                    <a:noFill/>
                  </a:tcPr>
                </a:tc>
                <a:tc>
                  <a:txBody>
                    <a:bodyPr/>
                    <a:lstStyle/>
                    <a:p>
                      <a:r>
                        <a:rPr sz="1600" b="0">
                          <a:solidFill>
                            <a:srgbClr val="1C1B1A"/>
                          </a:solidFill>
                          <a:latin typeface="Segoe UI"/>
                        </a:rPr>
                        <a:t>Stays on this laptop</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Free-tier limit</a:t>
                      </a:r>
                    </a:p>
                  </a:txBody>
                  <a:tcPr anchor="ctr" marL="91440" marR="91440" marT="27432" marB="27432">
                    <a:lnB w="9525">
                      <a:solidFill>
                        <a:srgbClr val="D9D2C3"/>
                      </a:solidFill>
                    </a:lnB>
                    <a:noFill/>
                  </a:tcPr>
                </a:tc>
                <a:tc>
                  <a:txBody>
                    <a:bodyPr/>
                    <a:lstStyle/>
                    <a:p>
                      <a:r>
                        <a:rPr sz="1600" b="0">
                          <a:solidFill>
                            <a:srgbClr val="1C1B1A"/>
                          </a:solidFill>
                          <a:latin typeface="Segoe UI"/>
                        </a:rPr>
                        <a:t>Quota named by the service (15 a minute for the default model)</a:t>
                      </a:r>
                    </a:p>
                  </a:txBody>
                  <a:tcPr anchor="ctr" marL="91440" marR="91440" marT="27432" marB="27432">
                    <a:lnB w="9525">
                      <a:solidFill>
                        <a:srgbClr val="D9D2C3"/>
                      </a:solidFill>
                    </a:lnB>
                    <a:noFill/>
                  </a:tcPr>
                </a:tc>
                <a:tc>
                  <a:txBody>
                    <a:bodyPr/>
                    <a:lstStyle/>
                    <a:p>
                      <a:r>
                        <a:rPr sz="1600" b="0">
                          <a:solidFill>
                            <a:srgbClr val="1C1B1A"/>
                          </a:solidFill>
                          <a:latin typeface="Segoe UI"/>
                        </a:rPr>
                        <a:t>No service quota; a page over 12 parts is refused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Speed</a:t>
                      </a:r>
                    </a:p>
                  </a:txBody>
                  <a:tcPr anchor="ctr" marL="91440" marR="91440" marT="27432" marB="27432">
                    <a:lnB w="9525">
                      <a:solidFill>
                        <a:srgbClr val="D9D2C3"/>
                      </a:solidFill>
                    </a:lnB>
                    <a:noFill/>
                  </a:tcPr>
                </a:tc>
                <a:tc>
                  <a:txBody>
                    <a:bodyPr/>
                    <a:lstStyle/>
                    <a:p>
                      <a:r>
                        <a:rPr sz="1600" b="0">
                          <a:solidFill>
                            <a:srgbClr val="1C1B1A"/>
                          </a:solidFill>
                          <a:latin typeface="Segoe UI"/>
                        </a:rPr>
                        <a:t>Measured in the mid-semester deck</a:t>
                      </a:r>
                    </a:p>
                  </a:txBody>
                  <a:tcPr anchor="ctr" marL="91440" marR="91440" marT="27432" marB="27432">
                    <a:lnB w="9525">
                      <a:solidFill>
                        <a:srgbClr val="D9D2C3"/>
                      </a:solidFill>
                    </a:lnB>
                    <a:noFill/>
                  </a:tcPr>
                </a:tc>
                <a:tc>
                  <a:txBody>
                    <a:bodyPr/>
                    <a:lstStyle/>
                    <a:p>
                      <a:r>
                        <a:rPr sz="1600" b="0">
                          <a:solidFill>
                            <a:srgbClr val="1C1B1A"/>
                          </a:solidFill>
                          <a:latin typeface="Segoe UI"/>
                        </a:rPr>
                        <a:t>A long page in about 2 minutes on built-in Intel graphics (124.6 s measured); a short page in 15 to 18 s on NVIDIA</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Summary quality was not measured in either version. Version 1 timings are in the mid-semester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a language model is, and the numbers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5</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What it is</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A language model guesses the next piece of text, one piece at a time.</a:t>
            </a:r>
          </a:p>
          <a:p>
            <a:pPr marL="320040" indent="-320040">
              <a:lnSpc>
                <a:spcPct val="105000"/>
              </a:lnSpc>
              <a:spcAft>
                <a:spcPts val="1200"/>
              </a:spcAft>
              <a:buClr>
                <a:srgbClr val="B4391F"/>
              </a:buClr>
              <a:buFont typeface="Arial"/>
              <a:buChar char="•"/>
            </a:pPr>
            <a:r>
              <a:rPr sz="2000">
                <a:solidFill>
                  <a:srgbClr val="1C1B1A"/>
                </a:solidFill>
                <a:latin typeface="Segoe UI"/>
              </a:rPr>
              <a:t>Learning set its stored numbers, called parameters. The project only reads them.</a:t>
            </a:r>
          </a:p>
          <a:p>
            <a:pPr marL="320040" indent="-320040">
              <a:lnSpc>
                <a:spcPct val="105000"/>
              </a:lnSpc>
              <a:spcAft>
                <a:spcPts val="1200"/>
              </a:spcAft>
              <a:buClr>
                <a:srgbClr val="B4391F"/>
              </a:buClr>
              <a:buFont typeface="Arial"/>
              <a:buChar char="•"/>
            </a:pPr>
            <a:r>
              <a:rPr sz="2000">
                <a:solidFill>
                  <a:srgbClr val="1C1B1A"/>
                </a:solidFill>
                <a:latin typeface="Segoe UI"/>
              </a:rPr>
              <a:t>The model here is Llama 3.2 1B, tuned to follow plain requests in English.</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The numbers</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A token is a piece of text, about four characters of English. A rule of thumb.</a:t>
            </a:r>
          </a:p>
          <a:p>
            <a:pPr marL="320040" indent="-320040">
              <a:lnSpc>
                <a:spcPct val="105000"/>
              </a:lnSpc>
              <a:spcAft>
                <a:spcPts val="1200"/>
              </a:spcAft>
              <a:buClr>
                <a:srgbClr val="B4391F"/>
              </a:buClr>
              <a:buFont typeface="Arial"/>
              <a:buChar char="•"/>
            </a:pPr>
            <a:r>
              <a:rPr sz="2000">
                <a:solidFill>
                  <a:srgbClr val="1C1B1A"/>
                </a:solidFill>
                <a:latin typeface="Segoe UI"/>
              </a:rPr>
              <a:t>A part of 6,000 characters is about 1,500 tokens.</a:t>
            </a:r>
          </a:p>
          <a:p>
            <a:pPr marL="320040" indent="-320040">
              <a:lnSpc>
                <a:spcPct val="105000"/>
              </a:lnSpc>
              <a:spcAft>
                <a:spcPts val="1200"/>
              </a:spcAft>
              <a:buClr>
                <a:srgbClr val="B4391F"/>
              </a:buClr>
              <a:buFont typeface="Arial"/>
              <a:buChar char="•"/>
            </a:pPr>
            <a:r>
              <a:rPr sz="2000">
                <a:solidFill>
                  <a:srgbClr val="1C1B1A"/>
                </a:solidFill>
                <a:latin typeface="Segoe UI"/>
              </a:rPr>
              <a:t>Context window: 4,096 tokens. Like a desk that holds only so many pages.</a:t>
            </a:r>
          </a:p>
          <a:p>
            <a:pPr marL="320040" indent="-320040">
              <a:lnSpc>
                <a:spcPct val="105000"/>
              </a:lnSpc>
              <a:spcAft>
                <a:spcPts val="1200"/>
              </a:spcAft>
              <a:buClr>
                <a:srgbClr val="B4391F"/>
              </a:buClr>
              <a:buFont typeface="Arial"/>
              <a:buChar char="•"/>
            </a:pPr>
            <a:r>
              <a:rPr sz="2000">
                <a:solidFill>
                  <a:srgbClr val="1C1B1A"/>
                </a:solidFill>
                <a:latin typeface="Segoe UI"/>
              </a:rPr>
              <a:t>The instructions, the part and the answer must all fit in it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How a model writes: reading, then one token at a time</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6</a:t>
            </a:r>
          </a:p>
        </p:txBody>
      </p:sp>
      <p:graphicFrame>
        <p:nvGraphicFramePr>
          <p:cNvPr id="7" name="Table 6"/>
          <p:cNvGraphicFramePr>
            <a:graphicFrameLocks noGrp="1"/>
          </p:cNvGraphicFramePr>
          <p:nvPr/>
        </p:nvGraphicFramePr>
        <p:xfrm>
          <a:off x="685800" y="1600200"/>
          <a:ext cx="10820093" cy="2834640"/>
        </p:xfrm>
        <a:graphic>
          <a:graphicData uri="http://schemas.openxmlformats.org/drawingml/2006/table">
            <a:tbl>
              <a:tblPr firstRow="1">
                <a:tableStyleId>{2D5ABB26-0587-4C30-8999-92F81FD0307C}</a:tableStyleId>
              </a:tblPr>
              <a:tblGrid>
                <a:gridCol w="2384088"/>
                <a:gridCol w="4768177"/>
                <a:gridCol w="3667828"/>
              </a:tblGrid>
              <a:tr h="566928">
                <a:tc>
                  <a:txBody>
                    <a:bodyPr/>
                    <a:lstStyle/>
                    <a:p>
                      <a:r>
                        <a:rPr sz="1600" b="1">
                          <a:solidFill>
                            <a:srgbClr val="1C1B1A"/>
                          </a:solidFill>
                          <a:latin typeface="Segoe UI"/>
                        </a:rPr>
                        <a:t>Stage</a:t>
                      </a:r>
                    </a:p>
                  </a:txBody>
                  <a:tcPr anchor="ctr" marL="91440" marR="91440" marT="27432" marB="27432">
                    <a:lnB w="12700">
                      <a:solidFill>
                        <a:srgbClr val="1C1B1A"/>
                      </a:solidFill>
                    </a:lnB>
                    <a:noFill/>
                  </a:tcPr>
                </a:tc>
                <a:tc>
                  <a:txBody>
                    <a:bodyPr/>
                    <a:lstStyle/>
                    <a:p>
                      <a:r>
                        <a:rPr sz="1600" b="1">
                          <a:solidFill>
                            <a:srgbClr val="1C1B1A"/>
                          </a:solidFill>
                          <a:latin typeface="Segoe UI"/>
                        </a:rPr>
                        <a:t>Everyday picture</a:t>
                      </a:r>
                    </a:p>
                  </a:txBody>
                  <a:tcPr anchor="ctr" marL="91440" marR="91440" marT="27432" marB="27432">
                    <a:lnB w="12700">
                      <a:solidFill>
                        <a:srgbClr val="1C1B1A"/>
                      </a:solidFill>
                    </a:lnB>
                    <a:noFill/>
                  </a:tcPr>
                </a:tc>
                <a:tc>
                  <a:txBody>
                    <a:bodyPr/>
                    <a:lstStyle/>
                    <a:p>
                      <a:r>
                        <a:rPr sz="1600" b="1">
                          <a:solidFill>
                            <a:srgbClr val="1C1B1A"/>
                          </a:solidFill>
                          <a:latin typeface="Segoe UI"/>
                        </a:rPr>
                        <a:t>Measured on this laptop (NVIDIA RTX 3050)</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Reading (prefill)</a:t>
                      </a:r>
                    </a:p>
                  </a:txBody>
                  <a:tcPr anchor="ctr" marL="91440" marR="91440" marT="27432" marB="27432">
                    <a:lnB w="9525">
                      <a:solidFill>
                        <a:srgbClr val="D9D2C3"/>
                      </a:solidFill>
                    </a:lnB>
                    <a:noFill/>
                  </a:tcPr>
                </a:tc>
                <a:tc>
                  <a:txBody>
                    <a:bodyPr/>
                    <a:lstStyle/>
                    <a:p>
                      <a:r>
                        <a:rPr sz="1600" b="0">
                          <a:solidFill>
                            <a:srgbClr val="1C1B1A"/>
                          </a:solidFill>
                          <a:latin typeface="Segoe UI"/>
                        </a:rPr>
                        <a:t>Reads the whole prompt in one pass, like scanning a page first</a:t>
                      </a:r>
                    </a:p>
                  </a:txBody>
                  <a:tcPr anchor="ctr" marL="91440" marR="91440" marT="27432" marB="27432">
                    <a:lnB w="9525">
                      <a:solidFill>
                        <a:srgbClr val="D9D2C3"/>
                      </a:solidFill>
                    </a:lnB>
                    <a:noFill/>
                  </a:tcPr>
                </a:tc>
                <a:tc>
                  <a:txBody>
                    <a:bodyPr/>
                    <a:lstStyle/>
                    <a:p>
                      <a:r>
                        <a:rPr sz="1600" b="0">
                          <a:solidFill>
                            <a:srgbClr val="1C1B1A"/>
                          </a:solidFill>
                          <a:latin typeface="Segoe UI"/>
                        </a:rPr>
                        <a:t>About 600 tokens a second (speed test)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Writing (decode)</a:t>
                      </a:r>
                    </a:p>
                  </a:txBody>
                  <a:tcPr anchor="ctr" marL="91440" marR="91440" marT="27432" marB="27432">
                    <a:lnB w="9525">
                      <a:solidFill>
                        <a:srgbClr val="D9D2C3"/>
                      </a:solidFill>
                    </a:lnB>
                    <a:noFill/>
                  </a:tcPr>
                </a:tc>
                <a:tc>
                  <a:txBody>
                    <a:bodyPr/>
                    <a:lstStyle/>
                    <a:p>
                      <a:r>
                        <a:rPr sz="1600" b="0">
                          <a:solidFill>
                            <a:srgbClr val="1C1B1A"/>
                          </a:solidFill>
                          <a:latin typeface="Segoe UI"/>
                        </a:rPr>
                        <a:t>One new token per step, and each step looks back at everything before it</a:t>
                      </a:r>
                    </a:p>
                  </a:txBody>
                  <a:tcPr anchor="ctr" marL="91440" marR="91440" marT="27432" marB="27432">
                    <a:lnB w="9525">
                      <a:solidFill>
                        <a:srgbClr val="D9D2C3"/>
                      </a:solidFill>
                    </a:lnB>
                    <a:noFill/>
                  </a:tcPr>
                </a:tc>
                <a:tc>
                  <a:txBody>
                    <a:bodyPr/>
                    <a:lstStyle/>
                    <a:p>
                      <a:r>
                        <a:rPr sz="1600" b="0">
                          <a:solidFill>
                            <a:srgbClr val="1C1B1A"/>
                          </a:solidFill>
                          <a:latin typeface="Segoe UI"/>
                        </a:rPr>
                        <a:t>34 to 53 tokens a second in clean runs; about 63 in the speed test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First answer</a:t>
                      </a:r>
                    </a:p>
                  </a:txBody>
                  <a:tcPr anchor="ctr" marL="91440" marR="91440" marT="27432" marB="27432">
                    <a:lnB w="9525">
                      <a:solidFill>
                        <a:srgbClr val="D9D2C3"/>
                      </a:solidFill>
                    </a:lnB>
                    <a:noFill/>
                  </a:tcPr>
                </a:tc>
                <a:tc>
                  <a:txBody>
                    <a:bodyPr/>
                    <a:lstStyle/>
                    <a:p>
                      <a:r>
                        <a:rPr sz="1600" b="0">
                          <a:solidFill>
                            <a:srgbClr val="1C1B1A"/>
                          </a:solidFill>
                          <a:latin typeface="Segoe UI"/>
                        </a:rPr>
                        <a:t>The graphics programs are compiled once, like warming up an oven</a:t>
                      </a:r>
                    </a:p>
                  </a:txBody>
                  <a:tcPr anchor="ctr" marL="91440" marR="91440" marT="27432" marB="27432">
                    <a:lnB w="9525">
                      <a:solidFill>
                        <a:srgbClr val="D9D2C3"/>
                      </a:solidFill>
                    </a:lnB>
                    <a:noFill/>
                  </a:tcPr>
                </a:tc>
                <a:tc>
                  <a:txBody>
                    <a:bodyPr/>
                    <a:lstStyle/>
                    <a:p>
                      <a:r>
                        <a:rPr sz="1600" b="0">
                          <a:solidFill>
                            <a:srgbClr val="1C1B1A"/>
                          </a:solidFill>
                          <a:latin typeface="Segoe UI"/>
                        </a:rPr>
                        <a:t>About 30 s on first use; 0.5 s in a later offline run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Answer length</a:t>
                      </a:r>
                    </a:p>
                  </a:txBody>
                  <a:tcPr anchor="ctr" marL="91440" marR="91440" marT="27432" marB="27432">
                    <a:lnB w="9525">
                      <a:solidFill>
                        <a:srgbClr val="D9D2C3"/>
                      </a:solidFill>
                    </a:lnB>
                    <a:noFill/>
                  </a:tcPr>
                </a:tc>
                <a:tc>
                  <a:txBody>
                    <a:bodyPr/>
                    <a:lstStyle/>
                    <a:p>
                      <a:r>
                        <a:rPr sz="1600" b="0">
                          <a:solidFill>
                            <a:srgbClr val="1C1B1A"/>
                          </a:solidFill>
                          <a:latin typeface="Segoe UI"/>
                        </a:rPr>
                        <a:t>Stops at the last token, or at 300 tokens a part (320 for the final summary)</a:t>
                      </a:r>
                    </a:p>
                  </a:txBody>
                  <a:tcPr anchor="ctr" marL="91440" marR="91440" marT="27432" marB="27432">
                    <a:lnB w="9525">
                      <a:solidFill>
                        <a:srgbClr val="D9D2C3"/>
                      </a:solidFill>
                    </a:lnB>
                    <a:noFill/>
                  </a:tcPr>
                </a:tc>
                <a:tc>
                  <a:txBody>
                    <a:bodyPr/>
                    <a:lstStyle/>
                    <a:p>
                      <a:r>
                        <a:rPr sz="1600" b="0">
                          <a:solidFill>
                            <a:srgbClr val="1C1B1A"/>
                          </a:solidFill>
                          <a:latin typeface="Segoe UI"/>
                        </a:rPr>
                        <a:t>Set in the configuration file; not a measurement</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34 to 53 range is from saved clean runs. The run after the label fix reached 65 and 45 (slide 20). The speed test has no saved run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Getting the model onto the laptop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7</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The 4-bit file, about 695 MB</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Most stored numbers are kept in 4 bits, not 16. The model name q4f16_1 says so.</a:t>
            </a:r>
          </a:p>
          <a:p>
            <a:pPr marL="320040" indent="-320040">
              <a:lnSpc>
                <a:spcPct val="105000"/>
              </a:lnSpc>
              <a:spcAft>
                <a:spcPts val="1200"/>
              </a:spcAft>
              <a:buClr>
                <a:srgbClr val="B4391F"/>
              </a:buClr>
              <a:buFont typeface="Arial"/>
              <a:buChar char="•"/>
            </a:pPr>
            <a:r>
              <a:rPr sz="2000">
                <a:solidFill>
                  <a:srgbClr val="1C1B1A"/>
                </a:solidFill>
                <a:latin typeface="Segoe UI"/>
              </a:rPr>
              <a:t>One billion numbers at 4 bits take about 0.5 GB, so some parts keep more bits.</a:t>
            </a:r>
          </a:p>
          <a:p>
            <a:pPr marL="320040" indent="-320040">
              <a:lnSpc>
                <a:spcPct val="105000"/>
              </a:lnSpc>
              <a:spcAft>
                <a:spcPts val="1200"/>
              </a:spcAft>
              <a:buClr>
                <a:srgbClr val="B4391F"/>
              </a:buClr>
              <a:buFont typeface="Arial"/>
              <a:buChar char="•"/>
            </a:pPr>
            <a:r>
              <a:rPr sz="2000">
                <a:solidFill>
                  <a:srgbClr val="1C1B1A"/>
                </a:solidFill>
                <a:latin typeface="Segoe UI"/>
              </a:rPr>
              <a:t>The cost is precision. The answers can differ a little from the full model.</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WebGPU and the warm-up</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WebGPU lets Chrome send the work to the graphics card.</a:t>
            </a:r>
          </a:p>
          <a:p>
            <a:pPr marL="320040" indent="-320040">
              <a:lnSpc>
                <a:spcPct val="105000"/>
              </a:lnSpc>
              <a:spcAft>
                <a:spcPts val="1200"/>
              </a:spcAft>
              <a:buClr>
                <a:srgbClr val="B4391F"/>
              </a:buClr>
              <a:buFont typeface="Arial"/>
              <a:buChar char="•"/>
            </a:pPr>
            <a:r>
              <a:rPr sz="2000">
                <a:solidFill>
                  <a:srgbClr val="1C1B1A"/>
                </a:solidFill>
                <a:latin typeface="Segoe UI"/>
              </a:rPr>
              <a:t>The card must support 16-bit math (shader-f16). Without it the popup refuses to run.</a:t>
            </a:r>
          </a:p>
          <a:p>
            <a:pPr marL="320040" indent="-320040">
              <a:lnSpc>
                <a:spcPct val="105000"/>
              </a:lnSpc>
              <a:spcAft>
                <a:spcPts val="1200"/>
              </a:spcAft>
              <a:buClr>
                <a:srgbClr val="B4391F"/>
              </a:buClr>
              <a:buFont typeface="Arial"/>
              <a:buChar char="•"/>
            </a:pPr>
            <a:r>
              <a:rPr sz="2000">
                <a:solidFill>
                  <a:srgbClr val="1C1B1A"/>
                </a:solidFill>
                <a:latin typeface="Segoe UI"/>
              </a:rPr>
              <a:t>On first use the graphics programs are compiled: about 30 s of warm-up.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First use and later use: the clean timings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8</a:t>
            </a:r>
          </a:p>
        </p:txBody>
      </p:sp>
      <p:graphicFrame>
        <p:nvGraphicFramePr>
          <p:cNvPr id="7" name="Table 6"/>
          <p:cNvGraphicFramePr>
            <a:graphicFrameLocks noGrp="1"/>
          </p:cNvGraphicFramePr>
          <p:nvPr/>
        </p:nvGraphicFramePr>
        <p:xfrm>
          <a:off x="685800" y="1600200"/>
          <a:ext cx="10820092" cy="3401568"/>
        </p:xfrm>
        <a:graphic>
          <a:graphicData uri="http://schemas.openxmlformats.org/drawingml/2006/table">
            <a:tbl>
              <a:tblPr firstRow="1">
                <a:tableStyleId>{2D5ABB26-0587-4C30-8999-92F81FD0307C}</a:tableStyleId>
              </a:tblPr>
              <a:tblGrid>
                <a:gridCol w="2750871"/>
                <a:gridCol w="2659175"/>
                <a:gridCol w="2750871"/>
                <a:gridCol w="2659175"/>
              </a:tblGrid>
              <a:tr h="566928">
                <a:tc>
                  <a:txBody>
                    <a:bodyPr/>
                    <a:lstStyle/>
                    <a:p>
                      <a:r>
                        <a:rPr sz="1600" b="1">
                          <a:solidFill>
                            <a:srgbClr val="1C1B1A"/>
                          </a:solidFill>
                          <a:latin typeface="Segoe UI"/>
                        </a:rPr>
                        <a:t>Measure, short article</a:t>
                      </a:r>
                    </a:p>
                  </a:txBody>
                  <a:tcPr anchor="ctr" marL="91440" marR="91440" marT="27432" marB="27432">
                    <a:lnB w="12700">
                      <a:solidFill>
                        <a:srgbClr val="1C1B1A"/>
                      </a:solidFill>
                    </a:lnB>
                    <a:noFill/>
                  </a:tcPr>
                </a:tc>
                <a:tc>
                  <a:txBody>
                    <a:bodyPr/>
                    <a:lstStyle/>
                    <a:p>
                      <a:r>
                        <a:rPr sz="1600" b="1">
                          <a:solidFill>
                            <a:srgbClr val="1C1B1A"/>
                          </a:solidFill>
                          <a:latin typeface="Segoe UI"/>
                        </a:rPr>
                        <a:t>First use, clean run</a:t>
                      </a:r>
                    </a:p>
                  </a:txBody>
                  <a:tcPr anchor="ctr" marL="91440" marR="91440" marT="27432" marB="27432">
                    <a:lnB w="12700">
                      <a:solidFill>
                        <a:srgbClr val="1C1B1A"/>
                      </a:solidFill>
                    </a:lnB>
                    <a:noFill/>
                  </a:tcPr>
                </a:tc>
                <a:tc>
                  <a:txBody>
                    <a:bodyPr/>
                    <a:lstStyle/>
                    <a:p>
                      <a:r>
                        <a:rPr sz="1600" b="1">
                          <a:solidFill>
                            <a:srgbClr val="1C1B1A"/>
                          </a:solidFill>
                          <a:latin typeface="Segoe UI"/>
                        </a:rPr>
                        <a:t>Later use, offline, before label fix</a:t>
                      </a:r>
                    </a:p>
                  </a:txBody>
                  <a:tcPr anchor="ctr" marL="91440" marR="91440" marT="27432" marB="27432">
                    <a:lnB w="12700">
                      <a:solidFill>
                        <a:srgbClr val="1C1B1A"/>
                      </a:solidFill>
                    </a:lnB>
                    <a:noFill/>
                  </a:tcPr>
                </a:tc>
                <a:tc>
                  <a:txBody>
                    <a:bodyPr/>
                    <a:lstStyle/>
                    <a:p>
                      <a:r>
                        <a:rPr sz="1600" b="1">
                          <a:solidFill>
                            <a:srgbClr val="1C1B1A"/>
                          </a:solidFill>
                          <a:latin typeface="Segoe UI"/>
                        </a:rPr>
                        <a:t>Later use, offline, after label fix</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Total time</a:t>
                      </a:r>
                    </a:p>
                  </a:txBody>
                  <a:tcPr anchor="ctr" marL="91440" marR="91440" marT="27432" marB="27432">
                    <a:lnB w="9525">
                      <a:solidFill>
                        <a:srgbClr val="D9D2C3"/>
                      </a:solidFill>
                    </a:lnB>
                    <a:noFill/>
                  </a:tcPr>
                </a:tc>
                <a:tc>
                  <a:txBody>
                    <a:bodyPr/>
                    <a:lstStyle/>
                    <a:p>
                      <a:r>
                        <a:rPr sz="1600" b="0">
                          <a:solidFill>
                            <a:srgbClr val="1C1B1A"/>
                          </a:solidFill>
                          <a:latin typeface="Segoe UI"/>
                        </a:rPr>
                        <a:t>196.8 s</a:t>
                      </a:r>
                    </a:p>
                  </a:txBody>
                  <a:tcPr anchor="ctr" marL="91440" marR="91440" marT="27432" marB="27432">
                    <a:lnB w="9525">
                      <a:solidFill>
                        <a:srgbClr val="D9D2C3"/>
                      </a:solidFill>
                    </a:lnB>
                    <a:noFill/>
                  </a:tcPr>
                </a:tc>
                <a:tc>
                  <a:txBody>
                    <a:bodyPr/>
                    <a:lstStyle/>
                    <a:p>
                      <a:r>
                        <a:rPr sz="1600" b="0">
                          <a:solidFill>
                            <a:srgbClr val="1C1B1A"/>
                          </a:solidFill>
                          <a:latin typeface="Segoe UI"/>
                        </a:rPr>
                        <a:t>15.3 s</a:t>
                      </a:r>
                    </a:p>
                  </a:txBody>
                  <a:tcPr anchor="ctr" marL="91440" marR="91440" marT="27432" marB="27432">
                    <a:lnB w="9525">
                      <a:solidFill>
                        <a:srgbClr val="D9D2C3"/>
                      </a:solidFill>
                    </a:lnB>
                    <a:noFill/>
                  </a:tcPr>
                </a:tc>
                <a:tc>
                  <a:txBody>
                    <a:bodyPr/>
                    <a:lstStyle/>
                    <a:p>
                      <a:r>
                        <a:rPr sz="1600" b="0">
                          <a:solidFill>
                            <a:srgbClr val="1C1B1A"/>
                          </a:solidFill>
                          <a:latin typeface="Segoe UI"/>
                        </a:rPr>
                        <a:t>17.7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Download</a:t>
                      </a:r>
                    </a:p>
                  </a:txBody>
                  <a:tcPr anchor="ctr" marL="91440" marR="91440" marT="27432" marB="27432">
                    <a:lnB w="9525">
                      <a:solidFill>
                        <a:srgbClr val="D9D2C3"/>
                      </a:solidFill>
                    </a:lnB>
                    <a:noFill/>
                  </a:tcPr>
                </a:tc>
                <a:tc>
                  <a:txBody>
                    <a:bodyPr/>
                    <a:lstStyle/>
                    <a:p>
                      <a:r>
                        <a:rPr sz="1600" b="0">
                          <a:solidFill>
                            <a:srgbClr val="1C1B1A"/>
                          </a:solidFill>
                          <a:latin typeface="Segoe UI"/>
                        </a:rPr>
                        <a:t>158.3 s (about 695 MB)</a:t>
                      </a:r>
                    </a:p>
                  </a:txBody>
                  <a:tcPr anchor="ctr" marL="91440" marR="91440" marT="27432" marB="27432">
                    <a:lnB w="9525">
                      <a:solidFill>
                        <a:srgbClr val="D9D2C3"/>
                      </a:solidFill>
                    </a:lnB>
                    <a:noFill/>
                  </a:tcPr>
                </a:tc>
                <a:tc>
                  <a:txBody>
                    <a:bodyPr/>
                    <a:lstStyle/>
                    <a:p>
                      <a:r>
                        <a:rPr sz="1600" b="0">
                          <a:solidFill>
                            <a:srgbClr val="1C1B1A"/>
                          </a:solidFill>
                          <a:latin typeface="Segoe UI"/>
                        </a:rPr>
                        <a:t>None: model stored</a:t>
                      </a:r>
                    </a:p>
                  </a:txBody>
                  <a:tcPr anchor="ctr" marL="91440" marR="91440" marT="27432" marB="27432">
                    <a:lnB w="9525">
                      <a:solidFill>
                        <a:srgbClr val="D9D2C3"/>
                      </a:solidFill>
                    </a:lnB>
                    <a:noFill/>
                  </a:tcPr>
                </a:tc>
                <a:tc>
                  <a:txBody>
                    <a:bodyPr/>
                    <a:lstStyle/>
                    <a:p>
                      <a:r>
                        <a:rPr sz="1600" b="0">
                          <a:solidFill>
                            <a:srgbClr val="1C1B1A"/>
                          </a:solidFill>
                          <a:latin typeface="Segoe UI"/>
                        </a:rPr>
                        <a:t>None: model stored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Load into the card</a:t>
                      </a:r>
                    </a:p>
                  </a:txBody>
                  <a:tcPr anchor="ctr" marL="91440" marR="91440" marT="27432" marB="27432">
                    <a:lnB w="9525">
                      <a:solidFill>
                        <a:srgbClr val="D9D2C3"/>
                      </a:solidFill>
                    </a:lnB>
                    <a:noFill/>
                  </a:tcPr>
                </a:tc>
                <a:tc>
                  <a:txBody>
                    <a:bodyPr/>
                    <a:lstStyle/>
                    <a:p>
                      <a:r>
                        <a:rPr sz="1600" b="0">
                          <a:solidFill>
                            <a:srgbClr val="1C1B1A"/>
                          </a:solidFill>
                          <a:latin typeface="Segoe UI"/>
                        </a:rPr>
                        <a:t>3.8 s</a:t>
                      </a:r>
                    </a:p>
                  </a:txBody>
                  <a:tcPr anchor="ctr" marL="91440" marR="91440" marT="27432" marB="27432">
                    <a:lnB w="9525">
                      <a:solidFill>
                        <a:srgbClr val="D9D2C3"/>
                      </a:solidFill>
                    </a:lnB>
                    <a:noFill/>
                  </a:tcPr>
                </a:tc>
                <a:tc>
                  <a:txBody>
                    <a:bodyPr/>
                    <a:lstStyle/>
                    <a:p>
                      <a:r>
                        <a:rPr sz="1600" b="0">
                          <a:solidFill>
                            <a:srgbClr val="1C1B1A"/>
                          </a:solidFill>
                          <a:latin typeface="Segoe UI"/>
                        </a:rPr>
                        <a:t>6.9 s</a:t>
                      </a:r>
                    </a:p>
                  </a:txBody>
                  <a:tcPr anchor="ctr" marL="91440" marR="91440" marT="27432" marB="27432">
                    <a:lnB w="9525">
                      <a:solidFill>
                        <a:srgbClr val="D9D2C3"/>
                      </a:solidFill>
                    </a:lnB>
                    <a:noFill/>
                  </a:tcPr>
                </a:tc>
                <a:tc>
                  <a:txBody>
                    <a:bodyPr/>
                    <a:lstStyle/>
                    <a:p>
                      <a:r>
                        <a:rPr sz="1600" b="0">
                          <a:solidFill>
                            <a:srgbClr val="1C1B1A"/>
                          </a:solidFill>
                          <a:latin typeface="Segoe UI"/>
                        </a:rPr>
                        <a:t>11.6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Warm-up</a:t>
                      </a:r>
                    </a:p>
                  </a:txBody>
                  <a:tcPr anchor="ctr" marL="91440" marR="91440" marT="27432" marB="27432">
                    <a:lnB w="9525">
                      <a:solidFill>
                        <a:srgbClr val="D9D2C3"/>
                      </a:solidFill>
                    </a:lnB>
                    <a:noFill/>
                  </a:tcPr>
                </a:tc>
                <a:tc>
                  <a:txBody>
                    <a:bodyPr/>
                    <a:lstStyle/>
                    <a:p>
                      <a:r>
                        <a:rPr sz="1600" b="0">
                          <a:solidFill>
                            <a:srgbClr val="1C1B1A"/>
                          </a:solidFill>
                          <a:latin typeface="Segoe UI"/>
                        </a:rPr>
                        <a:t>30.5 s</a:t>
                      </a:r>
                    </a:p>
                  </a:txBody>
                  <a:tcPr anchor="ctr" marL="91440" marR="91440" marT="27432" marB="27432">
                    <a:lnB w="9525">
                      <a:solidFill>
                        <a:srgbClr val="D9D2C3"/>
                      </a:solidFill>
                    </a:lnB>
                    <a:noFill/>
                  </a:tcPr>
                </a:tc>
                <a:tc>
                  <a:txBody>
                    <a:bodyPr/>
                    <a:lstStyle/>
                    <a:p>
                      <a:r>
                        <a:rPr sz="1600" b="0">
                          <a:solidFill>
                            <a:srgbClr val="1C1B1A"/>
                          </a:solidFill>
                          <a:latin typeface="Segoe UI"/>
                        </a:rPr>
                        <a:t>0.5 s</a:t>
                      </a:r>
                    </a:p>
                  </a:txBody>
                  <a:tcPr anchor="ctr" marL="91440" marR="91440" marT="27432" marB="27432">
                    <a:lnB w="9525">
                      <a:solidFill>
                        <a:srgbClr val="D9D2C3"/>
                      </a:solidFill>
                    </a:lnB>
                    <a:noFill/>
                  </a:tcPr>
                </a:tc>
                <a:tc>
                  <a:txBody>
                    <a:bodyPr/>
                    <a:lstStyle/>
                    <a:p>
                      <a:r>
                        <a:rPr sz="1600" b="0">
                          <a:solidFill>
                            <a:srgbClr val="1C1B1A"/>
                          </a:solidFill>
                          <a:latin typeface="Segoe UI"/>
                        </a:rPr>
                        <a:t>0.4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Writing speed</a:t>
                      </a:r>
                    </a:p>
                  </a:txBody>
                  <a:tcPr anchor="ctr" marL="91440" marR="91440" marT="27432" marB="27432">
                    <a:lnB w="9525">
                      <a:solidFill>
                        <a:srgbClr val="D9D2C3"/>
                      </a:solidFill>
                    </a:lnB>
                    <a:noFill/>
                  </a:tcPr>
                </a:tc>
                <a:tc>
                  <a:txBody>
                    <a:bodyPr/>
                    <a:lstStyle/>
                    <a:p>
                      <a:r>
                        <a:rPr sz="1600" b="0">
                          <a:solidFill>
                            <a:srgbClr val="1C1B1A"/>
                          </a:solidFill>
                          <a:latin typeface="Segoe UI"/>
                        </a:rPr>
                        <a:t>47 tokens a second</a:t>
                      </a:r>
                    </a:p>
                  </a:txBody>
                  <a:tcPr anchor="ctr" marL="91440" marR="91440" marT="27432" marB="27432">
                    <a:lnB w="9525">
                      <a:solidFill>
                        <a:srgbClr val="D9D2C3"/>
                      </a:solidFill>
                    </a:lnB>
                    <a:noFill/>
                  </a:tcPr>
                </a:tc>
                <a:tc>
                  <a:txBody>
                    <a:bodyPr/>
                    <a:lstStyle/>
                    <a:p>
                      <a:r>
                        <a:rPr sz="1600" b="0">
                          <a:solidFill>
                            <a:srgbClr val="1C1B1A"/>
                          </a:solidFill>
                          <a:latin typeface="Segoe UI"/>
                        </a:rPr>
                        <a:t>40 tokens a second</a:t>
                      </a:r>
                    </a:p>
                  </a:txBody>
                  <a:tcPr anchor="ctr" marL="91440" marR="91440" marT="27432" marB="27432">
                    <a:lnB w="9525">
                      <a:solidFill>
                        <a:srgbClr val="D9D2C3"/>
                      </a:solidFill>
                    </a:lnB>
                    <a:noFill/>
                  </a:tcPr>
                </a:tc>
                <a:tc>
                  <a:txBody>
                    <a:bodyPr/>
                    <a:lstStyle/>
                    <a:p>
                      <a:r>
                        <a:rPr sz="1600" b="0">
                          <a:solidFill>
                            <a:srgbClr val="1C1B1A"/>
                          </a:solidFill>
                          <a:latin typeface="Segoe UI"/>
                        </a:rPr>
                        <a:t>65 tokens a second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Clean runs only. Offline means the outside websites were blocked. Quote the after-fix column, which matches the current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layers, and what each one does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9</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2567480"/>
                <a:gridCol w="5685134"/>
                <a:gridCol w="2567480"/>
              </a:tblGrid>
              <a:tr h="566928">
                <a:tc>
                  <a:txBody>
                    <a:bodyPr/>
                    <a:lstStyle/>
                    <a:p>
                      <a:r>
                        <a:rPr sz="1600" b="1">
                          <a:solidFill>
                            <a:srgbClr val="1C1B1A"/>
                          </a:solidFill>
                          <a:latin typeface="Segoe UI"/>
                        </a:rPr>
                        <a:t>Layer</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c>
                  <a:txBody>
                    <a:bodyPr/>
                    <a:lstStyle/>
                    <a:p>
                      <a:r>
                        <a:rPr sz="1600" b="1">
                          <a:solidFill>
                            <a:srgbClr val="1C1B1A"/>
                          </a:solidFill>
                          <a:latin typeface="Segoe UI"/>
                        </a:rPr>
                        <a:t>File</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Popup</a:t>
                      </a:r>
                    </a:p>
                  </a:txBody>
                  <a:tcPr anchor="ctr" marL="91440" marR="91440" marT="27432" marB="27432">
                    <a:lnB w="9525">
                      <a:solidFill>
                        <a:srgbClr val="D9D2C3"/>
                      </a:solidFill>
                    </a:lnB>
                    <a:noFill/>
                  </a:tcPr>
                </a:tc>
                <a:tc>
                  <a:txBody>
                    <a:bodyPr/>
                    <a:lstStyle/>
                    <a:p>
                      <a:r>
                        <a:rPr sz="1600" b="0">
                          <a:solidFill>
                            <a:srgbClr val="1C1B1A"/>
                          </a:solidFill>
                          <a:latin typeface="Segoe UI"/>
                        </a:rPr>
                        <a:t>Summarize button and progress lines</a:t>
                      </a:r>
                    </a:p>
                  </a:txBody>
                  <a:tcPr anchor="ctr" marL="91440" marR="91440" marT="27432" marB="27432">
                    <a:lnB w="9525">
                      <a:solidFill>
                        <a:srgbClr val="D9D2C3"/>
                      </a:solidFill>
                    </a:lnB>
                    <a:noFill/>
                  </a:tcPr>
                </a:tc>
                <a:tc>
                  <a:txBody>
                    <a:bodyPr/>
                    <a:lstStyle/>
                    <a:p>
                      <a:r>
                        <a:rPr sz="1600" b="0">
                          <a:solidFill>
                            <a:srgbClr val="1C1B1A"/>
                          </a:solidFill>
                          <a:latin typeface="Segoe UI"/>
                        </a:rPr>
                        <a:t>popup.js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Owns the job, the parts and the merge</a:t>
                      </a:r>
                    </a:p>
                  </a:txBody>
                  <a:tcPr anchor="ctr" marL="91440" marR="91440" marT="27432" marB="27432">
                    <a:lnB w="9525">
                      <a:solidFill>
                        <a:srgbClr val="D9D2C3"/>
                      </a:solidFill>
                    </a:lnB>
                    <a:noFill/>
                  </a:tcPr>
                </a:tc>
                <a:tc>
                  <a:txBody>
                    <a:bodyPr/>
                    <a:lstStyle/>
                    <a:p>
                      <a:r>
                        <a:rPr sz="1600" b="0">
                          <a:solidFill>
                            <a:srgbClr val="1C1B1A"/>
                          </a:solidFill>
                          <a:latin typeface="Segoe UI"/>
                        </a:rPr>
                        <a:t>service-worker.js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Keeps the model loaded; closes after 5 minutes idle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 worker</a:t>
                      </a:r>
                    </a:p>
                  </a:txBody>
                  <a:tcPr anchor="ctr" marL="91440" marR="91440" marT="27432" marB="27432">
                    <a:lnB w="9525">
                      <a:solidFill>
                        <a:srgbClr val="D9D2C3"/>
                      </a:solidFill>
                    </a:lnB>
                    <a:noFill/>
                  </a:tcPr>
                </a:tc>
                <a:tc>
                  <a:txBody>
                    <a:bodyPr/>
                    <a:lstStyle/>
                    <a:p>
                      <a:r>
                        <a:rPr sz="1600" b="0">
                          <a:solidFill>
                            <a:srgbClr val="1C1B1A"/>
                          </a:solidFill>
                          <a:latin typeface="Segoe UI"/>
                        </a:rPr>
                        <a:t>Runs WebLLM's handler, so the page stays responsive</a:t>
                      </a:r>
                    </a:p>
                  </a:txBody>
                  <a:tcPr anchor="ctr" marL="91440" marR="91440" marT="27432" marB="27432">
                    <a:lnB w="9525">
                      <a:solidFill>
                        <a:srgbClr val="D9D2C3"/>
                      </a:solidFill>
                    </a:lnB>
                    <a:noFill/>
                  </a:tcPr>
                </a:tc>
                <a:tc>
                  <a:txBody>
                    <a:bodyPr/>
                    <a:lstStyle/>
                    <a:p>
                      <a:r>
                        <a:rPr sz="1600" b="0">
                          <a:solidFill>
                            <a:srgbClr val="1C1B1A"/>
                          </a:solidFill>
                          <a:latin typeface="Segoe UI"/>
                        </a:rPr>
                        <a:t>engine-worker.js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WebLLM</a:t>
                      </a:r>
                    </a:p>
                  </a:txBody>
                  <a:tcPr anchor="ctr" marL="91440" marR="91440" marT="27432" marB="27432">
                    <a:lnB w="9525">
                      <a:solidFill>
                        <a:srgbClr val="D9D2C3"/>
                      </a:solidFill>
                    </a:lnB>
                    <a:noFill/>
                  </a:tcPr>
                </a:tc>
                <a:tc>
                  <a:txBody>
                    <a:bodyPr/>
                    <a:lstStyle/>
                    <a:p>
                      <a:r>
                        <a:rPr sz="1600" b="0">
                          <a:solidFill>
                            <a:srgbClr val="1C1B1A"/>
                          </a:solidFill>
                          <a:latin typeface="Segoe UI"/>
                        </a:rPr>
                        <a:t>Reads the model, splits text into tokens, runs each answer</a:t>
                      </a:r>
                    </a:p>
                  </a:txBody>
                  <a:tcPr anchor="ctr" marL="91440" marR="91440" marT="27432" marB="27432">
                    <a:lnB w="9525">
                      <a:solidFill>
                        <a:srgbClr val="D9D2C3"/>
                      </a:solidFill>
                    </a:lnB>
                    <a:noFill/>
                  </a:tcPr>
                </a:tc>
                <a:tc>
                  <a:txBody>
                    <a:bodyPr/>
                    <a:lstStyle/>
                    <a:p>
                      <a:r>
                        <a:rPr sz="1600" b="0">
                          <a:solidFill>
                            <a:srgbClr val="1C1B1A"/>
                          </a:solidFill>
                          <a:latin typeface="Segoe UI"/>
                        </a:rPr>
                        <a:t>lib/web-llm.js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WebGPU</a:t>
                      </a:r>
                    </a:p>
                  </a:txBody>
                  <a:tcPr anchor="ctr" marL="91440" marR="91440" marT="27432" marB="27432">
                    <a:lnB w="9525">
                      <a:solidFill>
                        <a:srgbClr val="D9D2C3"/>
                      </a:solidFill>
                    </a:lnB>
                    <a:noFill/>
                  </a:tcPr>
                </a:tc>
                <a:tc>
                  <a:txBody>
                    <a:bodyPr/>
                    <a:lstStyle/>
                    <a:p>
                      <a:r>
                        <a:rPr sz="1600" b="0">
                          <a:solidFill>
                            <a:srgbClr val="1C1B1A"/>
                          </a:solidFill>
                          <a:latin typeface="Segoe UI"/>
                        </a:rPr>
                        <a:t>Does the calculations on the graphics card</a:t>
                      </a:r>
                    </a:p>
                  </a:txBody>
                  <a:tcPr anchor="ctr" marL="91440" marR="91440" marT="27432" marB="27432">
                    <a:lnB w="9525">
                      <a:solidFill>
                        <a:srgbClr val="D9D2C3"/>
                      </a:solidFill>
                    </a:lnB>
                    <a:noFill/>
                  </a:tcPr>
                </a:tc>
                <a:tc>
                  <a:txBody>
                    <a:bodyPr/>
                    <a:lstStyle/>
                    <a:p>
                      <a:r>
                        <a:rPr sz="1600" b="0">
                          <a:solidFill>
                            <a:srgbClr val="1C1B1A"/>
                          </a:solidFill>
                          <a:latin typeface="Segoe UI"/>
                        </a:rPr>
                        <a:t>Chrome feature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popup only shows progress. Closing it does not stop the job.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Where the model files live, and the offline proof</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10</a:t>
            </a:r>
          </a:p>
        </p:txBody>
      </p:sp>
      <p:graphicFrame>
        <p:nvGraphicFramePr>
          <p:cNvPr id="7" name="Table 6"/>
          <p:cNvGraphicFramePr>
            <a:graphicFrameLocks noGrp="1"/>
          </p:cNvGraphicFramePr>
          <p:nvPr/>
        </p:nvGraphicFramePr>
        <p:xfrm>
          <a:off x="685800" y="1600200"/>
          <a:ext cx="10820094" cy="2834640"/>
        </p:xfrm>
        <a:graphic>
          <a:graphicData uri="http://schemas.openxmlformats.org/drawingml/2006/table">
            <a:tbl>
              <a:tblPr firstRow="1">
                <a:tableStyleId>{2D5ABB26-0587-4C30-8999-92F81FD0307C}</a:tableStyleId>
              </a:tblPr>
              <a:tblGrid>
                <a:gridCol w="2073851"/>
                <a:gridCol w="2975526"/>
                <a:gridCol w="3155861"/>
                <a:gridCol w="2614856"/>
              </a:tblGrid>
              <a:tr h="566928">
                <a:tc>
                  <a:txBody>
                    <a:bodyPr/>
                    <a:lstStyle/>
                    <a:p>
                      <a:r>
                        <a:rPr sz="1600" b="1">
                          <a:solidFill>
                            <a:srgbClr val="1C1B1A"/>
                          </a:solidFill>
                          <a:latin typeface="Segoe UI"/>
                        </a:rPr>
                        <a:t>Store</a:t>
                      </a:r>
                    </a:p>
                  </a:txBody>
                  <a:tcPr anchor="ctr" marL="91440" marR="91440" marT="27432" marB="27432">
                    <a:lnB w="12700">
                      <a:solidFill>
                        <a:srgbClr val="1C1B1A"/>
                      </a:solidFill>
                    </a:lnB>
                    <a:noFill/>
                  </a:tcPr>
                </a:tc>
                <a:tc>
                  <a:txBody>
                    <a:bodyPr/>
                    <a:lstStyle/>
                    <a:p>
                      <a:r>
                        <a:rPr sz="1600" b="1">
                          <a:solidFill>
                            <a:srgbClr val="1C1B1A"/>
                          </a:solidFill>
                          <a:latin typeface="Segoe UI"/>
                        </a:rPr>
                        <a:t>Where</a:t>
                      </a:r>
                    </a:p>
                  </a:txBody>
                  <a:tcPr anchor="ctr" marL="91440" marR="91440" marT="27432" marB="27432">
                    <a:lnB w="12700">
                      <a:solidFill>
                        <a:srgbClr val="1C1B1A"/>
                      </a:solidFill>
                    </a:lnB>
                    <a:noFill/>
                  </a:tcPr>
                </a:tc>
                <a:tc>
                  <a:txBody>
                    <a:bodyPr/>
                    <a:lstStyle/>
                    <a:p>
                      <a:r>
                        <a:rPr sz="1600" b="1">
                          <a:solidFill>
                            <a:srgbClr val="1C1B1A"/>
                          </a:solidFill>
                          <a:latin typeface="Segoe UI"/>
                        </a:rPr>
                        <a:t>How long it lasts</a:t>
                      </a:r>
                    </a:p>
                  </a:txBody>
                  <a:tcPr anchor="ctr" marL="91440" marR="91440" marT="27432" marB="27432">
                    <a:lnB w="12700">
                      <a:solidFill>
                        <a:srgbClr val="1C1B1A"/>
                      </a:solidFill>
                    </a:lnB>
                    <a:noFill/>
                  </a:tcPr>
                </a:tc>
                <a:tc>
                  <a:txBody>
                    <a:bodyPr/>
                    <a:lstStyle/>
                    <a:p>
                      <a:r>
                        <a:rPr sz="1600" b="1">
                          <a:solidFill>
                            <a:srgbClr val="1C1B1A"/>
                          </a:solidFill>
                          <a:latin typeface="Segoe UI"/>
                        </a:rPr>
                        <a:t>Who writes and reads it</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Model files</a:t>
                      </a:r>
                    </a:p>
                  </a:txBody>
                  <a:tcPr anchor="ctr" marL="91440" marR="91440" marT="27432" marB="27432">
                    <a:lnB w="9525">
                      <a:solidFill>
                        <a:srgbClr val="D9D2C3"/>
                      </a:solidFill>
                    </a:lnB>
                    <a:noFill/>
                  </a:tcPr>
                </a:tc>
                <a:tc>
                  <a:txBody>
                    <a:bodyPr/>
                    <a:lstStyle/>
                    <a:p>
                      <a:r>
                        <a:rPr sz="1600" b="0">
                          <a:solidFill>
                            <a:srgbClr val="1C1B1A"/>
                          </a:solidFill>
                          <a:latin typeface="Segoe UI"/>
                        </a:rPr>
                        <a:t>IndexedDB, about 695 MB</a:t>
                      </a:r>
                    </a:p>
                  </a:txBody>
                  <a:tcPr anchor="ctr" marL="91440" marR="91440" marT="27432" marB="27432">
                    <a:lnB w="9525">
                      <a:solidFill>
                        <a:srgbClr val="D9D2C3"/>
                      </a:solidFill>
                    </a:lnB>
                    <a:noFill/>
                  </a:tcPr>
                </a:tc>
                <a:tc>
                  <a:txBody>
                    <a:bodyPr/>
                    <a:lstStyle/>
                    <a:p>
                      <a:r>
                        <a:rPr sz="1600" b="0">
                          <a:solidFill>
                            <a:srgbClr val="1C1B1A"/>
                          </a:solidFill>
                          <a:latin typeface="Segoe UI"/>
                        </a:rPr>
                        <a:t>Kept between runs; no code deletes them</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writes on first use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Job record</a:t>
                      </a:r>
                    </a:p>
                  </a:txBody>
                  <a:tcPr anchor="ctr" marL="91440" marR="91440" marT="27432" marB="27432">
                    <a:lnB w="9525">
                      <a:solidFill>
                        <a:srgbClr val="D9D2C3"/>
                      </a:solidFill>
                    </a:lnB>
                    <a:noFill/>
                  </a:tcPr>
                </a:tc>
                <a:tc>
                  <a:txBody>
                    <a:bodyPr/>
                    <a:lstStyle/>
                    <a:p>
                      <a:r>
                        <a:rPr sz="1600" b="0">
                          <a:solidFill>
                            <a:srgbClr val="1C1B1A"/>
                          </a:solidFill>
                          <a:latin typeface="Segoe UI"/>
                        </a:rPr>
                        <a:t>chrome.storage.session</a:t>
                      </a:r>
                    </a:p>
                  </a:txBody>
                  <a:tcPr anchor="ctr" marL="91440" marR="91440" marT="27432" marB="27432">
                    <a:lnB w="9525">
                      <a:solidFill>
                        <a:srgbClr val="D9D2C3"/>
                      </a:solidFill>
                    </a:lnB>
                    <a:noFill/>
                  </a:tcPr>
                </a:tc>
                <a:tc>
                  <a:txBody>
                    <a:bodyPr/>
                    <a:lstStyle/>
                    <a:p>
                      <a:r>
                        <a:rPr sz="1600" b="0">
                          <a:solidFill>
                            <a:srgbClr val="1C1B1A"/>
                          </a:solidFill>
                          <a:latin typeface="Segoe UI"/>
                        </a:rPr>
                        <a:t>Until the browser closes; removed when its tab closes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writes; popup reads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Settings</a:t>
                      </a:r>
                    </a:p>
                  </a:txBody>
                  <a:tcPr anchor="ctr" marL="91440" marR="91440" marT="27432" marB="27432">
                    <a:lnB w="9525">
                      <a:solidFill>
                        <a:srgbClr val="D9D2C3"/>
                      </a:solidFill>
                    </a:lnB>
                    <a:noFill/>
                  </a:tcPr>
                </a:tc>
                <a:tc>
                  <a:txBody>
                    <a:bodyPr/>
                    <a:lstStyle/>
                    <a:p>
                      <a:r>
                        <a:rPr sz="1600" b="0">
                          <a:solidFill>
                            <a:srgbClr val="1C1B1A"/>
                          </a:solidFill>
                          <a:latin typeface="Segoe UI"/>
                        </a:rPr>
                        <a:t>chrome.storage.local</a:t>
                      </a:r>
                    </a:p>
                  </a:txBody>
                  <a:tcPr anchor="ctr" marL="91440" marR="91440" marT="27432" marB="27432">
                    <a:lnB w="9525">
                      <a:solidFill>
                        <a:srgbClr val="D9D2C3"/>
                      </a:solidFill>
                    </a:lnB>
                    <a:noFill/>
                  </a:tcPr>
                </a:tc>
                <a:tc>
                  <a:txBody>
                    <a:bodyPr/>
                    <a:lstStyle/>
                    <a:p>
                      <a:r>
                        <a:rPr sz="1600" b="0">
                          <a:solidFill>
                            <a:srgbClr val="1C1B1A"/>
                          </a:solidFill>
                          <a:latin typeface="Segoe UI"/>
                        </a:rPr>
                        <a:t>Kept across restarts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reads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Loaded model</a:t>
                      </a:r>
                    </a:p>
                  </a:txBody>
                  <a:tcPr anchor="ctr" marL="91440" marR="91440" marT="27432" marB="27432">
                    <a:lnB w="9525">
                      <a:solidFill>
                        <a:srgbClr val="D9D2C3"/>
                      </a:solidFill>
                    </a:lnB>
                    <a:noFill/>
                  </a:tcPr>
                </a:tc>
                <a:tc>
                  <a:txBody>
                    <a:bodyPr/>
                    <a:lstStyle/>
                    <a:p>
                      <a:r>
                        <a:rPr sz="1600" b="0">
                          <a:solidFill>
                            <a:srgbClr val="1C1B1A"/>
                          </a:solidFill>
                          <a:latin typeface="Segoe UI"/>
                        </a:rPr>
                        <a:t>Graphics memory,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Until the page closes, 5 minutes after the last message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only</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Offline proof: with the outside websites blocked, the short article took 17.7 s after the label fix (15.3 s before it). No API key is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hidden offscreen page and its messages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11</a:t>
            </a:r>
          </a:p>
        </p:txBody>
      </p:sp>
      <p:graphicFrame>
        <p:nvGraphicFramePr>
          <p:cNvPr id="7" name="Table 6"/>
          <p:cNvGraphicFramePr>
            <a:graphicFrameLocks noGrp="1"/>
          </p:cNvGraphicFramePr>
          <p:nvPr/>
        </p:nvGraphicFramePr>
        <p:xfrm>
          <a:off x="685800" y="1600200"/>
          <a:ext cx="10820093" cy="3401568"/>
        </p:xfrm>
        <a:graphic>
          <a:graphicData uri="http://schemas.openxmlformats.org/drawingml/2006/table">
            <a:tbl>
              <a:tblPr firstRow="1">
                <a:tableStyleId>{2D5ABB26-0587-4C30-8999-92F81FD0307C}</a:tableStyleId>
              </a:tblPr>
              <a:tblGrid>
                <a:gridCol w="2795191"/>
                <a:gridCol w="3516530"/>
                <a:gridCol w="4508372"/>
              </a:tblGrid>
              <a:tr h="566928">
                <a:tc>
                  <a:txBody>
                    <a:bodyPr/>
                    <a:lstStyle/>
                    <a:p>
                      <a:r>
                        <a:rPr sz="1600" b="1">
                          <a:solidFill>
                            <a:srgbClr val="1C1B1A"/>
                          </a:solidFill>
                          <a:latin typeface="Segoe UI"/>
                        </a:rPr>
                        <a:t>Message</a:t>
                      </a:r>
                    </a:p>
                  </a:txBody>
                  <a:tcPr anchor="ctr" marL="91440" marR="91440" marT="27432" marB="27432">
                    <a:lnB w="12700">
                      <a:solidFill>
                        <a:srgbClr val="1C1B1A"/>
                      </a:solidFill>
                    </a:lnB>
                    <a:noFill/>
                  </a:tcPr>
                </a:tc>
                <a:tc>
                  <a:txBody>
                    <a:bodyPr/>
                    <a:lstStyle/>
                    <a:p>
                      <a:r>
                        <a:rPr sz="1600" b="1">
                          <a:solidFill>
                            <a:srgbClr val="1C1B1A"/>
                          </a:solidFill>
                          <a:latin typeface="Segoe UI"/>
                        </a:rPr>
                        <a:t>Direction</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LOCAL_STATUS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Asks for the graphics card, whether the model is stored, and its size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LOCAL_LOAD</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Loads the model into the graphics card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MODEL_PROGRESS</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to 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Sends the phase, the percentage and the text, many times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LOCAL_GENERATE</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Asks for one summary; the reply has the text and the stats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KEEPALIVE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to 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Sent every 10 s while work runs, so the worker stays awake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page has no tabs and no chrome.storage access, so it works by messages only. It closes 5 minutes after its last running message ends.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Graphics card check and choice of model</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12</a:t>
            </a:r>
          </a:p>
        </p:txBody>
      </p:sp>
      <p:graphicFrame>
        <p:nvGraphicFramePr>
          <p:cNvPr id="7" name="Table 6"/>
          <p:cNvGraphicFramePr>
            <a:graphicFrameLocks noGrp="1"/>
          </p:cNvGraphicFramePr>
          <p:nvPr/>
        </p:nvGraphicFramePr>
        <p:xfrm>
          <a:off x="685800" y="1600200"/>
          <a:ext cx="10820094" cy="3401568"/>
        </p:xfrm>
        <a:graphic>
          <a:graphicData uri="http://schemas.openxmlformats.org/drawingml/2006/table">
            <a:tbl>
              <a:tblPr firstRow="1">
                <a:tableStyleId>{2D5ABB26-0587-4C30-8999-92F81FD0307C}</a:tableStyleId>
              </a:tblPr>
              <a:tblGrid>
                <a:gridCol w="4401394"/>
                <a:gridCol w="6418700"/>
              </a:tblGrid>
              <a:tr h="566928">
                <a:tc>
                  <a:txBody>
                    <a:bodyPr/>
                    <a:lstStyle/>
                    <a:p>
                      <a:r>
                        <a:rPr sz="1600" b="1">
                          <a:solidFill>
                            <a:srgbClr val="1C1B1A"/>
                          </a:solidFill>
                          <a:latin typeface="Segoe UI"/>
                        </a:rPr>
                        <a:t>Situation</a:t>
                      </a:r>
                    </a:p>
                  </a:txBody>
                  <a:tcPr anchor="ctr" marL="91440" marR="91440" marT="27432" marB="27432">
                    <a:lnB w="12700">
                      <a:solidFill>
                        <a:srgbClr val="1C1B1A"/>
                      </a:solidFill>
                    </a:lnB>
                    <a:noFill/>
                  </a:tcPr>
                </a:tc>
                <a:tc>
                  <a:txBody>
                    <a:bodyPr/>
                    <a:lstStyle/>
                    <a:p>
                      <a:r>
                        <a:rPr sz="1600" b="1">
                          <a:solidFill>
                            <a:srgbClr val="1C1B1A"/>
                          </a:solidFill>
                          <a:latin typeface="Segoe UI"/>
                        </a:rPr>
                        <a:t>What the extension does, and what the reader sees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No WebGPU, or no 16-bit math (shader-f16)</a:t>
                      </a:r>
                    </a:p>
                  </a:txBody>
                  <a:tcPr anchor="ctr" marL="91440" marR="91440" marT="27432" marB="27432">
                    <a:lnB w="9525">
                      <a:solidFill>
                        <a:srgbClr val="D9D2C3"/>
                      </a:solidFill>
                    </a:lnB>
                    <a:noFill/>
                  </a:tcPr>
                </a:tc>
                <a:tc>
                  <a:txBody>
                    <a:bodyPr/>
                    <a:lstStyle/>
                    <a:p>
                      <a:r>
                        <a:rPr sz="1600" b="0">
                          <a:solidFill>
                            <a:srgbClr val="1C1B1A"/>
                          </a:solidFill>
                          <a:latin typeface="Segoe UI"/>
                        </a:rPr>
                        <a:t>Refuses before any job. A red line explains why, and the button is disabled.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Built-in (Intel) graphics, like the client's</a:t>
                      </a:r>
                    </a:p>
                  </a:txBody>
                  <a:tcPr anchor="ctr" marL="91440" marR="91440" marT="27432" marB="27432">
                    <a:lnB w="9525">
                      <a:solidFill>
                        <a:srgbClr val="D9D2C3"/>
                      </a:solidFill>
                    </a:lnB>
                    <a:noFill/>
                  </a:tcPr>
                </a:tc>
                <a:tc>
                  <a:txBody>
                    <a:bodyPr/>
                    <a:lstStyle/>
                    <a:p>
                      <a:r>
                        <a:rPr sz="1600" b="0">
                          <a:solidFill>
                            <a:srgbClr val="1C1B1A"/>
                          </a:solidFill>
                          <a:latin typeface="Segoe UI"/>
                        </a:rPr>
                        <a:t>Keeps the main model, shows a note that answers can be slow, and reads at most 6,000 characters of a long page.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Settings, Quality: Fast</a:t>
                      </a:r>
                    </a:p>
                  </a:txBody>
                  <a:tcPr anchor="ctr" marL="91440" marR="91440" marT="27432" marB="27432">
                    <a:lnB w="9525">
                      <a:solidFill>
                        <a:srgbClr val="D9D2C3"/>
                      </a:solidFill>
                    </a:lnB>
                    <a:noFill/>
                  </a:tcPr>
                </a:tc>
                <a:tc>
                  <a:txBody>
                    <a:bodyPr/>
                    <a:lstStyle/>
                    <a:p>
                      <a:r>
                        <a:rPr sz="1600" b="0">
                          <a:solidFill>
                            <a:srgbClr val="1C1B1A"/>
                          </a:solidFill>
                          <a:latin typeface="Segoe UI"/>
                        </a:rPr>
                        <a:t>Uses SmolLM2 360M: about 2 times quicker, but summaries are often muddled or wrong.</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Under 8 GB of memory (rule)</a:t>
                      </a:r>
                    </a:p>
                  </a:txBody>
                  <a:tcPr anchor="ctr" marL="91440" marR="91440" marT="27432" marB="27432">
                    <a:lnB w="9525">
                      <a:solidFill>
                        <a:srgbClr val="D9D2C3"/>
                      </a:solidFill>
                    </a:lnB>
                    <a:noFill/>
                  </a:tcPr>
                </a:tc>
                <a:tc>
                  <a:txBody>
                    <a:bodyPr/>
                    <a:lstStyle/>
                    <a:p>
                      <a:r>
                        <a:rPr sz="1600" b="0">
                          <a:solidFill>
                            <a:srgbClr val="1C1B1A"/>
                          </a:solidFill>
                          <a:latin typeface="Segoe UI"/>
                        </a:rPr>
                        <a:t>Picks SmolLM2 360M. The rule has not been seen on real low-memory hardware.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Main model runs out of graphics memory</a:t>
                      </a:r>
                    </a:p>
                  </a:txBody>
                  <a:tcPr anchor="ctr" marL="91440" marR="91440" marT="27432" marB="27432">
                    <a:lnB w="9525">
                      <a:solidFill>
                        <a:srgbClr val="D9D2C3"/>
                      </a:solidFill>
                    </a:lnB>
                    <a:noFill/>
                  </a:tcPr>
                </a:tc>
                <a:tc>
                  <a:txBody>
                    <a:bodyPr/>
                    <a:lstStyle/>
                    <a:p>
                      <a:r>
                        <a:rPr sz="1600" b="0">
                          <a:solidFill>
                            <a:srgbClr val="1C1B1A"/>
                          </a:solidFill>
                          <a:latin typeface="Segoe UI"/>
                        </a:rPr>
                        <a:t>Tries SmolLM2 360M once. The summary carries a notice that it may be less detailed, and the choice is kept.</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extension makes these choices, except Quality, which the reader sets. The main model is about 695 MB; SmolLM2 360M is about 204 MB.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Built-in graphics: reading is the slow part</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13</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Intel built-in graphics</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Llama 3.2 1B: reads 15.6 and writes 2 tokens a second.</a:t>
            </a:r>
          </a:p>
          <a:p>
            <a:pPr marL="320040" indent="-320040">
              <a:lnSpc>
                <a:spcPct val="105000"/>
              </a:lnSpc>
              <a:spcAft>
                <a:spcPts val="1200"/>
              </a:spcAft>
              <a:buClr>
                <a:srgbClr val="B4391F"/>
              </a:buClr>
              <a:buFont typeface="Arial"/>
              <a:buChar char="•"/>
            </a:pPr>
            <a:r>
              <a:rPr sz="2000">
                <a:solidFill>
                  <a:srgbClr val="1C1B1A"/>
                </a:solidFill>
                <a:latin typeface="Segoe UI"/>
              </a:rPr>
              <a:t>SmolLM2 360M: reads 26 to 29 and writes 4.7.</a:t>
            </a:r>
          </a:p>
          <a:p>
            <a:pPr marL="320040" indent="-320040">
              <a:lnSpc>
                <a:spcPct val="105000"/>
              </a:lnSpc>
              <a:spcAft>
                <a:spcPts val="1200"/>
              </a:spcAft>
              <a:buClr>
                <a:srgbClr val="B4391F"/>
              </a:buClr>
              <a:buFont typeface="Arial"/>
              <a:buChar char="•"/>
            </a:pPr>
            <a:r>
              <a:rPr sz="2000">
                <a:solidFill>
                  <a:srgbClr val="1C1B1A"/>
                </a:solidFill>
                <a:latin typeface="Segoe UI"/>
              </a:rPr>
              <a:t>Reading is about 80% of the time of one part.</a:t>
            </a:r>
          </a:p>
          <a:p>
            <a:pPr marL="320040" indent="-320040">
              <a:lnSpc>
                <a:spcPct val="105000"/>
              </a:lnSpc>
              <a:spcAft>
                <a:spcPts val="1200"/>
              </a:spcAft>
              <a:buClr>
                <a:srgbClr val="B4391F"/>
              </a:buClr>
              <a:buFont typeface="Arial"/>
              <a:buChar char="•"/>
            </a:pPr>
            <a:r>
              <a:rPr sz="2000">
                <a:solidFill>
                  <a:srgbClr val="1C1B1A"/>
                </a:solidFill>
                <a:latin typeface="Segoe UI"/>
              </a:rPr>
              <a:t>The client's laptop has this kind of chip (Iris Xe).</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NVIDIA RTX 3050, 6 GB</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Llama 3.2 1B: writes 34 to 53 tokens a second in clean runs.</a:t>
            </a:r>
          </a:p>
          <a:p>
            <a:pPr marL="320040" indent="-320040">
              <a:lnSpc>
                <a:spcPct val="105000"/>
              </a:lnSpc>
              <a:spcAft>
                <a:spcPts val="1200"/>
              </a:spcAft>
              <a:buClr>
                <a:srgbClr val="B4391F"/>
              </a:buClr>
              <a:buFont typeface="Arial"/>
              <a:buChar char="•"/>
            </a:pPr>
            <a:r>
              <a:rPr sz="2000">
                <a:solidFill>
                  <a:srgbClr val="1C1B1A"/>
                </a:solidFill>
                <a:latin typeface="Segoe UI"/>
              </a:rPr>
              <a:t>Reads about 600 tokens a second (speed test, not a saved run).</a:t>
            </a:r>
          </a:p>
          <a:p>
            <a:pPr marL="320040" indent="-320040">
              <a:lnSpc>
                <a:spcPct val="105000"/>
              </a:lnSpc>
              <a:spcAft>
                <a:spcPts val="1200"/>
              </a:spcAft>
              <a:buClr>
                <a:srgbClr val="B4391F"/>
              </a:buClr>
              <a:buFont typeface="Arial"/>
              <a:buChar char="•"/>
            </a:pPr>
            <a:r>
              <a:rPr sz="2000">
                <a:solidFill>
                  <a:srgbClr val="1C1B1A"/>
                </a:solidFill>
                <a:latin typeface="Segoe UI"/>
              </a:rPr>
              <a:t>Short article, model stored: 15.3 s before the label fix, 17.7 s after.</a:t>
            </a:r>
          </a:p>
          <a:p>
            <a:pPr marL="320040" indent="-320040">
              <a:lnSpc>
                <a:spcPct val="105000"/>
              </a:lnSpc>
              <a:spcAft>
                <a:spcPts val="1200"/>
              </a:spcAft>
              <a:buClr>
                <a:srgbClr val="B4391F"/>
              </a:buClr>
              <a:buFont typeface="Arial"/>
              <a:buChar char="•"/>
            </a:pPr>
            <a:r>
              <a:rPr sz="2000">
                <a:solidFill>
                  <a:srgbClr val="1C1B1A"/>
                </a:solidFill>
                <a:latin typeface="Segoe UI"/>
              </a:rPr>
              <a:t>The developer laptop has both chips; the client's has only the Intel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Long pages: read less on slow chips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14</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6968874"/>
                <a:gridCol w="3851220"/>
              </a:tblGrid>
              <a:tr h="566928">
                <a:tc>
                  <a:txBody>
                    <a:bodyPr/>
                    <a:lstStyle/>
                    <a:p>
                      <a:r>
                        <a:rPr sz="1600" b="1">
                          <a:solidFill>
                            <a:srgbClr val="1C1B1A"/>
                          </a:solidFill>
                          <a:latin typeface="Segoe UI"/>
                        </a:rPr>
                        <a:t>Wikipedia Lighthouse page, built-in Intel graphics</a:t>
                      </a:r>
                    </a:p>
                  </a:txBody>
                  <a:tcPr anchor="ctr" marL="91440" marR="91440" marT="27432" marB="27432">
                    <a:lnB w="12700">
                      <a:solidFill>
                        <a:srgbClr val="1C1B1A"/>
                      </a:solidFill>
                    </a:lnB>
                    <a:noFill/>
                  </a:tcPr>
                </a:tc>
                <a:tc>
                  <a:txBody>
                    <a:bodyPr/>
                    <a:lstStyle/>
                    <a:p>
                      <a:r>
                        <a:rPr sz="1600" b="1">
                          <a:solidFill>
                            <a:srgbClr val="1C1B1A"/>
                          </a:solidFill>
                          <a:latin typeface="Segoe UI"/>
                        </a:rPr>
                        <a:t>Value</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Text the extension reads from the page</a:t>
                      </a:r>
                    </a:p>
                  </a:txBody>
                  <a:tcPr anchor="ctr" marL="91440" marR="91440" marT="27432" marB="27432">
                    <a:lnB w="9525">
                      <a:solidFill>
                        <a:srgbClr val="D9D2C3"/>
                      </a:solidFill>
                    </a:lnB>
                    <a:noFill/>
                  </a:tcPr>
                </a:tc>
                <a:tc>
                  <a:txBody>
                    <a:bodyPr/>
                    <a:lstStyle/>
                    <a:p>
                      <a:r>
                        <a:rPr sz="1600" b="0">
                          <a:solidFill>
                            <a:srgbClr val="1C1B1A"/>
                          </a:solidFill>
                          <a:latin typeface="Segoe UI"/>
                        </a:rPr>
                        <a:t>36,752 characters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After cutting Notes, Bibliography and [12] markers</a:t>
                      </a:r>
                    </a:p>
                  </a:txBody>
                  <a:tcPr anchor="ctr" marL="91440" marR="91440" marT="27432" marB="27432">
                    <a:lnB w="9525">
                      <a:solidFill>
                        <a:srgbClr val="D9D2C3"/>
                      </a:solidFill>
                    </a:lnB>
                    <a:noFill/>
                  </a:tcPr>
                </a:tc>
                <a:tc>
                  <a:txBody>
                    <a:bodyPr/>
                    <a:lstStyle/>
                    <a:p>
                      <a:r>
                        <a:rPr sz="1600" b="0">
                          <a:solidFill>
                            <a:srgbClr val="1C1B1A"/>
                          </a:solidFill>
                          <a:latin typeface="Segoe UI"/>
                        </a:rPr>
                        <a:t>27,964 characters (8,788 cut)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Before: SmolLM2, whole page, 7 parts</a:t>
                      </a:r>
                    </a:p>
                  </a:txBody>
                  <a:tcPr anchor="ctr" marL="91440" marR="91440" marT="27432" marB="27432">
                    <a:lnB w="9525">
                      <a:solidFill>
                        <a:srgbClr val="D9D2C3"/>
                      </a:solidFill>
                    </a:lnB>
                    <a:noFill/>
                  </a:tcPr>
                </a:tc>
                <a:tc>
                  <a:txBody>
                    <a:bodyPr/>
                    <a:lstStyle/>
                    <a:p>
                      <a:r>
                        <a:rPr sz="1600" b="0">
                          <a:solidFill>
                            <a:srgbClr val="1C1B1A"/>
                          </a:solidFill>
                          <a:latin typeface="Segoe UI"/>
                        </a:rPr>
                        <a:t>616.4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Now: Llama 3.2 1B, opening plus first sentences, 1 part</a:t>
                      </a:r>
                    </a:p>
                  </a:txBody>
                  <a:tcPr anchor="ctr" marL="91440" marR="91440" marT="27432" marB="27432">
                    <a:lnB w="9525">
                      <a:solidFill>
                        <a:srgbClr val="D9D2C3"/>
                      </a:solidFill>
                    </a:lnB>
                    <a:noFill/>
                  </a:tcPr>
                </a:tc>
                <a:tc>
                  <a:txBody>
                    <a:bodyPr/>
                    <a:lstStyle/>
                    <a:p>
                      <a:r>
                        <a:rPr sz="1600" b="0">
                          <a:solidFill>
                            <a:srgbClr val="1C1B1A"/>
                          </a:solidFill>
                          <a:latin typeface="Segoe UI"/>
                        </a:rPr>
                        <a:t>5,968 characters read (21%), 124.6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Popup's guess for reading the whole page</a:t>
                      </a:r>
                    </a:p>
                  </a:txBody>
                  <a:tcPr anchor="ctr" marL="91440" marR="91440" marT="27432" marB="27432">
                    <a:lnB w="9525">
                      <a:solidFill>
                        <a:srgbClr val="D9D2C3"/>
                      </a:solidFill>
                    </a:lnB>
                    <a:noFill/>
                  </a:tcPr>
                </a:tc>
                <a:tc>
                  <a:txBody>
                    <a:bodyPr/>
                    <a:lstStyle/>
                    <a:p>
                      <a:r>
                        <a:rPr sz="1600" b="0">
                          <a:solidFill>
                            <a:srgbClr val="1C1B1A"/>
                          </a:solidFill>
                          <a:latin typeface="Segoe UI"/>
                        </a:rPr>
                        <a:t>about 12 minutes (692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Same page on NVIDIA, whole page, 7 parts</a:t>
                      </a:r>
                    </a:p>
                  </a:txBody>
                  <a:tcPr anchor="ctr" marL="91440" marR="91440" marT="27432" marB="27432">
                    <a:lnB w="9525">
                      <a:solidFill>
                        <a:srgbClr val="D9D2C3"/>
                      </a:solidFill>
                    </a:lnB>
                    <a:noFill/>
                  </a:tcPr>
                </a:tc>
                <a:tc>
                  <a:txBody>
                    <a:bodyPr/>
                    <a:lstStyle/>
                    <a:p>
                      <a:r>
                        <a:rPr sz="1600" b="0">
                          <a:solidFill>
                            <a:srgbClr val="1C1B1A"/>
                          </a:solidFill>
                          <a:latin typeface="Segoe UI"/>
                        </a:rPr>
                        <a:t>74.1 s</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Built-in graphics read a part of 6,000 characters in about a minute, so the extension reads less. A button reads the whole page.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popup on first use: download, then warm-up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15</a:t>
            </a:r>
          </a:p>
        </p:txBody>
      </p:sp>
      <p:pic>
        <p:nvPicPr>
          <p:cNvPr id="7" name="Picture 6" descr="Popup before the first download. The button reads Download model and summarize."/>
          <p:cNvPicPr>
            <a:picLocks noChangeAspect="1"/>
          </p:cNvPicPr>
          <p:nvPr/>
        </p:nvPicPr>
        <p:blipFill>
          <a:blip r:embed="rId2"/>
          <a:stretch>
            <a:fillRect/>
          </a:stretch>
        </p:blipFill>
        <p:spPr>
          <a:xfrm>
            <a:off x="685800" y="2378237"/>
            <a:ext cx="5135727" cy="2513803"/>
          </a:xfrm>
          <a:prstGeom prst="rect">
            <a:avLst/>
          </a:prstGeom>
        </p:spPr>
      </p:pic>
      <p:sp>
        <p:nvSpPr>
          <p:cNvPr id="8" name="TextBox 7"/>
          <p:cNvSpPr txBox="1"/>
          <p:nvPr/>
        </p:nvSpPr>
        <p:spPr>
          <a:xfrm>
            <a:off x="685800" y="502920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Before the first use, the button asks for the download. Pretend model: the 664 MB size is its fixed number.</a:t>
            </a:r>
          </a:p>
        </p:txBody>
      </p:sp>
      <p:pic>
        <p:nvPicPr>
          <p:cNvPr id="9" name="Picture 8" descr="Popup during the warm-up. The text reads Warming up the model."/>
          <p:cNvPicPr>
            <a:picLocks noChangeAspect="1"/>
          </p:cNvPicPr>
          <p:nvPr/>
        </p:nvPicPr>
        <p:blipFill>
          <a:blip r:embed="rId3"/>
          <a:stretch>
            <a:fillRect/>
          </a:stretch>
        </p:blipFill>
        <p:spPr>
          <a:xfrm>
            <a:off x="6370167" y="1621393"/>
            <a:ext cx="5135727" cy="3270647"/>
          </a:xfrm>
          <a:prstGeom prst="rect">
            <a:avLst/>
          </a:prstGeom>
        </p:spPr>
      </p:pic>
      <p:sp>
        <p:nvSpPr>
          <p:cNvPr id="10" name="TextBox 9"/>
          <p:cNvSpPr txBox="1"/>
          <p:nvPr/>
        </p:nvSpPr>
        <p:spPr>
          <a:xfrm>
            <a:off x="6370167" y="502920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The warm-up line, after the download and the load. Real first-use warm-up: about 30 s (30.5 s in the clean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popup: a finished summary, and the notice</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16</a:t>
            </a:r>
          </a:p>
        </p:txBody>
      </p:sp>
      <p:pic>
        <p:nvPicPr>
          <p:cNvPr id="7" name="Picture 6" descr="Popup with a finished summary and its stats line: 1 part, 1 request, 0.2 s, Llama 3.2 1B."/>
          <p:cNvPicPr>
            <a:picLocks noChangeAspect="1"/>
          </p:cNvPicPr>
          <p:nvPr/>
        </p:nvPicPr>
        <p:blipFill>
          <a:blip r:embed="rId2"/>
          <a:stretch>
            <a:fillRect/>
          </a:stretch>
        </p:blipFill>
        <p:spPr>
          <a:xfrm>
            <a:off x="685800" y="1600200"/>
            <a:ext cx="3686705" cy="3657600"/>
          </a:xfrm>
          <a:prstGeom prst="rect">
            <a:avLst/>
          </a:prstGeom>
        </p:spPr>
      </p:pic>
      <p:sp>
        <p:nvSpPr>
          <p:cNvPr id="8" name="TextBox 7"/>
          <p:cNvSpPr txBox="1"/>
          <p:nvPr/>
        </p:nvSpPr>
        <p:spPr>
          <a:xfrm>
            <a:off x="685800" y="539496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A finished summary with its stats line. Pretend model: the 0.2 s is its fixed timing.</a:t>
            </a:r>
          </a:p>
        </p:txBody>
      </p:sp>
      <p:pic>
        <p:nvPicPr>
          <p:cNvPr id="9" name="Picture 8" descr="Popup with a notice above the summary saying the smaller model wrote it."/>
          <p:cNvPicPr>
            <a:picLocks noChangeAspect="1"/>
          </p:cNvPicPr>
          <p:nvPr/>
        </p:nvPicPr>
        <p:blipFill>
          <a:blip r:embed="rId3"/>
          <a:stretch>
            <a:fillRect/>
          </a:stretch>
        </p:blipFill>
        <p:spPr>
          <a:xfrm>
            <a:off x="6370167" y="1600200"/>
            <a:ext cx="3088640" cy="3657600"/>
          </a:xfrm>
          <a:prstGeom prst="rect">
            <a:avLst/>
          </a:prstGeom>
        </p:spPr>
      </p:pic>
      <p:sp>
        <p:nvSpPr>
          <p:cNvPr id="10" name="TextBox 9"/>
          <p:cNvSpPr txBox="1"/>
          <p:nvPr/>
        </p:nvSpPr>
        <p:spPr>
          <a:xfrm>
            <a:off x="6370167" y="539496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The main model ran out of graphics memory, so the small model wrote this summary. The notice sits above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Errors and fallbacks: the main messages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17</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3301045"/>
                <a:gridCol w="7519049"/>
              </a:tblGrid>
              <a:tr h="566928">
                <a:tc>
                  <a:txBody>
                    <a:bodyPr/>
                    <a:lstStyle/>
                    <a:p>
                      <a:r>
                        <a:rPr sz="1600" b="1">
                          <a:solidFill>
                            <a:srgbClr val="1C1B1A"/>
                          </a:solidFill>
                          <a:latin typeface="Segoe UI"/>
                        </a:rPr>
                        <a:t>Code</a:t>
                      </a:r>
                    </a:p>
                  </a:txBody>
                  <a:tcPr anchor="ctr" marL="91440" marR="91440" marT="27432" marB="27432">
                    <a:lnB w="12700">
                      <a:solidFill>
                        <a:srgbClr val="1C1B1A"/>
                      </a:solidFill>
                    </a:lnB>
                    <a:noFill/>
                  </a:tcPr>
                </a:tc>
                <a:tc>
                  <a:txBody>
                    <a:bodyPr/>
                    <a:lstStyle/>
                    <a:p>
                      <a:r>
                        <a:rPr sz="1600" b="1">
                          <a:solidFill>
                            <a:srgbClr val="1C1B1A"/>
                          </a:solidFill>
                          <a:latin typeface="Segoe UI"/>
                        </a:rPr>
                        <a:t>Exact message the reader sees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NO_WEBGPU</a:t>
                      </a:r>
                    </a:p>
                  </a:txBody>
                  <a:tcPr anchor="ctr" marL="91440" marR="91440" marT="27432" marB="27432">
                    <a:lnB w="9525">
                      <a:solidFill>
                        <a:srgbClr val="D9D2C3"/>
                      </a:solidFill>
                    </a:lnB>
                    <a:noFill/>
                  </a:tcPr>
                </a:tc>
                <a:tc>
                  <a:txBody>
                    <a:bodyPr/>
                    <a:lstStyle/>
                    <a:p>
                      <a:r>
                        <a:rPr sz="1600" b="0">
                          <a:solidFill>
                            <a:srgbClr val="1C1B1A"/>
                          </a:solidFill>
                          <a:latin typeface="Segoe UI"/>
                        </a:rPr>
                        <a:t>Chrome cannot use your graphics card for the model (WebGPU is not available). Open chrome://gpu to check.</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NO_SHADER_F16</a:t>
                      </a:r>
                    </a:p>
                  </a:txBody>
                  <a:tcPr anchor="ctr" marL="91440" marR="91440" marT="27432" marB="27432">
                    <a:lnB w="9525">
                      <a:solidFill>
                        <a:srgbClr val="D9D2C3"/>
                      </a:solidFill>
                    </a:lnB>
                    <a:noFill/>
                  </a:tcPr>
                </a:tc>
                <a:tc>
                  <a:txBody>
                    <a:bodyPr/>
                    <a:lstStyle/>
                    <a:p>
                      <a:r>
                        <a:rPr sz="1600" b="0">
                          <a:solidFill>
                            <a:srgbClr val="1C1B1A"/>
                          </a:solidFill>
                          <a:latin typeface="Segoe UI"/>
                        </a:rPr>
                        <a:t>Your graphics card does not support the 16-bit math this model needs, so this computer cannot run Version 2.</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GPU_MEMORY</a:t>
                      </a:r>
                    </a:p>
                  </a:txBody>
                  <a:tcPr anchor="ctr" marL="91440" marR="91440" marT="27432" marB="27432">
                    <a:lnB w="9525">
                      <a:solidFill>
                        <a:srgbClr val="D9D2C3"/>
                      </a:solidFill>
                    </a:lnB>
                    <a:noFill/>
                  </a:tcPr>
                </a:tc>
                <a:tc>
                  <a:txBody>
                    <a:bodyPr/>
                    <a:lstStyle/>
                    <a:p>
                      <a:r>
                        <a:rPr sz="1600" b="0">
                          <a:solidFill>
                            <a:srgbClr val="1C1B1A"/>
                          </a:solidFill>
                          <a:latin typeface="Segoe UI"/>
                        </a:rPr>
                        <a:t>The graphics card ran out of memory. Close other heavy tabs or programs and try again.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MODEL_DOWNLOAD_FAILED</a:t>
                      </a:r>
                    </a:p>
                  </a:txBody>
                  <a:tcPr anchor="ctr" marL="91440" marR="91440" marT="27432" marB="27432">
                    <a:lnB w="9525">
                      <a:solidFill>
                        <a:srgbClr val="D9D2C3"/>
                      </a:solidFill>
                    </a:lnB>
                    <a:noFill/>
                  </a:tcPr>
                </a:tc>
                <a:tc>
                  <a:txBody>
                    <a:bodyPr/>
                    <a:lstStyle/>
                    <a:p>
                      <a:r>
                        <a:rPr sz="1600" b="0">
                          <a:solidFill>
                            <a:srgbClr val="1C1B1A"/>
                          </a:solidFill>
                          <a:latin typeface="Segoe UI"/>
                        </a:rPr>
                        <a:t>The model download stopped. Check your internet connection and press the button again. What was already downloaded is kept.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TOO_LONG</a:t>
                      </a:r>
                    </a:p>
                  </a:txBody>
                  <a:tcPr anchor="ctr" marL="91440" marR="91440" marT="27432" marB="27432">
                    <a:lnB w="9525">
                      <a:solidFill>
                        <a:srgbClr val="D9D2C3"/>
                      </a:solidFill>
                    </a:lnB>
                    <a:noFill/>
                  </a:tcPr>
                </a:tc>
                <a:tc>
                  <a:txBody>
                    <a:bodyPr/>
                    <a:lstStyle/>
                    <a:p>
                      <a:r>
                        <a:rPr sz="1600" b="0">
                          <a:solidFill>
                            <a:srgbClr val="1C1B1A"/>
                          </a:solidFill>
                          <a:latin typeface="Segoe UI"/>
                        </a:rPr>
                        <a:t>This page is too long for the local model on this computer. Try a shorter page.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TIMEOUT</a:t>
                      </a:r>
                    </a:p>
                  </a:txBody>
                  <a:tcPr anchor="ctr" marL="91440" marR="91440" marT="27432" marB="27432">
                    <a:lnB w="9525">
                      <a:solidFill>
                        <a:srgbClr val="D9D2C3"/>
                      </a:solidFill>
                    </a:lnB>
                    <a:noFill/>
                  </a:tcPr>
                </a:tc>
                <a:tc>
                  <a:txBody>
                    <a:bodyPr/>
                    <a:lstStyle/>
                    <a:p>
                      <a:r>
                        <a:rPr sz="1600" b="0">
                          <a:solidFill>
                            <a:srgbClr val="1C1B1A"/>
                          </a:solidFill>
                          <a:latin typeface="Segoe UI"/>
                        </a:rPr>
                        <a:t>The model took too long to answer. Try again, or use a shorter page.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13 codes in all; six are shown. Also: TOO_LITTLE_TEXT, RESTRICTED_PAGE, INTERRUPTED, MODEL_LOAD_FAILED, EMPTY_ANSWER, EXTRACT_FAILED, SERVICE_ERROR.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Setup for the client: four scripts and one manual step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18</a:t>
            </a:r>
          </a:p>
        </p:txBody>
      </p:sp>
      <p:graphicFrame>
        <p:nvGraphicFramePr>
          <p:cNvPr id="7" name="Table 6"/>
          <p:cNvGraphicFramePr>
            <a:graphicFrameLocks noGrp="1"/>
          </p:cNvGraphicFramePr>
          <p:nvPr/>
        </p:nvGraphicFramePr>
        <p:xfrm>
          <a:off x="685800" y="1600200"/>
          <a:ext cx="10820093" cy="2834640"/>
        </p:xfrm>
        <a:graphic>
          <a:graphicData uri="http://schemas.openxmlformats.org/drawingml/2006/table">
            <a:tbl>
              <a:tblPr firstRow="1">
                <a:tableStyleId>{2D5ABB26-0587-4C30-8999-92F81FD0307C}</a:tableStyleId>
              </a:tblPr>
              <a:tblGrid>
                <a:gridCol w="2750871"/>
                <a:gridCol w="5685134"/>
                <a:gridCol w="2384088"/>
              </a:tblGrid>
              <a:tr h="566928">
                <a:tc>
                  <a:txBody>
                    <a:bodyPr/>
                    <a:lstStyle/>
                    <a:p>
                      <a:r>
                        <a:rPr sz="1600" b="1">
                          <a:solidFill>
                            <a:srgbClr val="1C1B1A"/>
                          </a:solidFill>
                          <a:latin typeface="Segoe UI"/>
                        </a:rPr>
                        <a:t>File</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c>
                  <a:txBody>
                    <a:bodyPr/>
                    <a:lstStyle/>
                    <a:p>
                      <a:r>
                        <a:rPr sz="1600" b="1">
                          <a:solidFill>
                            <a:srgbClr val="1C1B1A"/>
                          </a:solidFill>
                          <a:latin typeface="Segoe UI"/>
                        </a:rPr>
                        <a:t>When to run it</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setup.bat</a:t>
                      </a:r>
                    </a:p>
                  </a:txBody>
                  <a:tcPr anchor="ctr" marL="91440" marR="91440" marT="27432" marB="27432">
                    <a:lnB w="9525">
                      <a:solidFill>
                        <a:srgbClr val="D9D2C3"/>
                      </a:solidFill>
                    </a:lnB>
                    <a:noFill/>
                  </a:tcPr>
                </a:tc>
                <a:tc>
                  <a:txBody>
                    <a:bodyPr/>
                    <a:lstStyle/>
                    <a:p>
                      <a:r>
                        <a:rPr sz="1600" b="0">
                          <a:solidFill>
                            <a:srgbClr val="1C1B1A"/>
                          </a:solidFill>
                          <a:latin typeface="Segoe UI"/>
                        </a:rPr>
                        <a:t>Checks Chrome 116 or newer and the extension files. Ends with SETUP COMPLETE or SETUP FAILED.</a:t>
                      </a:r>
                    </a:p>
                  </a:txBody>
                  <a:tcPr anchor="ctr" marL="91440" marR="91440" marT="27432" marB="27432">
                    <a:lnB w="9525">
                      <a:solidFill>
                        <a:srgbClr val="D9D2C3"/>
                      </a:solidFill>
                    </a:lnB>
                    <a:noFill/>
                  </a:tcPr>
                </a:tc>
                <a:tc>
                  <a:txBody>
                    <a:bodyPr/>
                    <a:lstStyle/>
                    <a:p>
                      <a:r>
                        <a:rPr sz="1600" b="0">
                          <a:solidFill>
                            <a:srgbClr val="1C1B1A"/>
                          </a:solidFill>
                          <a:latin typeface="Segoe UI"/>
                        </a:rPr>
                        <a:t>Once, first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run.bat</a:t>
                      </a:r>
                    </a:p>
                  </a:txBody>
                  <a:tcPr anchor="ctr" marL="91440" marR="91440" marT="27432" marB="27432">
                    <a:lnB w="9525">
                      <a:solidFill>
                        <a:srgbClr val="D9D2C3"/>
                      </a:solidFill>
                    </a:lnB>
                    <a:noFill/>
                  </a:tcPr>
                </a:tc>
                <a:tc>
                  <a:txBody>
                    <a:bodyPr/>
                    <a:lstStyle/>
                    <a:p>
                      <a:r>
                        <a:rPr sz="1600" b="0">
                          <a:solidFill>
                            <a:srgbClr val="1C1B1A"/>
                          </a:solidFill>
                          <a:latin typeface="Segoe UI"/>
                        </a:rPr>
                        <a:t>Opens Chrome's extensions page and shows the four steps. The folder path is on the clipboard.</a:t>
                      </a:r>
                    </a:p>
                  </a:txBody>
                  <a:tcPr anchor="ctr" marL="91440" marR="91440" marT="27432" marB="27432">
                    <a:lnB w="9525">
                      <a:solidFill>
                        <a:srgbClr val="D9D2C3"/>
                      </a:solidFill>
                    </a:lnB>
                    <a:noFill/>
                  </a:tcPr>
                </a:tc>
                <a:tc>
                  <a:txBody>
                    <a:bodyPr/>
                    <a:lstStyle/>
                    <a:p>
                      <a:r>
                        <a:rPr sz="1600" b="0">
                          <a:solidFill>
                            <a:srgbClr val="1C1B1A"/>
                          </a:solidFill>
                          <a:latin typeface="Segoe UI"/>
                        </a:rPr>
                        <a:t>To load the extension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check-computer.ps1</a:t>
                      </a:r>
                    </a:p>
                  </a:txBody>
                  <a:tcPr anchor="ctr" marL="91440" marR="91440" marT="27432" marB="27432">
                    <a:lnB w="9525">
                      <a:solidFill>
                        <a:srgbClr val="D9D2C3"/>
                      </a:solidFill>
                    </a:lnB>
                    <a:noFill/>
                  </a:tcPr>
                </a:tc>
                <a:tc>
                  <a:txBody>
                    <a:bodyPr/>
                    <a:lstStyle/>
                    <a:p>
                      <a:r>
                        <a:rPr sz="1600" b="0">
                          <a:solidFill>
                            <a:srgbClr val="1C1B1A"/>
                          </a:solidFill>
                          <a:latin typeface="Segoe UI"/>
                        </a:rPr>
                        <a:t>Prints the Windows version, memory, graphics chips and free space on drive C.</a:t>
                      </a:r>
                    </a:p>
                  </a:txBody>
                  <a:tcPr anchor="ctr" marL="91440" marR="91440" marT="27432" marB="27432">
                    <a:lnB w="9525">
                      <a:solidFill>
                        <a:srgbClr val="D9D2C3"/>
                      </a:solidFill>
                    </a:lnB>
                    <a:noFill/>
                  </a:tcPr>
                </a:tc>
                <a:tc>
                  <a:txBody>
                    <a:bodyPr/>
                    <a:lstStyle/>
                    <a:p>
                      <a:r>
                        <a:rPr sz="1600" b="0">
                          <a:solidFill>
                            <a:srgbClr val="1C1B1A"/>
                          </a:solidFill>
                          <a:latin typeface="Segoe UI"/>
                        </a:rPr>
                        <a:t>Before the visit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setup.bat --gpu</a:t>
                      </a:r>
                    </a:p>
                  </a:txBody>
                  <a:tcPr anchor="ctr" marL="91440" marR="91440" marT="27432" marB="27432">
                    <a:lnB w="9525">
                      <a:solidFill>
                        <a:srgbClr val="D9D2C3"/>
                      </a:solidFill>
                    </a:lnB>
                    <a:noFill/>
                  </a:tcPr>
                </a:tc>
                <a:tc>
                  <a:txBody>
                    <a:bodyPr/>
                    <a:lstStyle/>
                    <a:p>
                      <a:r>
                        <a:rPr sz="1600" b="0">
                          <a:solidFill>
                            <a:srgbClr val="1C1B1A"/>
                          </a:solidFill>
                          <a:latin typeface="Segoe UI"/>
                        </a:rPr>
                        <a:t>Opt-in only. Writes one per-user Windows value so Chrome uses the separate card. Undo: set-chrome-gpu.ps1 -Remove.</a:t>
                      </a:r>
                    </a:p>
                  </a:txBody>
                  <a:tcPr anchor="ctr" marL="91440" marR="91440" marT="27432" marB="27432">
                    <a:lnB w="9525">
                      <a:solidFill>
                        <a:srgbClr val="D9D2C3"/>
                      </a:solidFill>
                    </a:lnB>
                    <a:noFill/>
                  </a:tcPr>
                </a:tc>
                <a:tc>
                  <a:txBody>
                    <a:bodyPr/>
                    <a:lstStyle/>
                    <a:p>
                      <a:r>
                        <a:rPr sz="1600" b="0">
                          <a:solidFill>
                            <a:srgbClr val="1C1B1A"/>
                          </a:solidFill>
                          <a:latin typeface="Segoe UI"/>
                        </a:rPr>
                        <a:t>Only on two-chip laptops. Nothing to do on the client's laptop.</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Chrome 137 and later cannot load an extension from a flag. The user clicks Load unpacked and selects the folder.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How it was tested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19</a:t>
            </a:r>
          </a:p>
        </p:txBody>
      </p:sp>
      <p:sp>
        <p:nvSpPr>
          <p:cNvPr id="7" name="Rectangle 6"/>
          <p:cNvSpPr/>
          <p:nvPr/>
        </p:nvSpPr>
        <p:spPr>
          <a:xfrm>
            <a:off x="685800"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93</a:t>
            </a:r>
          </a:p>
        </p:txBody>
      </p:sp>
      <p:sp>
        <p:nvSpPr>
          <p:cNvPr id="9" name="TextBox 8"/>
          <p:cNvSpPr txBox="1"/>
          <p:nvPr/>
        </p:nvSpPr>
        <p:spPr>
          <a:xfrm>
            <a:off x="685800"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unit tests, with no browser and no network</a:t>
            </a:r>
          </a:p>
        </p:txBody>
      </p:sp>
      <p:sp>
        <p:nvSpPr>
          <p:cNvPr id="10" name="Rectangle 9"/>
          <p:cNvSpPr/>
          <p:nvPr/>
        </p:nvSpPr>
        <p:spPr>
          <a:xfrm>
            <a:off x="3505123"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123"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31</a:t>
            </a:r>
          </a:p>
        </p:txBody>
      </p:sp>
      <p:sp>
        <p:nvSpPr>
          <p:cNvPr id="12" name="TextBox 11"/>
          <p:cNvSpPr txBox="1"/>
          <p:nvPr/>
        </p:nvSpPr>
        <p:spPr>
          <a:xfrm>
            <a:off x="3505123"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browser scenarios, all passing</a:t>
            </a:r>
          </a:p>
        </p:txBody>
      </p:sp>
      <p:sp>
        <p:nvSpPr>
          <p:cNvPr id="13" name="Rectangle 12"/>
          <p:cNvSpPr/>
          <p:nvPr/>
        </p:nvSpPr>
        <p:spPr>
          <a:xfrm>
            <a:off x="6324446"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6"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15</a:t>
            </a:r>
          </a:p>
        </p:txBody>
      </p:sp>
      <p:sp>
        <p:nvSpPr>
          <p:cNvPr id="15" name="TextBox 14"/>
          <p:cNvSpPr txBox="1"/>
          <p:nvPr/>
        </p:nvSpPr>
        <p:spPr>
          <a:xfrm>
            <a:off x="6324446"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Windows script checks, B1 to B10c</a:t>
            </a:r>
          </a:p>
        </p:txBody>
      </p:sp>
      <p:sp>
        <p:nvSpPr>
          <p:cNvPr id="16" name="Rectangle 15"/>
          <p:cNvSpPr/>
          <p:nvPr/>
        </p:nvSpPr>
        <p:spPr>
          <a:xfrm>
            <a:off x="9143769"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769"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4</a:t>
            </a:r>
          </a:p>
        </p:txBody>
      </p:sp>
      <p:sp>
        <p:nvSpPr>
          <p:cNvPr id="18" name="TextBox 17"/>
          <p:cNvSpPr txBox="1"/>
          <p:nvPr/>
        </p:nvSpPr>
        <p:spPr>
          <a:xfrm>
            <a:off x="9143769"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clean real-model run files</a:t>
            </a:r>
          </a:p>
        </p:txBody>
      </p:sp>
      <p:cxnSp>
        <p:nvCxnSpPr>
          <p:cNvPr id="19" name="Connector 18"/>
          <p:cNvCxnSpPr/>
          <p:nvPr/>
        </p:nvCxnSpPr>
        <p:spPr>
          <a:xfrm>
            <a:off x="685800" y="4251960"/>
            <a:ext cx="10820095" cy="0"/>
          </a:xfrm>
          <a:prstGeom prst="line">
            <a:avLst/>
          </a:prstGeom>
          <a:ln w="9525">
            <a:solidFill>
              <a:srgbClr val="D9D2C3"/>
            </a:solidFill>
          </a:ln>
        </p:spPr>
      </p:cxnSp>
      <p:sp>
        <p:nvSpPr>
          <p:cNvPr id="20" name="TextBox 19"/>
          <p:cNvSpPr txBox="1"/>
          <p:nvPr/>
        </p:nvSpPr>
        <p:spPr>
          <a:xfrm>
            <a:off x="685800" y="4434840"/>
            <a:ext cx="10820095" cy="914400"/>
          </a:xfrm>
          <a:prstGeom prst="rect">
            <a:avLst/>
          </a:prstGeom>
          <a:noFill/>
        </p:spPr>
        <p:txBody>
          <a:bodyPr wrap="square" anchor="t" lIns="45720" rIns="45720" tIns="27432" bIns="27432">
            <a:spAutoFit/>
          </a:bodyPr>
          <a:lstStyle/>
          <a:p>
            <a:pPr algn="l"/>
            <a:r>
              <a:rPr sz="1600" b="0" i="1">
                <a:solidFill>
                  <a:srgbClr val="6B665C"/>
                </a:solidFill>
                <a:latin typeface="Segoe UI"/>
              </a:rPr>
              <a:t>Most browser tests use a pretend model, so failures such as no WebGPU can be forced on purpose. The real model was run separately.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Measured results: clean runs only</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20</a:t>
            </a:r>
          </a:p>
        </p:txBody>
      </p:sp>
      <p:graphicFrame>
        <p:nvGraphicFramePr>
          <p:cNvPr id="7" name="Table 6"/>
          <p:cNvGraphicFramePr>
            <a:graphicFrameLocks noGrp="1"/>
          </p:cNvGraphicFramePr>
          <p:nvPr/>
        </p:nvGraphicFramePr>
        <p:xfrm>
          <a:off x="685800" y="1600200"/>
          <a:ext cx="10820093" cy="4069080"/>
        </p:xfrm>
        <a:graphic>
          <a:graphicData uri="http://schemas.openxmlformats.org/drawingml/2006/table">
            <a:tbl>
              <a:tblPr firstRow="1">
                <a:tableStyleId>{2D5ABB26-0587-4C30-8999-92F81FD0307C}</a:tableStyleId>
              </a:tblPr>
              <a:tblGrid>
                <a:gridCol w="6051917"/>
                <a:gridCol w="2384088"/>
                <a:gridCol w="2384088"/>
              </a:tblGrid>
              <a:tr h="452120">
                <a:tc>
                  <a:txBody>
                    <a:bodyPr/>
                    <a:lstStyle/>
                    <a:p>
                      <a:r>
                        <a:rPr sz="1600" b="1">
                          <a:solidFill>
                            <a:srgbClr val="1C1B1A"/>
                          </a:solidFill>
                          <a:latin typeface="Segoe UI"/>
                        </a:rPr>
                        <a:t>Case</a:t>
                      </a:r>
                    </a:p>
                  </a:txBody>
                  <a:tcPr anchor="ctr" marL="91440" marR="91440" marT="27432" marB="27432">
                    <a:lnB w="12700">
                      <a:solidFill>
                        <a:srgbClr val="1C1B1A"/>
                      </a:solidFill>
                    </a:lnB>
                    <a:noFill/>
                  </a:tcPr>
                </a:tc>
                <a:tc>
                  <a:txBody>
                    <a:bodyPr/>
                    <a:lstStyle/>
                    <a:p>
                      <a:r>
                        <a:rPr sz="1600" b="1">
                          <a:solidFill>
                            <a:srgbClr val="1C1B1A"/>
                          </a:solidFill>
                          <a:latin typeface="Segoe UI"/>
                        </a:rPr>
                        <a:t>Total (s)</a:t>
                      </a:r>
                    </a:p>
                  </a:txBody>
                  <a:tcPr anchor="ctr" marL="91440" marR="91440" marT="27432" marB="27432">
                    <a:lnB w="12700">
                      <a:solidFill>
                        <a:srgbClr val="1C1B1A"/>
                      </a:solidFill>
                    </a:lnB>
                    <a:noFill/>
                  </a:tcPr>
                </a:tc>
                <a:tc>
                  <a:txBody>
                    <a:bodyPr/>
                    <a:lstStyle/>
                    <a:p>
                      <a:r>
                        <a:rPr sz="1600" b="1">
                          <a:solidFill>
                            <a:srgbClr val="1C1B1A"/>
                          </a:solidFill>
                          <a:latin typeface="Segoe UI"/>
                        </a:rPr>
                        <a:t>Tokens a second (writing)</a:t>
                      </a:r>
                    </a:p>
                  </a:txBody>
                  <a:tcPr anchor="ctr" marL="91440" marR="91440" marT="27432" marB="27432">
                    <a:lnB w="12700">
                      <a:solidFill>
                        <a:srgbClr val="1C1B1A"/>
                      </a:solidFill>
                    </a:lnB>
                    <a:noFill/>
                  </a:tcPr>
                </a:tc>
              </a:tr>
              <a:tr h="452120">
                <a:tc>
                  <a:txBody>
                    <a:bodyPr/>
                    <a:lstStyle/>
                    <a:p>
                      <a:r>
                        <a:rPr sz="1600" b="0">
                          <a:solidFill>
                            <a:srgbClr val="1C1B1A"/>
                          </a:solidFill>
                          <a:latin typeface="Segoe UI"/>
                        </a:rPr>
                        <a:t>Short article, first use (NVIDIA)</a:t>
                      </a:r>
                    </a:p>
                  </a:txBody>
                  <a:tcPr anchor="ctr" marL="91440" marR="91440" marT="27432" marB="27432">
                    <a:lnB w="9525">
                      <a:solidFill>
                        <a:srgbClr val="D9D2C3"/>
                      </a:solidFill>
                    </a:lnB>
                    <a:noFill/>
                  </a:tcPr>
                </a:tc>
                <a:tc>
                  <a:txBody>
                    <a:bodyPr/>
                    <a:lstStyle/>
                    <a:p>
                      <a:r>
                        <a:rPr sz="1600" b="0">
                          <a:solidFill>
                            <a:srgbClr val="1C1B1A"/>
                          </a:solidFill>
                          <a:latin typeface="Segoe UI"/>
                        </a:rPr>
                        <a:t>196.8</a:t>
                      </a:r>
                    </a:p>
                  </a:txBody>
                  <a:tcPr anchor="ctr" marL="91440" marR="91440" marT="27432" marB="27432">
                    <a:lnB w="9525">
                      <a:solidFill>
                        <a:srgbClr val="D9D2C3"/>
                      </a:solidFill>
                    </a:lnB>
                    <a:noFill/>
                  </a:tcPr>
                </a:tc>
                <a:tc>
                  <a:txBody>
                    <a:bodyPr/>
                    <a:lstStyle/>
                    <a:p>
                      <a:r>
                        <a:rPr sz="1600" b="0">
                          <a:solidFill>
                            <a:srgbClr val="1C1B1A"/>
                          </a:solidFill>
                          <a:latin typeface="Segoe UI"/>
                        </a:rPr>
                        <a:t>47</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Seven-part Lighthouse article, whole page (NVIDIA)</a:t>
                      </a:r>
                    </a:p>
                  </a:txBody>
                  <a:tcPr anchor="ctr" marL="91440" marR="91440" marT="27432" marB="27432">
                    <a:lnB w="9525">
                      <a:solidFill>
                        <a:srgbClr val="D9D2C3"/>
                      </a:solidFill>
                    </a:lnB>
                    <a:noFill/>
                  </a:tcPr>
                </a:tc>
                <a:tc>
                  <a:txBody>
                    <a:bodyPr/>
                    <a:lstStyle/>
                    <a:p>
                      <a:r>
                        <a:rPr sz="1600" b="0">
                          <a:solidFill>
                            <a:srgbClr val="1C1B1A"/>
                          </a:solidFill>
                          <a:latin typeface="Segoe UI"/>
                        </a:rPr>
                        <a:t>74.1</a:t>
                      </a:r>
                    </a:p>
                  </a:txBody>
                  <a:tcPr anchor="ctr" marL="91440" marR="91440" marT="27432" marB="27432">
                    <a:lnB w="9525">
                      <a:solidFill>
                        <a:srgbClr val="D9D2C3"/>
                      </a:solidFill>
                    </a:lnB>
                    <a:noFill/>
                  </a:tcPr>
                </a:tc>
                <a:tc>
                  <a:txBody>
                    <a:bodyPr/>
                    <a:lstStyle/>
                    <a:p>
                      <a:r>
                        <a:rPr sz="1600" b="0">
                          <a:solidFill>
                            <a:srgbClr val="1C1B1A"/>
                          </a:solidFill>
                          <a:latin typeface="Segoe UI"/>
                        </a:rPr>
                        <a:t>34</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whole page, SmolLM2 (Intel, before the speed work)</a:t>
                      </a:r>
                    </a:p>
                  </a:txBody>
                  <a:tcPr anchor="ctr" marL="91440" marR="91440" marT="27432" marB="27432">
                    <a:lnB w="9525">
                      <a:solidFill>
                        <a:srgbClr val="D9D2C3"/>
                      </a:solidFill>
                    </a:lnB>
                    <a:noFill/>
                  </a:tcPr>
                </a:tc>
                <a:tc>
                  <a:txBody>
                    <a:bodyPr/>
                    <a:lstStyle/>
                    <a:p>
                      <a:r>
                        <a:rPr sz="1600" b="0">
                          <a:solidFill>
                            <a:srgbClr val="1C1B1A"/>
                          </a:solidFill>
                          <a:latin typeface="Segoe UI"/>
                        </a:rPr>
                        <a:t>616.4</a:t>
                      </a:r>
                    </a:p>
                  </a:txBody>
                  <a:tcPr anchor="ctr" marL="91440" marR="91440" marT="27432" marB="27432">
                    <a:lnB w="9525">
                      <a:solidFill>
                        <a:srgbClr val="D9D2C3"/>
                      </a:solidFill>
                    </a:lnB>
                    <a:noFill/>
                  </a:tcPr>
                </a:tc>
                <a:tc>
                  <a:txBody>
                    <a:bodyPr/>
                    <a:lstStyle/>
                    <a:p>
                      <a:r>
                        <a:rPr sz="1600" b="0">
                          <a:solidFill>
                            <a:srgbClr val="1C1B1A"/>
                          </a:solidFill>
                          <a:latin typeface="Segoe UI"/>
                        </a:rPr>
                        <a:t>4</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Short article, first use, Llama 3.2 1B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200.6</a:t>
                      </a:r>
                    </a:p>
                  </a:txBody>
                  <a:tcPr anchor="ctr" marL="91440" marR="91440" marT="27432" marB="27432">
                    <a:lnB w="9525">
                      <a:solidFill>
                        <a:srgbClr val="D9D2C3"/>
                      </a:solidFill>
                    </a:lnB>
                    <a:noFill/>
                  </a:tcPr>
                </a:tc>
                <a:tc>
                  <a:txBody>
                    <a:bodyPr/>
                    <a:lstStyle/>
                    <a:p>
                      <a:r>
                        <a:rPr sz="1600" b="0">
                          <a:solidFill>
                            <a:srgbClr val="1C1B1A"/>
                          </a:solidFill>
                          <a:latin typeface="Segoe UI"/>
                        </a:rPr>
                        <a:t>2</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shortened to 21%, Llama 3.2 1B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124.6</a:t>
                      </a:r>
                    </a:p>
                  </a:txBody>
                  <a:tcPr anchor="ctr" marL="91440" marR="91440" marT="27432" marB="27432">
                    <a:lnB w="9525">
                      <a:solidFill>
                        <a:srgbClr val="D9D2C3"/>
                      </a:solidFill>
                    </a:lnB>
                    <a:noFill/>
                  </a:tcPr>
                </a:tc>
                <a:tc>
                  <a:txBody>
                    <a:bodyPr/>
                    <a:lstStyle/>
                    <a:p>
                      <a:r>
                        <a:rPr sz="1600" b="0">
                          <a:solidFill>
                            <a:srgbClr val="1C1B1A"/>
                          </a:solidFill>
                          <a:latin typeface="Segoe UI"/>
                        </a:rPr>
                        <a:t>1.8</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Long fixture article, shortened to 50%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103.8</a:t>
                      </a:r>
                    </a:p>
                  </a:txBody>
                  <a:tcPr anchor="ctr" marL="91440" marR="91440" marT="27432" marB="27432">
                    <a:lnB w="9525">
                      <a:solidFill>
                        <a:srgbClr val="D9D2C3"/>
                      </a:solidFill>
                    </a:lnB>
                    <a:noFill/>
                  </a:tcPr>
                </a:tc>
                <a:tc>
                  <a:txBody>
                    <a:bodyPr/>
                    <a:lstStyle/>
                    <a:p>
                      <a:r>
                        <a:rPr sz="1600" b="0">
                          <a:solidFill>
                            <a:srgbClr val="1C1B1A"/>
                          </a:solidFill>
                          <a:latin typeface="Segoe UI"/>
                        </a:rPr>
                        <a:t>1.9</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shortened, visible window, 3 runs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118.7 / 101.7 / 116.7</a:t>
                      </a:r>
                    </a:p>
                  </a:txBody>
                  <a:tcPr anchor="ctr" marL="91440" marR="91440" marT="27432" marB="27432">
                    <a:lnB w="9525">
                      <a:solidFill>
                        <a:srgbClr val="D9D2C3"/>
                      </a:solidFill>
                    </a:lnB>
                    <a:noFill/>
                  </a:tcPr>
                </a:tc>
                <a:tc>
                  <a:txBody>
                    <a:bodyPr/>
                    <a:lstStyle/>
                    <a:p>
                      <a:r>
                        <a:rPr sz="1600" b="0">
                          <a:solidFill>
                            <a:srgbClr val="1C1B1A"/>
                          </a:solidFill>
                          <a:latin typeface="Segoe UI"/>
                        </a:rPr>
                        <a:t>2.0</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Fast quality, SmolLM2 (Intel; the summary failed)</a:t>
                      </a:r>
                    </a:p>
                  </a:txBody>
                  <a:tcPr anchor="ctr" marL="91440" marR="91440" marT="27432" marB="27432">
                    <a:lnB w="9525">
                      <a:solidFill>
                        <a:srgbClr val="D9D2C3"/>
                      </a:solidFill>
                    </a:lnB>
                    <a:noFill/>
                  </a:tcPr>
                </a:tc>
                <a:tc>
                  <a:txBody>
                    <a:bodyPr/>
                    <a:lstStyle/>
                    <a:p>
                      <a:r>
                        <a:rPr sz="1600" b="0">
                          <a:solidFill>
                            <a:srgbClr val="1C1B1A"/>
                          </a:solidFill>
                          <a:latin typeface="Segoe UI"/>
                        </a:rPr>
                        <a:t>64.7</a:t>
                      </a:r>
                    </a:p>
                  </a:txBody>
                  <a:tcPr anchor="ctr" marL="91440" marR="91440" marT="27432" marB="27432">
                    <a:lnB w="9525">
                      <a:solidFill>
                        <a:srgbClr val="D9D2C3"/>
                      </a:solidFill>
                    </a:lnB>
                    <a:noFill/>
                  </a:tcPr>
                </a:tc>
                <a:tc>
                  <a:txBody>
                    <a:bodyPr/>
                    <a:lstStyle/>
                    <a:p>
                      <a:r>
                        <a:rPr sz="1600" b="0">
                          <a:solidFill>
                            <a:srgbClr val="1C1B1A"/>
                          </a:solidFill>
                          <a:latin typeface="Segoe UI"/>
                        </a:rPr>
                        <a:t>4</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80644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Developer laptop. Hidden test browser, except the visible-window row. Not yet measured on the client's laptop.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Problems met and how they were fixed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21</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4584786"/>
                <a:gridCol w="6235308"/>
              </a:tblGrid>
              <a:tr h="566928">
                <a:tc>
                  <a:txBody>
                    <a:bodyPr/>
                    <a:lstStyle/>
                    <a:p>
                      <a:r>
                        <a:rPr sz="1600" b="1">
                          <a:solidFill>
                            <a:srgbClr val="1C1B1A"/>
                          </a:solidFill>
                          <a:latin typeface="Segoe UI"/>
                        </a:rPr>
                        <a:t>Problem</a:t>
                      </a:r>
                    </a:p>
                  </a:txBody>
                  <a:tcPr anchor="ctr" marL="91440" marR="91440" marT="27432" marB="27432">
                    <a:lnB w="12700">
                      <a:solidFill>
                        <a:srgbClr val="1C1B1A"/>
                      </a:solidFill>
                    </a:lnB>
                    <a:noFill/>
                  </a:tcPr>
                </a:tc>
                <a:tc>
                  <a:txBody>
                    <a:bodyPr/>
                    <a:lstStyle/>
                    <a:p>
                      <a:r>
                        <a:rPr sz="1600" b="1">
                          <a:solidFill>
                            <a:srgbClr val="1C1B1A"/>
                          </a:solidFill>
                          <a:latin typeface="Segoe UI"/>
                        </a:rPr>
                        <a:t>What we did</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Chrome used the weak Intel chip: about 2 tokens a second, a 36 s first answer</a:t>
                      </a:r>
                    </a:p>
                  </a:txBody>
                  <a:tcPr anchor="ctr" marL="91440" marR="91440" marT="27432" marB="27432">
                    <a:lnB w="9525">
                      <a:solidFill>
                        <a:srgbClr val="D9D2C3"/>
                      </a:solidFill>
                    </a:lnB>
                    <a:noFill/>
                  </a:tcPr>
                </a:tc>
                <a:tc>
                  <a:txBody>
                    <a:bodyPr/>
                    <a:lstStyle/>
                    <a:p>
                      <a:r>
                        <a:rPr sz="1600" b="0">
                          <a:solidFill>
                            <a:srgbClr val="1C1B1A"/>
                          </a:solidFill>
                          <a:latin typeface="Segoe UI"/>
                        </a:rPr>
                        <a:t>A warm-up step and an on-screen note on Intel. The speed work in the last row later replaced the automatic smaller model.</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WebLLM's model cache failed inside the offscreen page (CacheStorage error)</a:t>
                      </a:r>
                    </a:p>
                  </a:txBody>
                  <a:tcPr anchor="ctr" marL="91440" marR="91440" marT="27432" marB="27432">
                    <a:lnB w="9525">
                      <a:solidFill>
                        <a:srgbClr val="D9D2C3"/>
                      </a:solidFill>
                    </a:lnB>
                    <a:noFill/>
                  </a:tcPr>
                </a:tc>
                <a:tc>
                  <a:txBody>
                    <a:bodyPr/>
                    <a:lstStyle/>
                    <a:p>
                      <a:r>
                        <a:rPr sz="1600" b="0">
                          <a:solidFill>
                            <a:srgbClr val="1C1B1A"/>
                          </a:solidFill>
                          <a:latin typeface="Segoe UI"/>
                        </a:rPr>
                        <a:t>Switched WebLLM to IndexedDB and asked for unlimitedStorage, so the browser keeps the model files.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The small model wrote summaries with nothing on screen to say so</a:t>
                      </a:r>
                    </a:p>
                  </a:txBody>
                  <a:tcPr anchor="ctr" marL="91440" marR="91440" marT="27432" marB="27432">
                    <a:lnB w="9525">
                      <a:solidFill>
                        <a:srgbClr val="D9D2C3"/>
                      </a:solidFill>
                    </a:lnB>
                    <a:noFill/>
                  </a:tcPr>
                </a:tc>
                <a:tc>
                  <a:txBody>
                    <a:bodyPr/>
                    <a:lstStyle/>
                    <a:p>
                      <a:r>
                        <a:rPr sz="1600" b="0">
                          <a:solidFill>
                            <a:srgbClr val="1C1B1A"/>
                          </a:solidFill>
                          <a:latin typeface="Segoe UI"/>
                        </a:rPr>
                        <a:t>A notice now sits above a summary written by the smaller model. The model line refreshes when a job ends.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 stored model was labeled Downloading for about 0.8 s</a:t>
                      </a:r>
                    </a:p>
                  </a:txBody>
                  <a:tcPr anchor="ctr" marL="91440" marR="91440" marT="27432" marB="27432">
                    <a:lnB w="9525">
                      <a:solidFill>
                        <a:srgbClr val="D9D2C3"/>
                      </a:solidFill>
                    </a:lnB>
                    <a:noFill/>
                  </a:tcPr>
                </a:tc>
                <a:tc>
                  <a:txBody>
                    <a:bodyPr/>
                    <a:lstStyle/>
                    <a:p>
                      <a:r>
                        <a:rPr sz="1600" b="0">
                          <a:solidFill>
                            <a:srgbClr val="1C1B1A"/>
                          </a:solidFill>
                          <a:latin typeface="Segoe UI"/>
                        </a:rPr>
                        <a:t>The offscreen page checks the store first, so a stored model always shows as loading. Unit test added.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Real Chrome, long Wikipedia page, Intel chip: a vague error with no reason</a:t>
                      </a:r>
                    </a:p>
                  </a:txBody>
                  <a:tcPr anchor="ctr" marL="91440" marR="91440" marT="27432" marB="27432">
                    <a:lnB w="9525">
                      <a:solidFill>
                        <a:srgbClr val="D9D2C3"/>
                      </a:solidFill>
                    </a:lnB>
                    <a:noFill/>
                  </a:tcPr>
                </a:tc>
                <a:tc>
                  <a:txBody>
                    <a:bodyPr/>
                    <a:lstStyle/>
                    <a:p>
                      <a:r>
                        <a:rPr sz="1600" b="0">
                          <a:solidFill>
                            <a:srgbClr val="1C1B1A"/>
                          </a:solidFill>
                          <a:latin typeface="Segoe UI"/>
                        </a:rPr>
                        <a:t>A part too long for the model is cut in half and retried. The answer limit is 10 minutes. The popup now shows a technical detail line.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Ten minutes for a long page on built-in graphics (the client's chip)</a:t>
                      </a:r>
                    </a:p>
                  </a:txBody>
                  <a:tcPr anchor="ctr" marL="91440" marR="91440" marT="27432" marB="27432">
                    <a:lnB w="9525">
                      <a:solidFill>
                        <a:srgbClr val="D9D2C3"/>
                      </a:solidFill>
                    </a:lnB>
                    <a:noFill/>
                  </a:tcPr>
                </a:tc>
                <a:tc>
                  <a:txBody>
                    <a:bodyPr/>
                    <a:lstStyle/>
                    <a:p>
                      <a:r>
                        <a:rPr sz="1600" b="0">
                          <a:solidFill>
                            <a:srgbClr val="1C1B1A"/>
                          </a:solidFill>
                          <a:latin typeface="Segoe UI"/>
                        </a:rPr>
                        <a:t>Measured: reading is the cost. Read less of a long page, keep the accurate model: 616 s down to 125 s.</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Found and fixed on 21, 24 and 26 October 2026. Each one is written in the development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is not done or not verified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22</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Client's laptop: details known (Iris Xe, 16 GB, Chrome 156), but never run there.</a:t>
            </a:r>
          </a:p>
          <a:p>
            <a:pPr marL="320040" indent="-320040">
              <a:lnSpc>
                <a:spcPct val="105000"/>
              </a:lnSpc>
              <a:spcAft>
                <a:spcPts val="1200"/>
              </a:spcAft>
              <a:buClr>
                <a:srgbClr val="B4391F"/>
              </a:buClr>
              <a:buFont typeface="Arial"/>
              <a:buChar char="•"/>
            </a:pPr>
            <a:r>
              <a:rPr sz="2200">
                <a:solidFill>
                  <a:srgbClr val="1C1B1A"/>
                </a:solidFill>
                <a:latin typeface="Segoe UI"/>
              </a:rPr>
              <a:t>Visible window checked on the developer laptop (118.7, 101.7, 116.7 s); not on the client's.</a:t>
            </a:r>
          </a:p>
          <a:p>
            <a:pPr marL="320040" indent="-320040">
              <a:lnSpc>
                <a:spcPct val="105000"/>
              </a:lnSpc>
              <a:spcAft>
                <a:spcPts val="1200"/>
              </a:spcAft>
              <a:buClr>
                <a:srgbClr val="B4391F"/>
              </a:buClr>
              <a:buFont typeface="Arial"/>
              <a:buChar char="•"/>
            </a:pPr>
            <a:r>
              <a:rPr sz="2200">
                <a:solidFill>
                  <a:srgbClr val="1C1B1A"/>
                </a:solidFill>
                <a:latin typeface="Segoe UI"/>
              </a:rPr>
              <a:t>setup.bat --gpu: tested only on a test registry key; not needed on the client's laptop.</a:t>
            </a:r>
          </a:p>
          <a:p>
            <a:pPr marL="320040" indent="-320040">
              <a:lnSpc>
                <a:spcPct val="105000"/>
              </a:lnSpc>
              <a:spcAft>
                <a:spcPts val="1200"/>
              </a:spcAft>
              <a:buClr>
                <a:srgbClr val="B4391F"/>
              </a:buClr>
              <a:buFont typeface="Arial"/>
              <a:buChar char="•"/>
            </a:pPr>
            <a:r>
              <a:rPr sz="2200">
                <a:solidFill>
                  <a:srgbClr val="1C1B1A"/>
                </a:solidFill>
                <a:latin typeface="Segoe UI"/>
              </a:rPr>
              <a:t>A shortened summary covers about a fifth of a long page; the whole page takes 5 to 12 minutes.</a:t>
            </a:r>
          </a:p>
          <a:p>
            <a:pPr marL="320040" indent="-320040">
              <a:lnSpc>
                <a:spcPct val="105000"/>
              </a:lnSpc>
              <a:spcAft>
                <a:spcPts val="1200"/>
              </a:spcAft>
              <a:buClr>
                <a:srgbClr val="B4391F"/>
              </a:buClr>
              <a:buFont typeface="Arial"/>
              <a:buChar char="•"/>
            </a:pPr>
            <a:r>
              <a:rPr sz="2200">
                <a:solidFill>
                  <a:srgbClr val="1C1B1A"/>
                </a:solidFill>
                <a:latin typeface="Segoe UI"/>
              </a:rPr>
              <a:t>English only. Small-model slips. Another engine (Transformers.js) was not tried.</a:t>
            </a:r>
          </a:p>
          <a:p>
            <a:pPr marL="320040" indent="-320040">
              <a:lnSpc>
                <a:spcPct val="105000"/>
              </a:lnSpc>
              <a:spcAft>
                <a:spcPts val="1200"/>
              </a:spcAft>
              <a:buClr>
                <a:srgbClr val="B4391F"/>
              </a:buClr>
              <a:buFont typeface="Arial"/>
              <a:buChar char="•"/>
            </a:pPr>
            <a:r>
              <a:rPr sz="2200">
                <a:solidFill>
                  <a:srgbClr val="1C1B1A"/>
                </a:solidFill>
                <a:latin typeface="Segoe UI"/>
              </a:rPr>
              <a:t>Cutting a long part in half is tested with the pretend model only.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Demo plan: what I will show, in order</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23</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Show the card loaded from chrome://extensions. There is no key and no cloud box.</a:t>
            </a:r>
          </a:p>
          <a:p>
            <a:pPr marL="320040" indent="-320040">
              <a:lnSpc>
                <a:spcPct val="105000"/>
              </a:lnSpc>
              <a:spcAft>
                <a:spcPts val="1200"/>
              </a:spcAft>
              <a:buClr>
                <a:srgbClr val="B4391F"/>
              </a:buClr>
              <a:buFont typeface="Arial"/>
              <a:buChar char="•"/>
            </a:pPr>
            <a:r>
              <a:rPr sz="2200">
                <a:solidFill>
                  <a:srgbClr val="1C1B1A"/>
                </a:solidFill>
                <a:latin typeface="Segoe UI"/>
              </a:rPr>
              <a:t>Open the Lighthouse article, summarize: about 2 minutes on built-in graphics (124.6 s measured), with the shortened-page notice.</a:t>
            </a:r>
          </a:p>
          <a:p>
            <a:pPr marL="320040" indent="-320040">
              <a:lnSpc>
                <a:spcPct val="105000"/>
              </a:lnSpc>
              <a:spcAft>
                <a:spcPts val="1200"/>
              </a:spcAft>
              <a:buClr>
                <a:srgbClr val="B4391F"/>
              </a:buClr>
              <a:buFont typeface="Arial"/>
              <a:buChar char="•"/>
            </a:pPr>
            <a:r>
              <a:rPr sz="2200">
                <a:solidFill>
                  <a:srgbClr val="1C1B1A"/>
                </a:solidFill>
                <a:latin typeface="Segoe UI"/>
              </a:rPr>
              <a:t>Close the popup, wait five seconds, and reopen it. The job is still there.</a:t>
            </a:r>
          </a:p>
          <a:p>
            <a:pPr marL="320040" indent="-320040">
              <a:lnSpc>
                <a:spcPct val="105000"/>
              </a:lnSpc>
              <a:spcAft>
                <a:spcPts val="1200"/>
              </a:spcAft>
              <a:buClr>
                <a:srgbClr val="B4391F"/>
              </a:buClr>
              <a:buFont typeface="Arial"/>
              <a:buChar char="•"/>
            </a:pPr>
            <a:r>
              <a:rPr sz="2200">
                <a:solidFill>
                  <a:srgbClr val="1C1B1A"/>
                </a:solidFill>
                <a:latin typeface="Segoe UI"/>
              </a:rPr>
              <a:t>Turn off Wi-Fi and summarize a short article. Say which run: 17.7 s after the label fix, 15.3 s before it.</a:t>
            </a:r>
          </a:p>
          <a:p>
            <a:pPr marL="320040" indent="-320040">
              <a:lnSpc>
                <a:spcPct val="105000"/>
              </a:lnSpc>
              <a:spcAft>
                <a:spcPts val="1200"/>
              </a:spcAft>
              <a:buClr>
                <a:srgbClr val="B4391F"/>
              </a:buClr>
              <a:buFont typeface="Arial"/>
              <a:buChar char="•"/>
            </a:pPr>
            <a:r>
              <a:rPr sz="2200">
                <a:solidFill>
                  <a:srgbClr val="1C1B1A"/>
                </a:solidFill>
                <a:latin typeface="Segoe UI"/>
              </a:rPr>
              <a:t>Open chrome://version and a near-empty page to show the two refusals.</a:t>
            </a:r>
          </a:p>
          <a:p>
            <a:pPr marL="320040" indent="-320040">
              <a:lnSpc>
                <a:spcPct val="105000"/>
              </a:lnSpc>
              <a:spcAft>
                <a:spcPts val="1200"/>
              </a:spcAft>
              <a:buClr>
                <a:srgbClr val="B4391F"/>
              </a:buClr>
              <a:buFont typeface="Arial"/>
              <a:buChar char="•"/>
            </a:pPr>
            <a:r>
              <a:rPr sz="2200">
                <a:solidFill>
                  <a:srgbClr val="1C1B1A"/>
                </a:solidFill>
                <a:latin typeface="Segoe UI"/>
              </a:rPr>
              <a:t>Do not show the first download live: it takes minutes. Do not press Read the whole page in front of an audience.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685800" y="2011680"/>
            <a:ext cx="109728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0"/>
            <a:ext cx="10820095" cy="1097280"/>
          </a:xfrm>
          <a:prstGeom prst="rect">
            <a:avLst/>
          </a:prstGeom>
          <a:noFill/>
        </p:spPr>
        <p:txBody>
          <a:bodyPr wrap="square" anchor="t" lIns="45720" rIns="45720" tIns="27432" bIns="27432">
            <a:spAutoFit/>
          </a:bodyPr>
          <a:lstStyle/>
          <a:p>
            <a:pPr algn="l"/>
            <a:r>
              <a:rPr sz="4400" b="1" i="0">
                <a:solidFill>
                  <a:srgbClr val="1C1B1A"/>
                </a:solidFill>
                <a:latin typeface="Georgia"/>
              </a:rPr>
              <a:t>Thank you. Questions?</a:t>
            </a:r>
          </a:p>
        </p:txBody>
      </p:sp>
      <p:sp>
        <p:nvSpPr>
          <p:cNvPr id="4" name="TextBox 3"/>
          <p:cNvSpPr txBox="1"/>
          <p:nvPr/>
        </p:nvSpPr>
        <p:spPr>
          <a:xfrm>
            <a:off x="685800" y="3474720"/>
            <a:ext cx="10820095" cy="457200"/>
          </a:xfrm>
          <a:prstGeom prst="rect">
            <a:avLst/>
          </a:prstGeom>
          <a:noFill/>
        </p:spPr>
        <p:txBody>
          <a:bodyPr wrap="square" anchor="t" lIns="45720" rIns="45720" tIns="27432" bIns="27432">
            <a:spAutoFit/>
          </a:bodyPr>
          <a:lstStyle/>
          <a:p>
            <a:pPr algn="l"/>
            <a:r>
              <a:rPr sz="2200" b="0" i="0">
                <a:solidFill>
                  <a:srgbClr val="1C1B1A"/>
                </a:solidFill>
                <a:latin typeface="Segoe UI"/>
              </a:rPr>
              <a:t>[Insert Student Name]  |  BITS ID [Insert BITS ID]</a:t>
            </a:r>
          </a:p>
        </p:txBody>
      </p:sp>
      <p:sp>
        <p:nvSpPr>
          <p:cNvPr id="5" name="TextBox 4"/>
          <p:cNvSpPr txBox="1"/>
          <p:nvPr/>
        </p:nvSpPr>
        <p:spPr>
          <a:xfrm>
            <a:off x="685800" y="3977640"/>
            <a:ext cx="10820095" cy="457200"/>
          </a:xfrm>
          <a:prstGeom prst="rect">
            <a:avLst/>
          </a:prstGeom>
          <a:noFill/>
        </p:spPr>
        <p:txBody>
          <a:bodyPr wrap="square" anchor="t" lIns="45720" rIns="45720" tIns="27432" bIns="27432">
            <a:spAutoFit/>
          </a:bodyPr>
          <a:lstStyle/>
          <a:p>
            <a:pPr algn="l"/>
            <a:r>
              <a:rPr sz="2200" b="0" i="0">
                <a:solidFill>
                  <a:srgbClr val="6B665C"/>
                </a:solidFill>
                <a:latin typeface="Segoe UI"/>
              </a:rPr>
              <a:t>The code, the tests and the setup scripts are in the finalsem project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 Summarizer: final-semester review (Version 2)</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